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sldIdLst>
    <p:sldId id="256" r:id="rId2"/>
    <p:sldId id="257" r:id="rId3"/>
    <p:sldId id="271" r:id="rId4"/>
    <p:sldId id="258" r:id="rId5"/>
    <p:sldId id="272" r:id="rId6"/>
    <p:sldId id="259" r:id="rId7"/>
    <p:sldId id="260" r:id="rId8"/>
    <p:sldId id="261" r:id="rId9"/>
    <p:sldId id="262" r:id="rId10"/>
    <p:sldId id="263" r:id="rId11"/>
    <p:sldId id="264" r:id="rId12"/>
    <p:sldId id="265" r:id="rId13"/>
    <p:sldId id="266" r:id="rId14"/>
    <p:sldId id="267" r:id="rId15"/>
    <p:sldId id="268"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8E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2"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C485584D-7D79-4248-9986-4CA35242F944}" type="datetimeFigureOut">
              <a:rPr lang="en-US" smtClean="0"/>
              <a:t>4/16/2023</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19590046-DA73-4BBF-84B5-C08E6F75191A}"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6044276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567699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62753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85584D-7D79-4248-9986-4CA35242F944}" type="datetimeFigureOut">
              <a:rPr lang="en-US" smtClean="0"/>
              <a:t>4/16/2023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817269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85584D-7D79-4248-9986-4CA35242F944}" type="datetimeFigureOut">
              <a:rPr lang="en-US" smtClean="0"/>
              <a:t>4/16/2023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94797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85584D-7D79-4248-9986-4CA35242F944}" type="datetimeFigureOut">
              <a:rPr lang="en-US" smtClean="0"/>
              <a:t>4/16/2023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167974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85584D-7D79-4248-9986-4CA35242F944}" type="datetimeFigureOut">
              <a:rPr lang="en-US" smtClean="0"/>
              <a:t>4/16/2023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11749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4/16/2023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779670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4/16/2023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527793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060790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4/16/2023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849854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C485584D-7D79-4248-9986-4CA35242F944}" type="datetimeFigureOut">
              <a:rPr lang="en-US" smtClean="0"/>
              <a:t>4/16/2023</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19590046-DA73-4BBF-84B5-C08E6F75191A}" type="slidenum">
              <a:rPr lang="en-US" smtClean="0"/>
              <a:t>‹#›</a:t>
            </a:fld>
            <a:endParaRPr lang="en-US"/>
          </a:p>
        </p:txBody>
      </p:sp>
    </p:spTree>
    <p:extLst>
      <p:ext uri="{BB962C8B-B14F-4D97-AF65-F5344CB8AC3E}">
        <p14:creationId xmlns:p14="http://schemas.microsoft.com/office/powerpoint/2010/main" val="91937571"/>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0">
            <a:extLst>
              <a:ext uri="{FF2B5EF4-FFF2-40B4-BE49-F238E27FC236}">
                <a16:creationId xmlns:a16="http://schemas.microsoft.com/office/drawing/2014/main" id="{EFB0C39A-F8CA-4A79-AFFC-E9780FB19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3" descr="Low Angle View Of Clouds In Sky">
            <a:extLst>
              <a:ext uri="{FF2B5EF4-FFF2-40B4-BE49-F238E27FC236}">
                <a16:creationId xmlns:a16="http://schemas.microsoft.com/office/drawing/2014/main" id="{15EE87F6-F89A-D4D2-4D2A-EC51BB1CEA5B}"/>
              </a:ext>
            </a:extLst>
          </p:cNvPr>
          <p:cNvPicPr>
            <a:picLocks noChangeAspect="1"/>
          </p:cNvPicPr>
          <p:nvPr/>
        </p:nvPicPr>
        <p:blipFill rotWithShape="1">
          <a:blip r:embed="rId2">
            <a:alphaModFix amt="40000"/>
          </a:blip>
          <a:srcRect t="5597" b="10134"/>
          <a:stretch/>
        </p:blipFill>
        <p:spPr>
          <a:xfrm>
            <a:off x="0" y="-1"/>
            <a:ext cx="12191980" cy="6857990"/>
          </a:xfrm>
          <a:prstGeom prst="rect">
            <a:avLst/>
          </a:prstGeom>
        </p:spPr>
      </p:pic>
      <p:sp>
        <p:nvSpPr>
          <p:cNvPr id="2" name="Title 1">
            <a:extLst>
              <a:ext uri="{FF2B5EF4-FFF2-40B4-BE49-F238E27FC236}">
                <a16:creationId xmlns:a16="http://schemas.microsoft.com/office/drawing/2014/main" id="{ABCFC929-A799-FA55-28EC-06E59BBB61C1}"/>
              </a:ext>
            </a:extLst>
          </p:cNvPr>
          <p:cNvSpPr>
            <a:spLocks noGrp="1"/>
          </p:cNvSpPr>
          <p:nvPr>
            <p:ph type="ctrTitle"/>
          </p:nvPr>
        </p:nvSpPr>
        <p:spPr>
          <a:xfrm>
            <a:off x="1526915" y="172277"/>
            <a:ext cx="9418320" cy="3356113"/>
          </a:xfrm>
        </p:spPr>
        <p:txBody>
          <a:bodyPr anchor="ctr">
            <a:noAutofit/>
          </a:bodyPr>
          <a:lstStyle/>
          <a:p>
            <a:pPr algn="ctr">
              <a:lnSpc>
                <a:spcPct val="150000"/>
              </a:lnSpc>
            </a:pPr>
            <a:r>
              <a:rPr lang="vi-VN" sz="4800" b="1"/>
              <a:t>BÀI TẬP LẬP TRÌNH CHỦ ĐỀ: ĐỒNG BỘ GIỮA CÁC TIẾN TRÌNH</a:t>
            </a:r>
          </a:p>
        </p:txBody>
      </p:sp>
      <p:sp>
        <p:nvSpPr>
          <p:cNvPr id="3" name="Subtitle 2">
            <a:extLst>
              <a:ext uri="{FF2B5EF4-FFF2-40B4-BE49-F238E27FC236}">
                <a16:creationId xmlns:a16="http://schemas.microsoft.com/office/drawing/2014/main" id="{88C18CBA-8C88-D35B-4622-E1F5A8228E6F}"/>
              </a:ext>
            </a:extLst>
          </p:cNvPr>
          <p:cNvSpPr>
            <a:spLocks noGrp="1"/>
          </p:cNvSpPr>
          <p:nvPr>
            <p:ph type="subTitle" idx="1"/>
          </p:nvPr>
        </p:nvSpPr>
        <p:spPr>
          <a:xfrm>
            <a:off x="1386840" y="4031974"/>
            <a:ext cx="9418320" cy="1691640"/>
          </a:xfrm>
        </p:spPr>
        <p:txBody>
          <a:bodyPr>
            <a:normAutofit/>
          </a:bodyPr>
          <a:lstStyle/>
          <a:p>
            <a:pPr algn="ctr"/>
            <a:r>
              <a:rPr lang="vi-VN" sz="3600">
                <a:solidFill>
                  <a:schemeClr val="tx1"/>
                </a:solidFill>
              </a:rPr>
              <a:t>2.3 Viết chương trình giải quyết bài toán 5 triết gia ăn tối. </a:t>
            </a:r>
          </a:p>
        </p:txBody>
      </p:sp>
    </p:spTree>
    <p:extLst>
      <p:ext uri="{BB962C8B-B14F-4D97-AF65-F5344CB8AC3E}">
        <p14:creationId xmlns:p14="http://schemas.microsoft.com/office/powerpoint/2010/main" val="3907054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76D41A-1B14-FBA4-D438-5529648AA6AD}"/>
              </a:ext>
            </a:extLst>
          </p:cNvPr>
          <p:cNvSpPr txBox="1"/>
          <p:nvPr/>
        </p:nvSpPr>
        <p:spPr>
          <a:xfrm>
            <a:off x="298172" y="236834"/>
            <a:ext cx="4784035" cy="584775"/>
          </a:xfrm>
          <a:prstGeom prst="rect">
            <a:avLst/>
          </a:prstGeom>
          <a:noFill/>
        </p:spPr>
        <p:txBody>
          <a:bodyPr wrap="square" rtlCol="0">
            <a:spAutoFit/>
          </a:bodyPr>
          <a:lstStyle/>
          <a:p>
            <a:r>
              <a:rPr lang="en-US" sz="3200" b="1" u="heavy"/>
              <a:t>Thành viên nhóm</a:t>
            </a:r>
            <a:endParaRPr lang="vi-VN" sz="3200" b="1" u="heavy"/>
          </a:p>
        </p:txBody>
      </p:sp>
      <p:sp>
        <p:nvSpPr>
          <p:cNvPr id="5" name="TextBox 4">
            <a:extLst>
              <a:ext uri="{FF2B5EF4-FFF2-40B4-BE49-F238E27FC236}">
                <a16:creationId xmlns:a16="http://schemas.microsoft.com/office/drawing/2014/main" id="{A7564300-5FC4-755F-AB8E-F054AE77C708}"/>
              </a:ext>
            </a:extLst>
          </p:cNvPr>
          <p:cNvSpPr txBox="1"/>
          <p:nvPr/>
        </p:nvSpPr>
        <p:spPr>
          <a:xfrm>
            <a:off x="609599" y="2100470"/>
            <a:ext cx="8136835" cy="523220"/>
          </a:xfrm>
          <a:prstGeom prst="rect">
            <a:avLst/>
          </a:prstGeom>
          <a:noFill/>
        </p:spPr>
        <p:txBody>
          <a:bodyPr wrap="square" numCol="2" rtlCol="0">
            <a:spAutoFit/>
          </a:bodyPr>
          <a:lstStyle/>
          <a:p>
            <a:r>
              <a:rPr lang="en-US" sz="2800"/>
              <a:t>Trần Anh Khoa        64131011</a:t>
            </a:r>
            <a:endParaRPr lang="vi-VN" sz="2800"/>
          </a:p>
        </p:txBody>
      </p:sp>
      <p:sp>
        <p:nvSpPr>
          <p:cNvPr id="7" name="TextBox 6">
            <a:extLst>
              <a:ext uri="{FF2B5EF4-FFF2-40B4-BE49-F238E27FC236}">
                <a16:creationId xmlns:a16="http://schemas.microsoft.com/office/drawing/2014/main" id="{41E48F12-71E2-D866-0101-DED21043E16D}"/>
              </a:ext>
            </a:extLst>
          </p:cNvPr>
          <p:cNvSpPr txBox="1"/>
          <p:nvPr/>
        </p:nvSpPr>
        <p:spPr>
          <a:xfrm>
            <a:off x="609598" y="3429000"/>
            <a:ext cx="8136835" cy="523220"/>
          </a:xfrm>
          <a:prstGeom prst="rect">
            <a:avLst/>
          </a:prstGeom>
          <a:noFill/>
        </p:spPr>
        <p:txBody>
          <a:bodyPr wrap="square" numCol="2" rtlCol="0">
            <a:spAutoFit/>
          </a:bodyPr>
          <a:lstStyle/>
          <a:p>
            <a:r>
              <a:rPr lang="en-US" sz="2800"/>
              <a:t>Nguyễn Trọng Thời 64132333</a:t>
            </a:r>
            <a:endParaRPr lang="vi-VN" sz="2800"/>
          </a:p>
        </p:txBody>
      </p:sp>
      <p:sp>
        <p:nvSpPr>
          <p:cNvPr id="8" name="TextBox 7">
            <a:extLst>
              <a:ext uri="{FF2B5EF4-FFF2-40B4-BE49-F238E27FC236}">
                <a16:creationId xmlns:a16="http://schemas.microsoft.com/office/drawing/2014/main" id="{122249BA-95A7-F149-10BD-53BB74ADCB73}"/>
              </a:ext>
            </a:extLst>
          </p:cNvPr>
          <p:cNvSpPr txBox="1"/>
          <p:nvPr/>
        </p:nvSpPr>
        <p:spPr>
          <a:xfrm>
            <a:off x="609598" y="2764735"/>
            <a:ext cx="8136835" cy="523220"/>
          </a:xfrm>
          <a:prstGeom prst="rect">
            <a:avLst/>
          </a:prstGeom>
          <a:noFill/>
        </p:spPr>
        <p:txBody>
          <a:bodyPr wrap="square" numCol="2" rtlCol="0">
            <a:spAutoFit/>
          </a:bodyPr>
          <a:lstStyle/>
          <a:p>
            <a:r>
              <a:rPr lang="en-US" sz="2800"/>
              <a:t>Trần Duy Khánh 64130994</a:t>
            </a:r>
            <a:endParaRPr lang="vi-VN" sz="2800"/>
          </a:p>
        </p:txBody>
      </p:sp>
      <p:sp>
        <p:nvSpPr>
          <p:cNvPr id="9" name="TextBox 8">
            <a:extLst>
              <a:ext uri="{FF2B5EF4-FFF2-40B4-BE49-F238E27FC236}">
                <a16:creationId xmlns:a16="http://schemas.microsoft.com/office/drawing/2014/main" id="{BF5466F5-B0C3-8B50-14A5-254DFCE422E8}"/>
              </a:ext>
            </a:extLst>
          </p:cNvPr>
          <p:cNvSpPr txBox="1"/>
          <p:nvPr/>
        </p:nvSpPr>
        <p:spPr>
          <a:xfrm>
            <a:off x="609598" y="4098476"/>
            <a:ext cx="8136835" cy="523220"/>
          </a:xfrm>
          <a:prstGeom prst="rect">
            <a:avLst/>
          </a:prstGeom>
          <a:noFill/>
        </p:spPr>
        <p:txBody>
          <a:bodyPr wrap="square" numCol="2" rtlCol="0">
            <a:spAutoFit/>
          </a:bodyPr>
          <a:lstStyle/>
          <a:p>
            <a:r>
              <a:rPr lang="en-US" sz="2800"/>
              <a:t>Nguyễn Minh Hùng 64130776</a:t>
            </a:r>
            <a:endParaRPr lang="vi-VN" sz="2800"/>
          </a:p>
        </p:txBody>
      </p:sp>
      <p:sp>
        <p:nvSpPr>
          <p:cNvPr id="10" name="TextBox 9">
            <a:extLst>
              <a:ext uri="{FF2B5EF4-FFF2-40B4-BE49-F238E27FC236}">
                <a16:creationId xmlns:a16="http://schemas.microsoft.com/office/drawing/2014/main" id="{C6E9F48B-3424-BAF6-50F5-C9EEE4A8E255}"/>
              </a:ext>
            </a:extLst>
          </p:cNvPr>
          <p:cNvSpPr txBox="1"/>
          <p:nvPr/>
        </p:nvSpPr>
        <p:spPr>
          <a:xfrm>
            <a:off x="609597" y="4767952"/>
            <a:ext cx="8136835" cy="523220"/>
          </a:xfrm>
          <a:prstGeom prst="rect">
            <a:avLst/>
          </a:prstGeom>
          <a:noFill/>
        </p:spPr>
        <p:txBody>
          <a:bodyPr wrap="square" numCol="2" rtlCol="0">
            <a:spAutoFit/>
          </a:bodyPr>
          <a:lstStyle/>
          <a:p>
            <a:r>
              <a:rPr lang="en-US" sz="2800"/>
              <a:t>Lê Trọng Tài   64132074</a:t>
            </a:r>
            <a:endParaRPr lang="vi-VN" sz="2800"/>
          </a:p>
        </p:txBody>
      </p:sp>
    </p:spTree>
    <p:extLst>
      <p:ext uri="{BB962C8B-B14F-4D97-AF65-F5344CB8AC3E}">
        <p14:creationId xmlns:p14="http://schemas.microsoft.com/office/powerpoint/2010/main" val="3528004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AECEE1-028E-0624-3448-77B3BBD23BE9}"/>
              </a:ext>
            </a:extLst>
          </p:cNvPr>
          <p:cNvSpPr txBox="1"/>
          <p:nvPr/>
        </p:nvSpPr>
        <p:spPr>
          <a:xfrm>
            <a:off x="231912" y="197078"/>
            <a:ext cx="4784035" cy="584775"/>
          </a:xfrm>
          <a:prstGeom prst="rect">
            <a:avLst/>
          </a:prstGeom>
          <a:noFill/>
        </p:spPr>
        <p:txBody>
          <a:bodyPr wrap="square" rtlCol="0">
            <a:spAutoFit/>
          </a:bodyPr>
          <a:lstStyle/>
          <a:p>
            <a:r>
              <a:rPr lang="en-US" sz="3200" b="1" u="heavy"/>
              <a:t>Mô tả bài toán: </a:t>
            </a:r>
            <a:endParaRPr lang="vi-VN" sz="3200" b="1" u="heavy"/>
          </a:p>
        </p:txBody>
      </p:sp>
      <p:pic>
        <p:nvPicPr>
          <p:cNvPr id="1026" name="Picture 2" descr="The Dining Philosophers Problem With Ron Swanson - adit.io">
            <a:extLst>
              <a:ext uri="{FF2B5EF4-FFF2-40B4-BE49-F238E27FC236}">
                <a16:creationId xmlns:a16="http://schemas.microsoft.com/office/drawing/2014/main" id="{94646D5B-584E-A85D-4B7C-F179F36F0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5947" y="372717"/>
            <a:ext cx="5715000" cy="5715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A2DEC37-E7BC-8715-820E-C62C95F63E96}"/>
              </a:ext>
            </a:extLst>
          </p:cNvPr>
          <p:cNvSpPr txBox="1"/>
          <p:nvPr/>
        </p:nvSpPr>
        <p:spPr>
          <a:xfrm>
            <a:off x="440635" y="1213874"/>
            <a:ext cx="4575312" cy="4093428"/>
          </a:xfrm>
          <a:prstGeom prst="rect">
            <a:avLst/>
          </a:prstGeom>
          <a:noFill/>
        </p:spPr>
        <p:txBody>
          <a:bodyPr wrap="square">
            <a:spAutoFit/>
          </a:bodyPr>
          <a:lstStyle/>
          <a:p>
            <a:r>
              <a:rPr lang="vi-VN" sz="2000">
                <a:latin typeface="Century Schoolbook "/>
              </a:rPr>
              <a:t>"Khi một triết gia suy nghĩ, ông ta không giao tiếp với các triết gia khác. Thỉnh thoảng, một triết gia cảm thấy đói và cố gắng chọn hai chiếc đũa gần nhất (hai chiếc đũa nằm giữa ông ta với hai láng giềng trái và phải). Chú ý, ông ta không thể lấy chiếc đũa mà nó đang được dùng bởi người láng giềng. Khi một triết gia đói và có hai chiếc đũa cùng một lúc, ông ta ăn mà không đặt đũa xuống. Khi triết gia ăn xong, ông ta đặt đũa xuống và bắt đầu suy nghĩ tiếp."</a:t>
            </a:r>
          </a:p>
        </p:txBody>
      </p:sp>
    </p:spTree>
    <p:extLst>
      <p:ext uri="{BB962C8B-B14F-4D97-AF65-F5344CB8AC3E}">
        <p14:creationId xmlns:p14="http://schemas.microsoft.com/office/powerpoint/2010/main" val="3148202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029453-8A5A-50C3-526B-B123681F2928}"/>
              </a:ext>
            </a:extLst>
          </p:cNvPr>
          <p:cNvSpPr txBox="1"/>
          <p:nvPr/>
        </p:nvSpPr>
        <p:spPr>
          <a:xfrm>
            <a:off x="231912" y="197078"/>
            <a:ext cx="4784035" cy="584775"/>
          </a:xfrm>
          <a:prstGeom prst="rect">
            <a:avLst/>
          </a:prstGeom>
          <a:noFill/>
        </p:spPr>
        <p:txBody>
          <a:bodyPr wrap="square" rtlCol="0">
            <a:spAutoFit/>
          </a:bodyPr>
          <a:lstStyle/>
          <a:p>
            <a:r>
              <a:rPr lang="en-US" sz="3200" b="1" u="heavy"/>
              <a:t>Hướng giải quyết: </a:t>
            </a:r>
            <a:endParaRPr lang="vi-VN" sz="3200" b="1" u="heavy"/>
          </a:p>
        </p:txBody>
      </p:sp>
      <p:sp>
        <p:nvSpPr>
          <p:cNvPr id="5" name="Rectangle 4">
            <a:extLst>
              <a:ext uri="{FF2B5EF4-FFF2-40B4-BE49-F238E27FC236}">
                <a16:creationId xmlns:a16="http://schemas.microsoft.com/office/drawing/2014/main" id="{5235F74F-9AAC-3DF1-36BC-33562DE980FD}"/>
              </a:ext>
            </a:extLst>
          </p:cNvPr>
          <p:cNvSpPr/>
          <p:nvPr/>
        </p:nvSpPr>
        <p:spPr>
          <a:xfrm>
            <a:off x="1630017" y="1205947"/>
            <a:ext cx="5433392" cy="1444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Sử dụng semaphore </a:t>
            </a:r>
            <a:endParaRPr lang="vi-VN" sz="2400"/>
          </a:p>
        </p:txBody>
      </p:sp>
      <p:sp>
        <p:nvSpPr>
          <p:cNvPr id="2" name="Rectangle 1">
            <a:extLst>
              <a:ext uri="{FF2B5EF4-FFF2-40B4-BE49-F238E27FC236}">
                <a16:creationId xmlns:a16="http://schemas.microsoft.com/office/drawing/2014/main" id="{F9C29286-8667-76A0-5DE7-E9B5D6708982}"/>
              </a:ext>
            </a:extLst>
          </p:cNvPr>
          <p:cNvSpPr/>
          <p:nvPr/>
        </p:nvSpPr>
        <p:spPr>
          <a:xfrm>
            <a:off x="1630018" y="3690729"/>
            <a:ext cx="5433391" cy="15703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Chỉ cho phép triết gia cầm đũa dùng bữa nếu đũa cả bên trái và phải chưa có người sử dụng </a:t>
            </a:r>
            <a:endParaRPr lang="vi-VN" sz="2400"/>
          </a:p>
        </p:txBody>
      </p:sp>
    </p:spTree>
    <p:extLst>
      <p:ext uri="{BB962C8B-B14F-4D97-AF65-F5344CB8AC3E}">
        <p14:creationId xmlns:p14="http://schemas.microsoft.com/office/powerpoint/2010/main" val="3677771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32E221-1589-2E20-5C25-19FE303BA2F8}"/>
              </a:ext>
            </a:extLst>
          </p:cNvPr>
          <p:cNvSpPr txBox="1"/>
          <p:nvPr/>
        </p:nvSpPr>
        <p:spPr>
          <a:xfrm>
            <a:off x="231912" y="197078"/>
            <a:ext cx="4784035" cy="584775"/>
          </a:xfrm>
          <a:prstGeom prst="rect">
            <a:avLst/>
          </a:prstGeom>
          <a:noFill/>
        </p:spPr>
        <p:txBody>
          <a:bodyPr wrap="square" rtlCol="0">
            <a:spAutoFit/>
          </a:bodyPr>
          <a:lstStyle/>
          <a:p>
            <a:r>
              <a:rPr lang="en-US" sz="3200" b="1" u="heavy"/>
              <a:t>Semaphore là gì?</a:t>
            </a:r>
            <a:endParaRPr lang="vi-VN" sz="3200" b="1" u="heavy"/>
          </a:p>
        </p:txBody>
      </p:sp>
      <p:sp>
        <p:nvSpPr>
          <p:cNvPr id="4" name="TextBox 3">
            <a:extLst>
              <a:ext uri="{FF2B5EF4-FFF2-40B4-BE49-F238E27FC236}">
                <a16:creationId xmlns:a16="http://schemas.microsoft.com/office/drawing/2014/main" id="{A3F62AA1-1B9D-8E43-31B1-ED03B00628CA}"/>
              </a:ext>
            </a:extLst>
          </p:cNvPr>
          <p:cNvSpPr txBox="1"/>
          <p:nvPr/>
        </p:nvSpPr>
        <p:spPr>
          <a:xfrm>
            <a:off x="361122" y="1238912"/>
            <a:ext cx="8358808" cy="4455066"/>
          </a:xfrm>
          <a:prstGeom prst="rect">
            <a:avLst/>
          </a:prstGeom>
          <a:noFill/>
        </p:spPr>
        <p:txBody>
          <a:bodyPr wrap="square">
            <a:spAutoFit/>
          </a:bodyPr>
          <a:lstStyle>
            <a:defPPr>
              <a:defRPr lang="en-US"/>
            </a:defPPr>
            <a:lvl1pPr>
              <a:defRPr sz="2000">
                <a:latin typeface="Century Schoolbook "/>
              </a:defRPr>
            </a:lvl1pPr>
          </a:lstStyle>
          <a:p>
            <a:pPr marL="342900" indent="-342900">
              <a:lnSpc>
                <a:spcPct val="150000"/>
              </a:lnSpc>
              <a:buFont typeface="Arial" panose="020B0604020202020204" pitchFamily="34" charset="0"/>
              <a:buChar char="•"/>
            </a:pPr>
            <a:r>
              <a:rPr lang="vi-VN" sz="2400"/>
              <a:t>Semaphore là một cấu trúc dữ liệu, được dùng để đồng bộ tài nguyên và đồng bộ hoạt động.</a:t>
            </a:r>
            <a:endParaRPr lang="en-US" sz="2400"/>
          </a:p>
          <a:p>
            <a:pPr marL="342900" indent="-342900">
              <a:lnSpc>
                <a:spcPct val="150000"/>
              </a:lnSpc>
              <a:buFont typeface="Arial" panose="020B0604020202020204" pitchFamily="34" charset="0"/>
              <a:buChar char="•"/>
            </a:pPr>
            <a:r>
              <a:rPr lang="vi-VN" sz="2400"/>
              <a:t>Khi được dùng với mục đích đồng bộ tài nguyên, semaphore tương tự như một bộ các chìa khóa dự phòng. Nếu một thread lấy được một chiếc chìa khóa, thread đó được phép truy cập vào tài nguyên. Nhưng nếu không còn chiếc chìa khóa nào, thread đó phải đợi cho tới khi một thread khác trả lại chìa khóa dự phòng.</a:t>
            </a:r>
          </a:p>
        </p:txBody>
      </p:sp>
    </p:spTree>
    <p:extLst>
      <p:ext uri="{BB962C8B-B14F-4D97-AF65-F5344CB8AC3E}">
        <p14:creationId xmlns:p14="http://schemas.microsoft.com/office/powerpoint/2010/main" val="1026817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846FB7-948C-1974-2D61-0F9605096741}"/>
              </a:ext>
            </a:extLst>
          </p:cNvPr>
          <p:cNvSpPr txBox="1"/>
          <p:nvPr/>
        </p:nvSpPr>
        <p:spPr>
          <a:xfrm>
            <a:off x="231912" y="197078"/>
            <a:ext cx="4784035" cy="584775"/>
          </a:xfrm>
          <a:prstGeom prst="rect">
            <a:avLst/>
          </a:prstGeom>
          <a:noFill/>
        </p:spPr>
        <p:txBody>
          <a:bodyPr wrap="square" rtlCol="0">
            <a:spAutoFit/>
          </a:bodyPr>
          <a:lstStyle/>
          <a:p>
            <a:r>
              <a:rPr lang="en-US" sz="3200" b="1" u="heavy"/>
              <a:t>&lt;semaphore.h&gt;</a:t>
            </a:r>
            <a:endParaRPr lang="vi-VN" sz="3200" b="1" u="heavy"/>
          </a:p>
        </p:txBody>
      </p:sp>
      <p:sp>
        <p:nvSpPr>
          <p:cNvPr id="3" name="TextBox 2">
            <a:extLst>
              <a:ext uri="{FF2B5EF4-FFF2-40B4-BE49-F238E27FC236}">
                <a16:creationId xmlns:a16="http://schemas.microsoft.com/office/drawing/2014/main" id="{C92251EF-8121-69B2-745C-0C131D0783C4}"/>
              </a:ext>
            </a:extLst>
          </p:cNvPr>
          <p:cNvSpPr txBox="1"/>
          <p:nvPr/>
        </p:nvSpPr>
        <p:spPr>
          <a:xfrm>
            <a:off x="231912" y="832339"/>
            <a:ext cx="10600211" cy="58285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vi-VN" sz="2800">
                <a:latin typeface="Century Schoolbook "/>
              </a:rPr>
              <a:t>sem_t</a:t>
            </a:r>
            <a:r>
              <a:rPr lang="en-US" sz="2800">
                <a:latin typeface="Century Schoolbook "/>
              </a:rPr>
              <a:t>: Khai báo semaphore</a:t>
            </a:r>
          </a:p>
          <a:p>
            <a:pPr marL="285750" indent="-285750">
              <a:lnSpc>
                <a:spcPct val="150000"/>
              </a:lnSpc>
              <a:buFont typeface="Arial" panose="020B0604020202020204" pitchFamily="34" charset="0"/>
              <a:buChar char="•"/>
            </a:pPr>
            <a:r>
              <a:rPr lang="vi-VN" sz="2800">
                <a:latin typeface="Century Schoolbook "/>
              </a:rPr>
              <a:t>sem_wait</a:t>
            </a:r>
            <a:r>
              <a:rPr lang="en-US" sz="2800">
                <a:latin typeface="Century Schoolbook "/>
              </a:rPr>
              <a:t>(): Khóa semaphore, nếu giá trị semaphore được tham chiếu chưa có sẵn thì semaphore vẫn bị khóa cho đến khi hàm sem_post() được thực thi và trả về thành công</a:t>
            </a:r>
          </a:p>
          <a:p>
            <a:pPr marL="285750" indent="-285750">
              <a:lnSpc>
                <a:spcPct val="150000"/>
              </a:lnSpc>
              <a:buFont typeface="Arial" panose="020B0604020202020204" pitchFamily="34" charset="0"/>
              <a:buChar char="•"/>
            </a:pPr>
            <a:r>
              <a:rPr lang="en-US" sz="2800">
                <a:latin typeface="Century Schoolbook "/>
              </a:rPr>
              <a:t>sem_post():  </a:t>
            </a:r>
            <a:r>
              <a:rPr lang="vi-VN" sz="2800">
                <a:latin typeface="Century Schoolbook "/>
              </a:rPr>
              <a:t>mở khóa semaphore được tham chiếu bởi sem bằng cách thực hiện thao tác mở khóa semaphore trên semaphore đó.</a:t>
            </a:r>
            <a:endParaRPr lang="en-US" sz="2800">
              <a:latin typeface="Century Schoolbook "/>
            </a:endParaRPr>
          </a:p>
          <a:p>
            <a:pPr marL="285750" indent="-285750">
              <a:lnSpc>
                <a:spcPct val="150000"/>
              </a:lnSpc>
              <a:buFont typeface="Arial" panose="020B0604020202020204" pitchFamily="34" charset="0"/>
              <a:buChar char="•"/>
            </a:pPr>
            <a:r>
              <a:rPr lang="en-US" sz="2800">
                <a:latin typeface="Century Schoolbook "/>
              </a:rPr>
              <a:t>sem_init(): K</a:t>
            </a:r>
            <a:r>
              <a:rPr lang="vi-VN" sz="2800">
                <a:latin typeface="Century Schoolbook "/>
              </a:rPr>
              <a:t>hởi tạo semaphore không tên được tham chiếu bởi sem</a:t>
            </a:r>
            <a:r>
              <a:rPr lang="en-US" sz="2800">
                <a:latin typeface="Century Schoolbook "/>
              </a:rPr>
              <a:t>_t</a:t>
            </a:r>
            <a:r>
              <a:rPr lang="vi-VN" sz="2800">
                <a:latin typeface="Century Schoolbook "/>
              </a:rPr>
              <a:t> . </a:t>
            </a:r>
          </a:p>
        </p:txBody>
      </p:sp>
    </p:spTree>
    <p:extLst>
      <p:ext uri="{BB962C8B-B14F-4D97-AF65-F5344CB8AC3E}">
        <p14:creationId xmlns:p14="http://schemas.microsoft.com/office/powerpoint/2010/main" val="63955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15EADB-36F3-10B8-082F-2AFDC4D23C39}"/>
              </a:ext>
            </a:extLst>
          </p:cNvPr>
          <p:cNvSpPr txBox="1"/>
          <p:nvPr/>
        </p:nvSpPr>
        <p:spPr>
          <a:xfrm>
            <a:off x="231912" y="197078"/>
            <a:ext cx="4784035" cy="584775"/>
          </a:xfrm>
          <a:prstGeom prst="rect">
            <a:avLst/>
          </a:prstGeom>
          <a:noFill/>
        </p:spPr>
        <p:txBody>
          <a:bodyPr wrap="square" rtlCol="0">
            <a:spAutoFit/>
          </a:bodyPr>
          <a:lstStyle/>
          <a:p>
            <a:r>
              <a:rPr lang="en-US" sz="3200" b="1" u="heavy"/>
              <a:t>&lt;pthread.h&gt;</a:t>
            </a:r>
            <a:endParaRPr lang="vi-VN" sz="3200" b="1" u="heavy"/>
          </a:p>
        </p:txBody>
      </p:sp>
      <p:sp>
        <p:nvSpPr>
          <p:cNvPr id="4" name="TextBox 3">
            <a:extLst>
              <a:ext uri="{FF2B5EF4-FFF2-40B4-BE49-F238E27FC236}">
                <a16:creationId xmlns:a16="http://schemas.microsoft.com/office/drawing/2014/main" id="{517DED65-1155-5404-0835-43C5BCA09F93}"/>
              </a:ext>
            </a:extLst>
          </p:cNvPr>
          <p:cNvSpPr txBox="1"/>
          <p:nvPr/>
        </p:nvSpPr>
        <p:spPr>
          <a:xfrm>
            <a:off x="231912" y="1153551"/>
            <a:ext cx="10600211" cy="453245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800">
                <a:latin typeface="Century Schoolbook "/>
              </a:rPr>
              <a:t>pthread_create(): Hàm tạo mới 1 tiến trình với tham số đầu vào là một biến của thread, một thuộc tính của thread, một hàm kiểu void và một con trỏ đối số cho hàm thuộc kiểu void. </a:t>
            </a:r>
          </a:p>
          <a:p>
            <a:pPr marL="285750" indent="-285750">
              <a:lnSpc>
                <a:spcPct val="150000"/>
              </a:lnSpc>
              <a:buFont typeface="Arial" panose="020B0604020202020204" pitchFamily="34" charset="0"/>
              <a:buChar char="•"/>
            </a:pPr>
            <a:r>
              <a:rPr lang="en-US" sz="2800">
                <a:latin typeface="Century Schoolbook "/>
              </a:rPr>
              <a:t>pthread_join(): </a:t>
            </a:r>
            <a:r>
              <a:rPr lang="vi-VN" sz="2800">
                <a:latin typeface="Century Schoolbook "/>
              </a:rPr>
              <a:t>được sử dụng để đợi cho việc kết thúc của một thread hoặc chờ để tái kết hợp với luồng chính của hàm main</a:t>
            </a:r>
            <a:r>
              <a:rPr lang="en-US" sz="2800">
                <a:latin typeface="Century Schoolbook "/>
              </a:rPr>
              <a:t>.</a:t>
            </a:r>
          </a:p>
          <a:p>
            <a:pPr marL="285750" indent="-285750">
              <a:lnSpc>
                <a:spcPct val="150000"/>
              </a:lnSpc>
              <a:buFont typeface="Arial" panose="020B0604020202020204" pitchFamily="34" charset="0"/>
              <a:buChar char="•"/>
            </a:pPr>
            <a:r>
              <a:rPr lang="en-US" sz="2800">
                <a:latin typeface="Century Schoolbook "/>
              </a:rPr>
              <a:t>pthread_exit(): Kết thúc tiến trình hoàn toàn</a:t>
            </a:r>
            <a:endParaRPr lang="vi-VN" sz="2800">
              <a:latin typeface="Century Schoolbook "/>
            </a:endParaRPr>
          </a:p>
        </p:txBody>
      </p:sp>
    </p:spTree>
    <p:extLst>
      <p:ext uri="{BB962C8B-B14F-4D97-AF65-F5344CB8AC3E}">
        <p14:creationId xmlns:p14="http://schemas.microsoft.com/office/powerpoint/2010/main" val="3129846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989D6E9F-1614-C57D-CA38-A93643169633}"/>
              </a:ext>
            </a:extLst>
          </p:cNvPr>
          <p:cNvPicPr>
            <a:picLocks noChangeAspect="1"/>
          </p:cNvPicPr>
          <p:nvPr/>
        </p:nvPicPr>
        <p:blipFill rotWithShape="1">
          <a:blip r:embed="rId2">
            <a:extLst>
              <a:ext uri="{28A0092B-C50C-407E-A947-70E740481C1C}">
                <a14:useLocalDpi xmlns:a14="http://schemas.microsoft.com/office/drawing/2010/main" val="0"/>
              </a:ext>
            </a:extLst>
          </a:blip>
          <a:srcRect t="16244" b="15452"/>
          <a:stretch/>
        </p:blipFill>
        <p:spPr>
          <a:xfrm>
            <a:off x="20" y="10"/>
            <a:ext cx="12207220" cy="6857990"/>
          </a:xfrm>
          <a:prstGeom prst="rect">
            <a:avLst/>
          </a:prstGeom>
        </p:spPr>
      </p:pic>
    </p:spTree>
    <p:extLst>
      <p:ext uri="{BB962C8B-B14F-4D97-AF65-F5344CB8AC3E}">
        <p14:creationId xmlns:p14="http://schemas.microsoft.com/office/powerpoint/2010/main" val="2242922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1D326B71-D7A0-5910-D0C2-85A846A82891}"/>
              </a:ext>
            </a:extLst>
          </p:cNvPr>
          <p:cNvPicPr>
            <a:picLocks noChangeAspect="1"/>
          </p:cNvPicPr>
          <p:nvPr/>
        </p:nvPicPr>
        <p:blipFill rotWithShape="1">
          <a:blip r:embed="rId2">
            <a:extLst>
              <a:ext uri="{28A0092B-C50C-407E-A947-70E740481C1C}">
                <a14:useLocalDpi xmlns:a14="http://schemas.microsoft.com/office/drawing/2010/main" val="0"/>
              </a:ext>
            </a:extLst>
          </a:blip>
          <a:srcRect l="833" r="1268" b="1"/>
          <a:stretch/>
        </p:blipFill>
        <p:spPr>
          <a:xfrm>
            <a:off x="20" y="10"/>
            <a:ext cx="12207220" cy="6857990"/>
          </a:xfrm>
          <a:prstGeom prst="rect">
            <a:avLst/>
          </a:prstGeom>
        </p:spPr>
      </p:pic>
    </p:spTree>
    <p:extLst>
      <p:ext uri="{BB962C8B-B14F-4D97-AF65-F5344CB8AC3E}">
        <p14:creationId xmlns:p14="http://schemas.microsoft.com/office/powerpoint/2010/main" val="1965861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B3B5727D-5B96-3A8A-7272-DEE57B2E8B82}"/>
              </a:ext>
            </a:extLst>
          </p:cNvPr>
          <p:cNvPicPr>
            <a:picLocks noChangeAspect="1"/>
          </p:cNvPicPr>
          <p:nvPr/>
        </p:nvPicPr>
        <p:blipFill rotWithShape="1">
          <a:blip r:embed="rId2">
            <a:extLst>
              <a:ext uri="{28A0092B-C50C-407E-A947-70E740481C1C}">
                <a14:useLocalDpi xmlns:a14="http://schemas.microsoft.com/office/drawing/2010/main" val="0"/>
              </a:ext>
            </a:extLst>
          </a:blip>
          <a:srcRect l="4895" r="5659" b="-1"/>
          <a:stretch/>
        </p:blipFill>
        <p:spPr>
          <a:xfrm>
            <a:off x="20" y="10"/>
            <a:ext cx="12207220" cy="6857990"/>
          </a:xfrm>
          <a:prstGeom prst="rect">
            <a:avLst/>
          </a:prstGeom>
        </p:spPr>
      </p:pic>
    </p:spTree>
    <p:extLst>
      <p:ext uri="{BB962C8B-B14F-4D97-AF65-F5344CB8AC3E}">
        <p14:creationId xmlns:p14="http://schemas.microsoft.com/office/powerpoint/2010/main" val="213496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5CB074D6-A3A9-304A-FB61-ED0EEA5A2DF1}"/>
              </a:ext>
            </a:extLst>
          </p:cNvPr>
          <p:cNvPicPr>
            <a:picLocks noChangeAspect="1"/>
          </p:cNvPicPr>
          <p:nvPr/>
        </p:nvPicPr>
        <p:blipFill rotWithShape="1">
          <a:blip r:embed="rId2">
            <a:extLst>
              <a:ext uri="{28A0092B-C50C-407E-A947-70E740481C1C}">
                <a14:useLocalDpi xmlns:a14="http://schemas.microsoft.com/office/drawing/2010/main" val="0"/>
              </a:ext>
            </a:extLst>
          </a:blip>
          <a:srcRect l="3789" r="4987" b="1"/>
          <a:stretch/>
        </p:blipFill>
        <p:spPr>
          <a:xfrm>
            <a:off x="20" y="10"/>
            <a:ext cx="12207220" cy="6857990"/>
          </a:xfrm>
          <a:prstGeom prst="rect">
            <a:avLst/>
          </a:prstGeom>
        </p:spPr>
      </p:pic>
    </p:spTree>
    <p:extLst>
      <p:ext uri="{BB962C8B-B14F-4D97-AF65-F5344CB8AC3E}">
        <p14:creationId xmlns:p14="http://schemas.microsoft.com/office/powerpoint/2010/main" val="806030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BDA659A6-37AA-714A-2197-082CB03AD8F0}"/>
              </a:ext>
            </a:extLst>
          </p:cNvPr>
          <p:cNvPicPr>
            <a:picLocks noChangeAspect="1"/>
          </p:cNvPicPr>
          <p:nvPr/>
        </p:nvPicPr>
        <p:blipFill rotWithShape="1">
          <a:blip r:embed="rId2">
            <a:extLst>
              <a:ext uri="{28A0092B-C50C-407E-A947-70E740481C1C}">
                <a14:useLocalDpi xmlns:a14="http://schemas.microsoft.com/office/drawing/2010/main" val="0"/>
              </a:ext>
            </a:extLst>
          </a:blip>
          <a:srcRect t="5489" b="5337"/>
          <a:stretch/>
        </p:blipFill>
        <p:spPr>
          <a:xfrm>
            <a:off x="20" y="10"/>
            <a:ext cx="12207220" cy="6857990"/>
          </a:xfrm>
          <a:prstGeom prst="rect">
            <a:avLst/>
          </a:prstGeom>
        </p:spPr>
      </p:pic>
    </p:spTree>
    <p:extLst>
      <p:ext uri="{BB962C8B-B14F-4D97-AF65-F5344CB8AC3E}">
        <p14:creationId xmlns:p14="http://schemas.microsoft.com/office/powerpoint/2010/main" val="2724282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D930DF-15BD-DE6D-D19B-9752FD94EB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65" y="0"/>
            <a:ext cx="12170870" cy="6858000"/>
          </a:xfrm>
          <a:prstGeom prst="rect">
            <a:avLst/>
          </a:prstGeom>
        </p:spPr>
      </p:pic>
    </p:spTree>
    <p:extLst>
      <p:ext uri="{BB962C8B-B14F-4D97-AF65-F5344CB8AC3E}">
        <p14:creationId xmlns:p14="http://schemas.microsoft.com/office/powerpoint/2010/main" val="1533978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Text&#10;&#10;Description automatically generated">
            <a:extLst>
              <a:ext uri="{FF2B5EF4-FFF2-40B4-BE49-F238E27FC236}">
                <a16:creationId xmlns:a16="http://schemas.microsoft.com/office/drawing/2014/main" id="{F6BFF80F-9392-0C5A-3517-6F7751BFAA26}"/>
              </a:ext>
            </a:extLst>
          </p:cNvPr>
          <p:cNvPicPr>
            <a:picLocks noChangeAspect="1"/>
          </p:cNvPicPr>
          <p:nvPr/>
        </p:nvPicPr>
        <p:blipFill rotWithShape="1">
          <a:blip r:embed="rId2">
            <a:extLst>
              <a:ext uri="{28A0092B-C50C-407E-A947-70E740481C1C}">
                <a14:useLocalDpi xmlns:a14="http://schemas.microsoft.com/office/drawing/2010/main" val="0"/>
              </a:ext>
            </a:extLst>
          </a:blip>
          <a:srcRect t="10309" b="11663"/>
          <a:stretch/>
        </p:blipFill>
        <p:spPr>
          <a:xfrm>
            <a:off x="20" y="10"/>
            <a:ext cx="12207220" cy="6857990"/>
          </a:xfrm>
          <a:prstGeom prst="rect">
            <a:avLst/>
          </a:prstGeom>
        </p:spPr>
      </p:pic>
    </p:spTree>
    <p:extLst>
      <p:ext uri="{BB962C8B-B14F-4D97-AF65-F5344CB8AC3E}">
        <p14:creationId xmlns:p14="http://schemas.microsoft.com/office/powerpoint/2010/main" val="3045569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25383026-3263-AF4A-FE0C-D97B4E76D237}"/>
              </a:ext>
            </a:extLst>
          </p:cNvPr>
          <p:cNvPicPr>
            <a:picLocks noChangeAspect="1"/>
          </p:cNvPicPr>
          <p:nvPr/>
        </p:nvPicPr>
        <p:blipFill rotWithShape="1">
          <a:blip r:embed="rId2">
            <a:extLst>
              <a:ext uri="{28A0092B-C50C-407E-A947-70E740481C1C}">
                <a14:useLocalDpi xmlns:a14="http://schemas.microsoft.com/office/drawing/2010/main" val="0"/>
              </a:ext>
            </a:extLst>
          </a:blip>
          <a:srcRect t="7214" b="7015"/>
          <a:stretch/>
        </p:blipFill>
        <p:spPr>
          <a:xfrm>
            <a:off x="20" y="10"/>
            <a:ext cx="12207220" cy="6857990"/>
          </a:xfrm>
          <a:prstGeom prst="rect">
            <a:avLst/>
          </a:prstGeom>
        </p:spPr>
      </p:pic>
    </p:spTree>
    <p:extLst>
      <p:ext uri="{BB962C8B-B14F-4D97-AF65-F5344CB8AC3E}">
        <p14:creationId xmlns:p14="http://schemas.microsoft.com/office/powerpoint/2010/main" val="2432174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848E96"/>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5AB045-A302-CBBA-51FF-24B7B50CEDB6}"/>
              </a:ext>
            </a:extLst>
          </p:cNvPr>
          <p:cNvPicPr>
            <a:picLocks noChangeAspect="1"/>
          </p:cNvPicPr>
          <p:nvPr/>
        </p:nvPicPr>
        <p:blipFill rotWithShape="1">
          <a:blip r:embed="rId2"/>
          <a:srcRect l="26341" t="4531" r="25366" b="22263"/>
          <a:stretch/>
        </p:blipFill>
        <p:spPr>
          <a:xfrm>
            <a:off x="2866076" y="674915"/>
            <a:ext cx="6459847" cy="5508170"/>
          </a:xfrm>
          <a:prstGeom prst="rect">
            <a:avLst/>
          </a:prstGeom>
          <a:solidFill>
            <a:srgbClr val="848E96"/>
          </a:solidFill>
          <a:ln>
            <a:noFill/>
          </a:ln>
        </p:spPr>
      </p:pic>
    </p:spTree>
    <p:extLst>
      <p:ext uri="{BB962C8B-B14F-4D97-AF65-F5344CB8AC3E}">
        <p14:creationId xmlns:p14="http://schemas.microsoft.com/office/powerpoint/2010/main" val="374027759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
  <TotalTime>483</TotalTime>
  <Words>471</Words>
  <Application>Microsoft Office PowerPoint</Application>
  <PresentationFormat>Widescreen</PresentationFormat>
  <Paragraphs>25</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Century Schoolbook</vt:lpstr>
      <vt:lpstr>Century Schoolbook </vt:lpstr>
      <vt:lpstr>Tahoma</vt:lpstr>
      <vt:lpstr>Verdana</vt:lpstr>
      <vt:lpstr>Wingdings 2</vt:lpstr>
      <vt:lpstr>View</vt:lpstr>
      <vt:lpstr>BÀI TẬP LẬP TRÌNH CHỦ ĐỀ: ĐỒNG BỘ GIỮA CÁC TIẾN TRÌNH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TẬP LẬP TRÌNH CHỦ ĐỀ: ĐỒNG BỘ GIỮA CÁC TIẾN TRÌNH</dc:title>
  <dc:creator>koha tran</dc:creator>
  <cp:lastModifiedBy>koha tran</cp:lastModifiedBy>
  <cp:revision>2</cp:revision>
  <dcterms:created xsi:type="dcterms:W3CDTF">2023-04-15T09:30:43Z</dcterms:created>
  <dcterms:modified xsi:type="dcterms:W3CDTF">2023-04-16T13:52:11Z</dcterms:modified>
</cp:coreProperties>
</file>