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83" r:id="rId6"/>
    <p:sldId id="284" r:id="rId7"/>
    <p:sldId id="285" r:id="rId8"/>
    <p:sldId id="286" r:id="rId9"/>
    <p:sldId id="287" r:id="rId10"/>
    <p:sldId id="288" r:id="rId11"/>
    <p:sldId id="289" r:id="rId12"/>
    <p:sldId id="290" r:id="rId13"/>
    <p:sldId id="291" r:id="rId14"/>
    <p:sldId id="292" r:id="rId15"/>
    <p:sldId id="293" r:id="rId16"/>
    <p:sldId id="294" r:id="rId17"/>
    <p:sldId id="260" r:id="rId18"/>
    <p:sldId id="272" r:id="rId19"/>
    <p:sldId id="273" r:id="rId20"/>
    <p:sldId id="274" r:id="rId21"/>
    <p:sldId id="275" r:id="rId22"/>
    <p:sldId id="276" r:id="rId23"/>
    <p:sldId id="277" r:id="rId24"/>
    <p:sldId id="261" r:id="rId25"/>
    <p:sldId id="278" r:id="rId26"/>
    <p:sldId id="279" r:id="rId27"/>
    <p:sldId id="281" r:id="rId28"/>
    <p:sldId id="280" r:id="rId29"/>
    <p:sldId id="282" r:id="rId30"/>
    <p:sldId id="262" r:id="rId31"/>
    <p:sldId id="265" r:id="rId32"/>
    <p:sldId id="266" r:id="rId33"/>
    <p:sldId id="267" r:id="rId34"/>
    <p:sldId id="268" r:id="rId35"/>
    <p:sldId id="263" r:id="rId36"/>
    <p:sldId id="269" r:id="rId37"/>
    <p:sldId id="270" r:id="rId38"/>
    <p:sldId id="271" r:id="rId39"/>
    <p:sldId id="264" r:id="rId40"/>
    <p:sldId id="295" r:id="rId41"/>
    <p:sldId id="296" r:id="rId42"/>
    <p:sldId id="297" r:id="rId43"/>
    <p:sldId id="298" r:id="rId44"/>
  </p:sldIdLst>
  <p:sldSz cx="12192000" cy="6858000"/>
  <p:notesSz cx="6858000" cy="9144000"/>
  <p:custShowLst>
    <p:custShow name="I" id="0">
      <p:sldLst>
        <p:sld r:id="rId5"/>
        <p:sld r:id="rId6"/>
        <p:sld r:id="rId7"/>
        <p:sld r:id="rId8"/>
        <p:sld r:id="rId9"/>
        <p:sld r:id="rId10"/>
        <p:sld r:id="rId11"/>
        <p:sld r:id="rId12"/>
        <p:sld r:id="rId13"/>
        <p:sld r:id="rId14"/>
        <p:sld r:id="rId15"/>
        <p:sld r:id="rId16"/>
        <p:sld r:id="rId17"/>
      </p:sldLst>
    </p:custShow>
    <p:custShow name="II" id="1">
      <p:sldLst>
        <p:sld r:id="rId18"/>
        <p:sld r:id="rId19"/>
        <p:sld r:id="rId20"/>
        <p:sld r:id="rId21"/>
        <p:sld r:id="rId22"/>
        <p:sld r:id="rId23"/>
        <p:sld r:id="rId24"/>
      </p:sldLst>
    </p:custShow>
    <p:custShow name="III" id="2">
      <p:sldLst>
        <p:sld r:id="rId25"/>
        <p:sld r:id="rId26"/>
        <p:sld r:id="rId27"/>
        <p:sld r:id="rId28"/>
        <p:sld r:id="rId29"/>
        <p:sld r:id="rId30"/>
      </p:sldLst>
    </p:custShow>
    <p:custShow name="IV" id="3">
      <p:sldLst>
        <p:sld r:id="rId31"/>
        <p:sld r:id="rId32"/>
        <p:sld r:id="rId33"/>
        <p:sld r:id="rId34"/>
        <p:sld r:id="rId35"/>
      </p:sldLst>
    </p:custShow>
    <p:custShow name="V" id="4">
      <p:sldLst>
        <p:sld r:id="rId36"/>
        <p:sld r:id="rId37"/>
        <p:sld r:id="rId38"/>
        <p:sld r:id="rId39"/>
      </p:sldLst>
    </p:custShow>
    <p:custShow name="VI" id="5">
      <p:sldLst>
        <p:sld r:id="rId40"/>
        <p:sld r:id="rId41"/>
        <p:sld r:id="rId42"/>
        <p:sld r:id="rId43"/>
        <p:sld r:id="rId44"/>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8CDB5FE-B7B8-474F-A20E-C91623AE09E0}">
          <p14:sldIdLst>
            <p14:sldId id="256"/>
            <p14:sldId id="257"/>
            <p14:sldId id="258"/>
          </p14:sldIdLst>
        </p14:section>
        <p14:section name="I" id="{F758411E-6701-4BC3-88E5-259794FC3AA2}">
          <p14:sldIdLst>
            <p14:sldId id="259"/>
            <p14:sldId id="283"/>
            <p14:sldId id="284"/>
            <p14:sldId id="285"/>
            <p14:sldId id="286"/>
            <p14:sldId id="287"/>
            <p14:sldId id="288"/>
            <p14:sldId id="289"/>
            <p14:sldId id="290"/>
            <p14:sldId id="291"/>
            <p14:sldId id="292"/>
            <p14:sldId id="293"/>
            <p14:sldId id="294"/>
          </p14:sldIdLst>
        </p14:section>
        <p14:section name="II" id="{D2095813-8294-4C63-B043-7FCD22AA4FAC}">
          <p14:sldIdLst>
            <p14:sldId id="260"/>
            <p14:sldId id="272"/>
            <p14:sldId id="273"/>
            <p14:sldId id="274"/>
            <p14:sldId id="275"/>
            <p14:sldId id="276"/>
            <p14:sldId id="277"/>
          </p14:sldIdLst>
        </p14:section>
        <p14:section name="III" id="{26B8AD35-D68D-4376-B202-00747FC7AD11}">
          <p14:sldIdLst>
            <p14:sldId id="261"/>
            <p14:sldId id="278"/>
            <p14:sldId id="279"/>
            <p14:sldId id="281"/>
            <p14:sldId id="280"/>
            <p14:sldId id="282"/>
          </p14:sldIdLst>
        </p14:section>
        <p14:section name="IV" id="{712597C7-5EF3-442F-8B9B-4131B922E4FA}">
          <p14:sldIdLst>
            <p14:sldId id="262"/>
            <p14:sldId id="265"/>
            <p14:sldId id="266"/>
            <p14:sldId id="267"/>
            <p14:sldId id="268"/>
          </p14:sldIdLst>
        </p14:section>
        <p14:section name="V" id="{F26861D0-837A-4629-BAFA-14EFE2E5FF56}">
          <p14:sldIdLst>
            <p14:sldId id="263"/>
            <p14:sldId id="269"/>
            <p14:sldId id="270"/>
            <p14:sldId id="271"/>
          </p14:sldIdLst>
        </p14:section>
        <p14:section name="VI" id="{9B6A1AEF-D9BD-4BE3-840F-E899B3E3B4EB}">
          <p14:sldIdLst>
            <p14:sldId id="264"/>
            <p14:sldId id="295"/>
            <p14:sldId id="296"/>
            <p14:sldId id="297"/>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521" autoAdjust="0"/>
    <p:restoredTop sz="94660"/>
  </p:normalViewPr>
  <p:slideViewPr>
    <p:cSldViewPr snapToGrid="0">
      <p:cViewPr varScale="1">
        <p:scale>
          <a:sx n="72" d="100"/>
          <a:sy n="72" d="100"/>
        </p:scale>
        <p:origin x="6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82D97-4B53-3668-D4F4-44F4B4A42C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E291F6C0-5EE5-566B-AF1D-29028FE4FD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880591A0-3D0B-CC0C-C52B-3EA4A842F178}"/>
              </a:ext>
            </a:extLst>
          </p:cNvPr>
          <p:cNvSpPr>
            <a:spLocks noGrp="1"/>
          </p:cNvSpPr>
          <p:nvPr>
            <p:ph type="dt" sz="half" idx="10"/>
          </p:nvPr>
        </p:nvSpPr>
        <p:spPr/>
        <p:txBody>
          <a:bodyPr/>
          <a:lstStyle/>
          <a:p>
            <a:fld id="{150592EE-CA16-4B82-B854-1FD6C4E2AFF0}" type="datetimeFigureOut">
              <a:rPr lang="vi-VN" smtClean="0"/>
              <a:t>08/05/2023</a:t>
            </a:fld>
            <a:endParaRPr lang="vi-VN"/>
          </a:p>
        </p:txBody>
      </p:sp>
      <p:sp>
        <p:nvSpPr>
          <p:cNvPr id="5" name="Footer Placeholder 4">
            <a:extLst>
              <a:ext uri="{FF2B5EF4-FFF2-40B4-BE49-F238E27FC236}">
                <a16:creationId xmlns:a16="http://schemas.microsoft.com/office/drawing/2014/main" id="{8E5A8A09-EFF5-6C85-6947-12D109E0AFCD}"/>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F6F6C400-4185-82C8-D17D-826EFDB8252C}"/>
              </a:ext>
            </a:extLst>
          </p:cNvPr>
          <p:cNvSpPr>
            <a:spLocks noGrp="1"/>
          </p:cNvSpPr>
          <p:nvPr>
            <p:ph type="sldNum" sz="quarter" idx="12"/>
          </p:nvPr>
        </p:nvSpPr>
        <p:spPr/>
        <p:txBody>
          <a:bodyPr/>
          <a:lstStyle/>
          <a:p>
            <a:fld id="{BC2BAB26-FD5A-47CA-ADC8-610A41CB7CC2}" type="slidenum">
              <a:rPr lang="vi-VN" smtClean="0"/>
              <a:t>‹#›</a:t>
            </a:fld>
            <a:endParaRPr lang="vi-VN"/>
          </a:p>
        </p:txBody>
      </p:sp>
    </p:spTree>
    <p:extLst>
      <p:ext uri="{BB962C8B-B14F-4D97-AF65-F5344CB8AC3E}">
        <p14:creationId xmlns:p14="http://schemas.microsoft.com/office/powerpoint/2010/main" val="3269590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76648-F089-FD28-8139-250E1F0A6C62}"/>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F23BADC2-45AA-9F25-1DB7-5A532AF666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2A2D4B7B-FCF3-BCA1-EF21-67D6A59072BA}"/>
              </a:ext>
            </a:extLst>
          </p:cNvPr>
          <p:cNvSpPr>
            <a:spLocks noGrp="1"/>
          </p:cNvSpPr>
          <p:nvPr>
            <p:ph type="dt" sz="half" idx="10"/>
          </p:nvPr>
        </p:nvSpPr>
        <p:spPr/>
        <p:txBody>
          <a:bodyPr/>
          <a:lstStyle/>
          <a:p>
            <a:fld id="{150592EE-CA16-4B82-B854-1FD6C4E2AFF0}" type="datetimeFigureOut">
              <a:rPr lang="vi-VN" smtClean="0"/>
              <a:t>08/05/2023</a:t>
            </a:fld>
            <a:endParaRPr lang="vi-VN"/>
          </a:p>
        </p:txBody>
      </p:sp>
      <p:sp>
        <p:nvSpPr>
          <p:cNvPr id="5" name="Footer Placeholder 4">
            <a:extLst>
              <a:ext uri="{FF2B5EF4-FFF2-40B4-BE49-F238E27FC236}">
                <a16:creationId xmlns:a16="http://schemas.microsoft.com/office/drawing/2014/main" id="{C3DFFA49-5589-B064-28B6-4524C2E24C20}"/>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2F34E4FC-E776-C583-A4B4-5190DA218A92}"/>
              </a:ext>
            </a:extLst>
          </p:cNvPr>
          <p:cNvSpPr>
            <a:spLocks noGrp="1"/>
          </p:cNvSpPr>
          <p:nvPr>
            <p:ph type="sldNum" sz="quarter" idx="12"/>
          </p:nvPr>
        </p:nvSpPr>
        <p:spPr/>
        <p:txBody>
          <a:bodyPr/>
          <a:lstStyle/>
          <a:p>
            <a:fld id="{BC2BAB26-FD5A-47CA-ADC8-610A41CB7CC2}" type="slidenum">
              <a:rPr lang="vi-VN" smtClean="0"/>
              <a:t>‹#›</a:t>
            </a:fld>
            <a:endParaRPr lang="vi-VN"/>
          </a:p>
        </p:txBody>
      </p:sp>
    </p:spTree>
    <p:extLst>
      <p:ext uri="{BB962C8B-B14F-4D97-AF65-F5344CB8AC3E}">
        <p14:creationId xmlns:p14="http://schemas.microsoft.com/office/powerpoint/2010/main" val="2760357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E4B81-D4D0-1CB0-0A05-2ED9FD3384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1CEC7F1F-E16A-9D85-8A90-5AB19434E0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A8FE09-8C84-9835-0BEE-4267BAD0B27D}"/>
              </a:ext>
            </a:extLst>
          </p:cNvPr>
          <p:cNvSpPr>
            <a:spLocks noGrp="1"/>
          </p:cNvSpPr>
          <p:nvPr>
            <p:ph type="dt" sz="half" idx="10"/>
          </p:nvPr>
        </p:nvSpPr>
        <p:spPr/>
        <p:txBody>
          <a:bodyPr/>
          <a:lstStyle/>
          <a:p>
            <a:fld id="{150592EE-CA16-4B82-B854-1FD6C4E2AFF0}" type="datetimeFigureOut">
              <a:rPr lang="vi-VN" smtClean="0"/>
              <a:t>08/05/2023</a:t>
            </a:fld>
            <a:endParaRPr lang="vi-VN"/>
          </a:p>
        </p:txBody>
      </p:sp>
      <p:sp>
        <p:nvSpPr>
          <p:cNvPr id="5" name="Footer Placeholder 4">
            <a:extLst>
              <a:ext uri="{FF2B5EF4-FFF2-40B4-BE49-F238E27FC236}">
                <a16:creationId xmlns:a16="http://schemas.microsoft.com/office/drawing/2014/main" id="{58CB9638-E895-0BAB-90C7-7391C00A93A1}"/>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0E896A4B-A962-F257-7C22-881D34B29E4B}"/>
              </a:ext>
            </a:extLst>
          </p:cNvPr>
          <p:cNvSpPr>
            <a:spLocks noGrp="1"/>
          </p:cNvSpPr>
          <p:nvPr>
            <p:ph type="sldNum" sz="quarter" idx="12"/>
          </p:nvPr>
        </p:nvSpPr>
        <p:spPr/>
        <p:txBody>
          <a:bodyPr/>
          <a:lstStyle/>
          <a:p>
            <a:fld id="{BC2BAB26-FD5A-47CA-ADC8-610A41CB7CC2}" type="slidenum">
              <a:rPr lang="vi-VN" smtClean="0"/>
              <a:t>‹#›</a:t>
            </a:fld>
            <a:endParaRPr lang="vi-VN"/>
          </a:p>
        </p:txBody>
      </p:sp>
    </p:spTree>
    <p:extLst>
      <p:ext uri="{BB962C8B-B14F-4D97-AF65-F5344CB8AC3E}">
        <p14:creationId xmlns:p14="http://schemas.microsoft.com/office/powerpoint/2010/main" val="1695792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E5415-033D-1B4D-559C-A0BB04BEA694}"/>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9A6911D8-24EA-8E58-B37D-DB23306CFA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2D92C610-7E01-C781-C2AE-DF6EF711AD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E67AA958-F8E8-33A8-C80D-3ED68646973F}"/>
              </a:ext>
            </a:extLst>
          </p:cNvPr>
          <p:cNvSpPr>
            <a:spLocks noGrp="1"/>
          </p:cNvSpPr>
          <p:nvPr>
            <p:ph type="dt" sz="half" idx="10"/>
          </p:nvPr>
        </p:nvSpPr>
        <p:spPr/>
        <p:txBody>
          <a:bodyPr/>
          <a:lstStyle/>
          <a:p>
            <a:fld id="{150592EE-CA16-4B82-B854-1FD6C4E2AFF0}" type="datetimeFigureOut">
              <a:rPr lang="vi-VN" smtClean="0"/>
              <a:t>08/05/2023</a:t>
            </a:fld>
            <a:endParaRPr lang="vi-VN"/>
          </a:p>
        </p:txBody>
      </p:sp>
      <p:sp>
        <p:nvSpPr>
          <p:cNvPr id="6" name="Footer Placeholder 5">
            <a:extLst>
              <a:ext uri="{FF2B5EF4-FFF2-40B4-BE49-F238E27FC236}">
                <a16:creationId xmlns:a16="http://schemas.microsoft.com/office/drawing/2014/main" id="{34568459-B276-F5B9-E7F5-E08A79E8B7CF}"/>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D9E4104B-A46F-F71B-E2A3-3B0F6FFB7D52}"/>
              </a:ext>
            </a:extLst>
          </p:cNvPr>
          <p:cNvSpPr>
            <a:spLocks noGrp="1"/>
          </p:cNvSpPr>
          <p:nvPr>
            <p:ph type="sldNum" sz="quarter" idx="12"/>
          </p:nvPr>
        </p:nvSpPr>
        <p:spPr/>
        <p:txBody>
          <a:bodyPr/>
          <a:lstStyle/>
          <a:p>
            <a:fld id="{BC2BAB26-FD5A-47CA-ADC8-610A41CB7CC2}" type="slidenum">
              <a:rPr lang="vi-VN" smtClean="0"/>
              <a:t>‹#›</a:t>
            </a:fld>
            <a:endParaRPr lang="vi-VN"/>
          </a:p>
        </p:txBody>
      </p:sp>
    </p:spTree>
    <p:extLst>
      <p:ext uri="{BB962C8B-B14F-4D97-AF65-F5344CB8AC3E}">
        <p14:creationId xmlns:p14="http://schemas.microsoft.com/office/powerpoint/2010/main" val="9057603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A6BCB-8494-9478-37A9-72CB9E455692}"/>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CB5AF00E-5213-963A-1C30-4B752E7215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0347C9-D5C7-1FAE-C054-5AE535AB82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78E790D5-0835-E175-DE7E-9E3EFA1B4E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45134F-A478-23BB-C62A-D6ADB54F42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63A6B45F-A588-CFFC-D85E-B6BC99897D5C}"/>
              </a:ext>
            </a:extLst>
          </p:cNvPr>
          <p:cNvSpPr>
            <a:spLocks noGrp="1"/>
          </p:cNvSpPr>
          <p:nvPr>
            <p:ph type="dt" sz="half" idx="10"/>
          </p:nvPr>
        </p:nvSpPr>
        <p:spPr/>
        <p:txBody>
          <a:bodyPr/>
          <a:lstStyle/>
          <a:p>
            <a:fld id="{150592EE-CA16-4B82-B854-1FD6C4E2AFF0}" type="datetimeFigureOut">
              <a:rPr lang="vi-VN" smtClean="0"/>
              <a:t>08/05/2023</a:t>
            </a:fld>
            <a:endParaRPr lang="vi-VN"/>
          </a:p>
        </p:txBody>
      </p:sp>
      <p:sp>
        <p:nvSpPr>
          <p:cNvPr id="8" name="Footer Placeholder 7">
            <a:extLst>
              <a:ext uri="{FF2B5EF4-FFF2-40B4-BE49-F238E27FC236}">
                <a16:creationId xmlns:a16="http://schemas.microsoft.com/office/drawing/2014/main" id="{909BDA18-4C31-EFF1-3AD1-386A04CBACBC}"/>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66A0E415-9BC9-CA37-2A2B-5220D417B705}"/>
              </a:ext>
            </a:extLst>
          </p:cNvPr>
          <p:cNvSpPr>
            <a:spLocks noGrp="1"/>
          </p:cNvSpPr>
          <p:nvPr>
            <p:ph type="sldNum" sz="quarter" idx="12"/>
          </p:nvPr>
        </p:nvSpPr>
        <p:spPr/>
        <p:txBody>
          <a:bodyPr/>
          <a:lstStyle/>
          <a:p>
            <a:fld id="{BC2BAB26-FD5A-47CA-ADC8-610A41CB7CC2}" type="slidenum">
              <a:rPr lang="vi-VN" smtClean="0"/>
              <a:t>‹#›</a:t>
            </a:fld>
            <a:endParaRPr lang="vi-VN"/>
          </a:p>
        </p:txBody>
      </p:sp>
    </p:spTree>
    <p:extLst>
      <p:ext uri="{BB962C8B-B14F-4D97-AF65-F5344CB8AC3E}">
        <p14:creationId xmlns:p14="http://schemas.microsoft.com/office/powerpoint/2010/main" val="3125370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94704-5D0B-1A59-6628-77D6DA007C26}"/>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EA253C13-526E-C9EF-3F9D-21E8D441A95F}"/>
              </a:ext>
            </a:extLst>
          </p:cNvPr>
          <p:cNvSpPr>
            <a:spLocks noGrp="1"/>
          </p:cNvSpPr>
          <p:nvPr>
            <p:ph type="dt" sz="half" idx="10"/>
          </p:nvPr>
        </p:nvSpPr>
        <p:spPr/>
        <p:txBody>
          <a:bodyPr/>
          <a:lstStyle/>
          <a:p>
            <a:fld id="{150592EE-CA16-4B82-B854-1FD6C4E2AFF0}" type="datetimeFigureOut">
              <a:rPr lang="vi-VN" smtClean="0"/>
              <a:t>08/05/2023</a:t>
            </a:fld>
            <a:endParaRPr lang="vi-VN"/>
          </a:p>
        </p:txBody>
      </p:sp>
      <p:sp>
        <p:nvSpPr>
          <p:cNvPr id="4" name="Footer Placeholder 3">
            <a:extLst>
              <a:ext uri="{FF2B5EF4-FFF2-40B4-BE49-F238E27FC236}">
                <a16:creationId xmlns:a16="http://schemas.microsoft.com/office/drawing/2014/main" id="{F436AE6D-12FC-3223-C563-7FBE709E948D}"/>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9561D5EB-C2FC-FAC7-BD4A-B90C56B2DF7F}"/>
              </a:ext>
            </a:extLst>
          </p:cNvPr>
          <p:cNvSpPr>
            <a:spLocks noGrp="1"/>
          </p:cNvSpPr>
          <p:nvPr>
            <p:ph type="sldNum" sz="quarter" idx="12"/>
          </p:nvPr>
        </p:nvSpPr>
        <p:spPr/>
        <p:txBody>
          <a:bodyPr/>
          <a:lstStyle/>
          <a:p>
            <a:fld id="{BC2BAB26-FD5A-47CA-ADC8-610A41CB7CC2}" type="slidenum">
              <a:rPr lang="vi-VN" smtClean="0"/>
              <a:t>‹#›</a:t>
            </a:fld>
            <a:endParaRPr lang="vi-VN"/>
          </a:p>
        </p:txBody>
      </p:sp>
    </p:spTree>
    <p:extLst>
      <p:ext uri="{BB962C8B-B14F-4D97-AF65-F5344CB8AC3E}">
        <p14:creationId xmlns:p14="http://schemas.microsoft.com/office/powerpoint/2010/main" val="919214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C072CD-E85A-AD9C-669F-582F2F21C623}"/>
              </a:ext>
            </a:extLst>
          </p:cNvPr>
          <p:cNvSpPr>
            <a:spLocks noGrp="1"/>
          </p:cNvSpPr>
          <p:nvPr>
            <p:ph type="dt" sz="half" idx="10"/>
          </p:nvPr>
        </p:nvSpPr>
        <p:spPr/>
        <p:txBody>
          <a:bodyPr/>
          <a:lstStyle/>
          <a:p>
            <a:fld id="{150592EE-CA16-4B82-B854-1FD6C4E2AFF0}" type="datetimeFigureOut">
              <a:rPr lang="vi-VN" smtClean="0"/>
              <a:t>08/05/2023</a:t>
            </a:fld>
            <a:endParaRPr lang="vi-VN"/>
          </a:p>
        </p:txBody>
      </p:sp>
      <p:sp>
        <p:nvSpPr>
          <p:cNvPr id="3" name="Footer Placeholder 2">
            <a:extLst>
              <a:ext uri="{FF2B5EF4-FFF2-40B4-BE49-F238E27FC236}">
                <a16:creationId xmlns:a16="http://schemas.microsoft.com/office/drawing/2014/main" id="{B83E4E2E-2494-36A0-58FB-CADF82FB0ED0}"/>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B91A084B-300B-C743-18E4-7724A4738FAD}"/>
              </a:ext>
            </a:extLst>
          </p:cNvPr>
          <p:cNvSpPr>
            <a:spLocks noGrp="1"/>
          </p:cNvSpPr>
          <p:nvPr>
            <p:ph type="sldNum" sz="quarter" idx="12"/>
          </p:nvPr>
        </p:nvSpPr>
        <p:spPr/>
        <p:txBody>
          <a:bodyPr/>
          <a:lstStyle/>
          <a:p>
            <a:fld id="{BC2BAB26-FD5A-47CA-ADC8-610A41CB7CC2}" type="slidenum">
              <a:rPr lang="vi-VN" smtClean="0"/>
              <a:t>‹#›</a:t>
            </a:fld>
            <a:endParaRPr lang="vi-VN"/>
          </a:p>
        </p:txBody>
      </p:sp>
    </p:spTree>
    <p:extLst>
      <p:ext uri="{BB962C8B-B14F-4D97-AF65-F5344CB8AC3E}">
        <p14:creationId xmlns:p14="http://schemas.microsoft.com/office/powerpoint/2010/main" val="1424519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A700D-3B23-68E0-6F0B-1B80CA17E2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73CFC692-0C9C-B455-E924-C1999FAB04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AC2066B8-AAAE-64E4-9229-29C8CF8772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1B41DB-EF64-9619-5668-2B5F798FCDA8}"/>
              </a:ext>
            </a:extLst>
          </p:cNvPr>
          <p:cNvSpPr>
            <a:spLocks noGrp="1"/>
          </p:cNvSpPr>
          <p:nvPr>
            <p:ph type="dt" sz="half" idx="10"/>
          </p:nvPr>
        </p:nvSpPr>
        <p:spPr/>
        <p:txBody>
          <a:bodyPr/>
          <a:lstStyle/>
          <a:p>
            <a:fld id="{150592EE-CA16-4B82-B854-1FD6C4E2AFF0}" type="datetimeFigureOut">
              <a:rPr lang="vi-VN" smtClean="0"/>
              <a:t>08/05/2023</a:t>
            </a:fld>
            <a:endParaRPr lang="vi-VN"/>
          </a:p>
        </p:txBody>
      </p:sp>
      <p:sp>
        <p:nvSpPr>
          <p:cNvPr id="6" name="Footer Placeholder 5">
            <a:extLst>
              <a:ext uri="{FF2B5EF4-FFF2-40B4-BE49-F238E27FC236}">
                <a16:creationId xmlns:a16="http://schemas.microsoft.com/office/drawing/2014/main" id="{F533206D-3FF0-35B0-9CB3-AB8CA0DC42B1}"/>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F4E4528E-3F19-75D7-AAD3-0ADA938E357D}"/>
              </a:ext>
            </a:extLst>
          </p:cNvPr>
          <p:cNvSpPr>
            <a:spLocks noGrp="1"/>
          </p:cNvSpPr>
          <p:nvPr>
            <p:ph type="sldNum" sz="quarter" idx="12"/>
          </p:nvPr>
        </p:nvSpPr>
        <p:spPr/>
        <p:txBody>
          <a:bodyPr/>
          <a:lstStyle/>
          <a:p>
            <a:fld id="{BC2BAB26-FD5A-47CA-ADC8-610A41CB7CC2}" type="slidenum">
              <a:rPr lang="vi-VN" smtClean="0"/>
              <a:t>‹#›</a:t>
            </a:fld>
            <a:endParaRPr lang="vi-VN"/>
          </a:p>
        </p:txBody>
      </p:sp>
    </p:spTree>
    <p:extLst>
      <p:ext uri="{BB962C8B-B14F-4D97-AF65-F5344CB8AC3E}">
        <p14:creationId xmlns:p14="http://schemas.microsoft.com/office/powerpoint/2010/main" val="2274270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C1E96-6938-84F8-002E-6BF49A40F6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D71526AB-D81C-BCF9-0E95-6EFFCF66EF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D5E7F59B-5ED0-285D-F993-B1C794A694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B76E86-7288-EFF1-17B7-8613924BE4F0}"/>
              </a:ext>
            </a:extLst>
          </p:cNvPr>
          <p:cNvSpPr>
            <a:spLocks noGrp="1"/>
          </p:cNvSpPr>
          <p:nvPr>
            <p:ph type="dt" sz="half" idx="10"/>
          </p:nvPr>
        </p:nvSpPr>
        <p:spPr/>
        <p:txBody>
          <a:bodyPr/>
          <a:lstStyle/>
          <a:p>
            <a:fld id="{150592EE-CA16-4B82-B854-1FD6C4E2AFF0}" type="datetimeFigureOut">
              <a:rPr lang="vi-VN" smtClean="0"/>
              <a:t>08/05/2023</a:t>
            </a:fld>
            <a:endParaRPr lang="vi-VN"/>
          </a:p>
        </p:txBody>
      </p:sp>
      <p:sp>
        <p:nvSpPr>
          <p:cNvPr id="6" name="Footer Placeholder 5">
            <a:extLst>
              <a:ext uri="{FF2B5EF4-FFF2-40B4-BE49-F238E27FC236}">
                <a16:creationId xmlns:a16="http://schemas.microsoft.com/office/drawing/2014/main" id="{C720B99C-DAC4-430A-69F1-D3F0A45A45D6}"/>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7E7B146C-8D56-61AE-6282-9A4E0983EB23}"/>
              </a:ext>
            </a:extLst>
          </p:cNvPr>
          <p:cNvSpPr>
            <a:spLocks noGrp="1"/>
          </p:cNvSpPr>
          <p:nvPr>
            <p:ph type="sldNum" sz="quarter" idx="12"/>
          </p:nvPr>
        </p:nvSpPr>
        <p:spPr/>
        <p:txBody>
          <a:bodyPr/>
          <a:lstStyle/>
          <a:p>
            <a:fld id="{BC2BAB26-FD5A-47CA-ADC8-610A41CB7CC2}" type="slidenum">
              <a:rPr lang="vi-VN" smtClean="0"/>
              <a:t>‹#›</a:t>
            </a:fld>
            <a:endParaRPr lang="vi-VN"/>
          </a:p>
        </p:txBody>
      </p:sp>
    </p:spTree>
    <p:extLst>
      <p:ext uri="{BB962C8B-B14F-4D97-AF65-F5344CB8AC3E}">
        <p14:creationId xmlns:p14="http://schemas.microsoft.com/office/powerpoint/2010/main" val="1568391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8C15A-B71F-96DC-DDB8-CCC8377E5AC0}"/>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86CBDB2A-B708-85B2-F0A9-3FFB7141FC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D4AFBB56-EEEF-12BF-1DC7-F959E1F92167}"/>
              </a:ext>
            </a:extLst>
          </p:cNvPr>
          <p:cNvSpPr>
            <a:spLocks noGrp="1"/>
          </p:cNvSpPr>
          <p:nvPr>
            <p:ph type="dt" sz="half" idx="10"/>
          </p:nvPr>
        </p:nvSpPr>
        <p:spPr/>
        <p:txBody>
          <a:bodyPr/>
          <a:lstStyle/>
          <a:p>
            <a:fld id="{150592EE-CA16-4B82-B854-1FD6C4E2AFF0}" type="datetimeFigureOut">
              <a:rPr lang="vi-VN" smtClean="0"/>
              <a:t>08/05/2023</a:t>
            </a:fld>
            <a:endParaRPr lang="vi-VN"/>
          </a:p>
        </p:txBody>
      </p:sp>
      <p:sp>
        <p:nvSpPr>
          <p:cNvPr id="5" name="Footer Placeholder 4">
            <a:extLst>
              <a:ext uri="{FF2B5EF4-FFF2-40B4-BE49-F238E27FC236}">
                <a16:creationId xmlns:a16="http://schemas.microsoft.com/office/drawing/2014/main" id="{F67F49EF-2EBC-67AF-EDA7-CBCFEC53AD8B}"/>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D39CC85A-EC39-F376-5DCF-3380F7C96DB7}"/>
              </a:ext>
            </a:extLst>
          </p:cNvPr>
          <p:cNvSpPr>
            <a:spLocks noGrp="1"/>
          </p:cNvSpPr>
          <p:nvPr>
            <p:ph type="sldNum" sz="quarter" idx="12"/>
          </p:nvPr>
        </p:nvSpPr>
        <p:spPr/>
        <p:txBody>
          <a:bodyPr/>
          <a:lstStyle/>
          <a:p>
            <a:fld id="{BC2BAB26-FD5A-47CA-ADC8-610A41CB7CC2}" type="slidenum">
              <a:rPr lang="vi-VN" smtClean="0"/>
              <a:t>‹#›</a:t>
            </a:fld>
            <a:endParaRPr lang="vi-VN"/>
          </a:p>
        </p:txBody>
      </p:sp>
    </p:spTree>
    <p:extLst>
      <p:ext uri="{BB962C8B-B14F-4D97-AF65-F5344CB8AC3E}">
        <p14:creationId xmlns:p14="http://schemas.microsoft.com/office/powerpoint/2010/main" val="679956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5C94E1-4942-0352-227A-83602AAC13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EB2B47BB-76F1-49B7-2456-AC75DC1918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73A7B85B-2914-D8E5-121B-24A9203AB1BC}"/>
              </a:ext>
            </a:extLst>
          </p:cNvPr>
          <p:cNvSpPr>
            <a:spLocks noGrp="1"/>
          </p:cNvSpPr>
          <p:nvPr>
            <p:ph type="dt" sz="half" idx="10"/>
          </p:nvPr>
        </p:nvSpPr>
        <p:spPr/>
        <p:txBody>
          <a:bodyPr/>
          <a:lstStyle/>
          <a:p>
            <a:fld id="{150592EE-CA16-4B82-B854-1FD6C4E2AFF0}" type="datetimeFigureOut">
              <a:rPr lang="vi-VN" smtClean="0"/>
              <a:t>08/05/2023</a:t>
            </a:fld>
            <a:endParaRPr lang="vi-VN"/>
          </a:p>
        </p:txBody>
      </p:sp>
      <p:sp>
        <p:nvSpPr>
          <p:cNvPr id="5" name="Footer Placeholder 4">
            <a:extLst>
              <a:ext uri="{FF2B5EF4-FFF2-40B4-BE49-F238E27FC236}">
                <a16:creationId xmlns:a16="http://schemas.microsoft.com/office/drawing/2014/main" id="{1A2E532B-582F-A3FF-8DF5-2C45C8979092}"/>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640A6974-2DBD-F5AE-F845-9D7E630DABD2}"/>
              </a:ext>
            </a:extLst>
          </p:cNvPr>
          <p:cNvSpPr>
            <a:spLocks noGrp="1"/>
          </p:cNvSpPr>
          <p:nvPr>
            <p:ph type="sldNum" sz="quarter" idx="12"/>
          </p:nvPr>
        </p:nvSpPr>
        <p:spPr/>
        <p:txBody>
          <a:bodyPr/>
          <a:lstStyle/>
          <a:p>
            <a:fld id="{BC2BAB26-FD5A-47CA-ADC8-610A41CB7CC2}" type="slidenum">
              <a:rPr lang="vi-VN" smtClean="0"/>
              <a:t>‹#›</a:t>
            </a:fld>
            <a:endParaRPr lang="vi-VN"/>
          </a:p>
        </p:txBody>
      </p:sp>
    </p:spTree>
    <p:extLst>
      <p:ext uri="{BB962C8B-B14F-4D97-AF65-F5344CB8AC3E}">
        <p14:creationId xmlns:p14="http://schemas.microsoft.com/office/powerpoint/2010/main" val="1544755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5C140A-866B-B2FA-9D2B-564836AEEB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ACE8FF68-A994-BCDD-CDEB-0888E800E0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001EE03E-01B5-2B1A-2007-C067A9CAFD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0592EE-CA16-4B82-B854-1FD6C4E2AFF0}" type="datetimeFigureOut">
              <a:rPr lang="vi-VN" smtClean="0"/>
              <a:t>08/05/2023</a:t>
            </a:fld>
            <a:endParaRPr lang="vi-VN"/>
          </a:p>
        </p:txBody>
      </p:sp>
      <p:sp>
        <p:nvSpPr>
          <p:cNvPr id="5" name="Footer Placeholder 4">
            <a:extLst>
              <a:ext uri="{FF2B5EF4-FFF2-40B4-BE49-F238E27FC236}">
                <a16:creationId xmlns:a16="http://schemas.microsoft.com/office/drawing/2014/main" id="{3BC1526A-D223-ED1F-A4A4-0D3181BBFA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a:extLst>
              <a:ext uri="{FF2B5EF4-FFF2-40B4-BE49-F238E27FC236}">
                <a16:creationId xmlns:a16="http://schemas.microsoft.com/office/drawing/2014/main" id="{514AE23C-8992-21C4-95EC-316DF98D0D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2BAB26-FD5A-47CA-ADC8-610A41CB7CC2}" type="slidenum">
              <a:rPr lang="vi-VN" smtClean="0"/>
              <a:t>‹#›</a:t>
            </a:fld>
            <a:endParaRPr lang="vi-VN"/>
          </a:p>
        </p:txBody>
      </p:sp>
    </p:spTree>
    <p:extLst>
      <p:ext uri="{BB962C8B-B14F-4D97-AF65-F5344CB8AC3E}">
        <p14:creationId xmlns:p14="http://schemas.microsoft.com/office/powerpoint/2010/main" val="10931680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B6D9187-FDD9-364F-E371-2132EC09A797}"/>
              </a:ext>
            </a:extLst>
          </p:cNvPr>
          <p:cNvSpPr txBox="1"/>
          <p:nvPr/>
        </p:nvSpPr>
        <p:spPr>
          <a:xfrm>
            <a:off x="2279374" y="808383"/>
            <a:ext cx="7328452" cy="1323439"/>
          </a:xfrm>
          <a:prstGeom prst="rect">
            <a:avLst/>
          </a:prstGeom>
          <a:noFill/>
        </p:spPr>
        <p:txBody>
          <a:bodyPr wrap="square" rtlCol="0">
            <a:spAutoFit/>
          </a:bodyPr>
          <a:lstStyle/>
          <a:p>
            <a:pPr algn="ctr"/>
            <a:r>
              <a:rPr lang="en-US" sz="4000" b="1">
                <a:ln w="9525">
                  <a:solidFill>
                    <a:schemeClr val="bg1"/>
                  </a:solidFill>
                  <a:prstDash val="solid"/>
                </a:ln>
                <a:effectLst>
                  <a:outerShdw blurRad="12700" dist="38100" dir="2700000" algn="tl" rotWithShape="0">
                    <a:schemeClr val="bg1">
                      <a:lumMod val="50000"/>
                    </a:schemeClr>
                  </a:outerShdw>
                </a:effectLst>
              </a:rPr>
              <a:t>NHÓM 9 KIẾN TRÚC MÁY TÍNH</a:t>
            </a:r>
          </a:p>
          <a:p>
            <a:pPr algn="ctr"/>
            <a:r>
              <a:rPr lang="en-US" sz="4000" b="1">
                <a:ln w="9525">
                  <a:solidFill>
                    <a:schemeClr val="bg1"/>
                  </a:solidFill>
                  <a:prstDash val="solid"/>
                </a:ln>
                <a:effectLst>
                  <a:outerShdw blurRad="12700" dist="38100" dir="2700000" algn="tl" rotWithShape="0">
                    <a:schemeClr val="bg1">
                      <a:lumMod val="50000"/>
                    </a:schemeClr>
                  </a:outerShdw>
                </a:effectLst>
              </a:rPr>
              <a:t> </a:t>
            </a:r>
            <a:r>
              <a:rPr lang="en-US" sz="3200" b="1" i="1">
                <a:ln w="9525">
                  <a:solidFill>
                    <a:schemeClr val="bg1"/>
                  </a:solidFill>
                  <a:prstDash val="solid"/>
                </a:ln>
                <a:effectLst>
                  <a:outerShdw blurRad="12700" dist="38100" dir="2700000" algn="tl" rotWithShape="0">
                    <a:schemeClr val="bg1">
                      <a:lumMod val="50000"/>
                    </a:schemeClr>
                  </a:outerShdw>
                </a:effectLst>
              </a:rPr>
              <a:t>64.CNTT-2</a:t>
            </a:r>
            <a:endParaRPr lang="en-US" sz="4000" b="1" i="1">
              <a:ln w="9525">
                <a:solidFill>
                  <a:schemeClr val="bg1"/>
                </a:solidFill>
                <a:prstDash val="solid"/>
              </a:ln>
              <a:effectLst>
                <a:outerShdw blurRad="12700" dist="38100" dir="2700000" algn="tl" rotWithShape="0">
                  <a:schemeClr val="bg1">
                    <a:lumMod val="50000"/>
                  </a:schemeClr>
                </a:outerShdw>
              </a:effectLst>
            </a:endParaRPr>
          </a:p>
        </p:txBody>
      </p:sp>
      <p:sp>
        <p:nvSpPr>
          <p:cNvPr id="6" name="TextBox 5">
            <a:extLst>
              <a:ext uri="{FF2B5EF4-FFF2-40B4-BE49-F238E27FC236}">
                <a16:creationId xmlns:a16="http://schemas.microsoft.com/office/drawing/2014/main" id="{7395B06B-E54F-B3DF-2A2E-7F9B42FE44D8}"/>
              </a:ext>
            </a:extLst>
          </p:cNvPr>
          <p:cNvSpPr txBox="1"/>
          <p:nvPr/>
        </p:nvSpPr>
        <p:spPr>
          <a:xfrm>
            <a:off x="3235583" y="2828835"/>
            <a:ext cx="5416034" cy="1200329"/>
          </a:xfrm>
          <a:prstGeom prst="rect">
            <a:avLst/>
          </a:prstGeom>
          <a:noFill/>
        </p:spPr>
        <p:txBody>
          <a:bodyPr wrap="none" rtlCol="0">
            <a:spAutoFit/>
          </a:bodyPr>
          <a:lstStyle/>
          <a:p>
            <a:r>
              <a:rPr lang="en-US" sz="7200" b="1">
                <a:ln w="9525">
                  <a:solidFill>
                    <a:schemeClr val="bg1"/>
                  </a:solidFill>
                  <a:prstDash val="solid"/>
                </a:ln>
                <a:effectLst>
                  <a:outerShdw blurRad="12700" dist="38100" dir="2700000" algn="tl" rotWithShape="0">
                    <a:schemeClr val="bg1">
                      <a:lumMod val="50000"/>
                    </a:schemeClr>
                  </a:outerShdw>
                </a:effectLst>
              </a:rPr>
              <a:t>TRACE CACHE</a:t>
            </a:r>
            <a:endParaRPr lang="vi-VN" sz="7200" b="1">
              <a:ln w="9525">
                <a:solidFill>
                  <a:schemeClr val="bg1"/>
                </a:solidFill>
                <a:prstDash val="solid"/>
              </a:ln>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32336398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C4BA22-306C-4F35-6C01-EABD107F4134}"/>
              </a:ext>
            </a:extLst>
          </p:cNvPr>
          <p:cNvSpPr txBox="1"/>
          <p:nvPr/>
        </p:nvSpPr>
        <p:spPr>
          <a:xfrm>
            <a:off x="2431774" y="636104"/>
            <a:ext cx="7328452" cy="707886"/>
          </a:xfrm>
          <a:prstGeom prst="rect">
            <a:avLst/>
          </a:prstGeom>
          <a:noFill/>
        </p:spPr>
        <p:txBody>
          <a:bodyPr wrap="square" rtlCol="0">
            <a:spAutoFit/>
          </a:bodyPr>
          <a:lstStyle/>
          <a:p>
            <a:pPr algn="ctr"/>
            <a:r>
              <a:rPr lang="en-US" sz="4000" b="1" i="1">
                <a:ln w="9525">
                  <a:solidFill>
                    <a:schemeClr val="bg1"/>
                  </a:solidFill>
                  <a:prstDash val="solid"/>
                </a:ln>
                <a:effectLst>
                  <a:outerShdw blurRad="12700" dist="38100" dir="2700000" algn="tl" rotWithShape="0">
                    <a:schemeClr val="bg1">
                      <a:lumMod val="50000"/>
                    </a:schemeClr>
                  </a:outerShdw>
                </a:effectLst>
              </a:rPr>
              <a:t>THÀNH VIÊN NHÓM</a:t>
            </a:r>
          </a:p>
        </p:txBody>
      </p:sp>
      <p:graphicFrame>
        <p:nvGraphicFramePr>
          <p:cNvPr id="6" name="Table 6">
            <a:extLst>
              <a:ext uri="{FF2B5EF4-FFF2-40B4-BE49-F238E27FC236}">
                <a16:creationId xmlns:a16="http://schemas.microsoft.com/office/drawing/2014/main" id="{74CB07A1-D9EF-2CA1-A061-1651F7F8EF7D}"/>
              </a:ext>
            </a:extLst>
          </p:cNvPr>
          <p:cNvGraphicFramePr>
            <a:graphicFrameLocks noGrp="1"/>
          </p:cNvGraphicFramePr>
          <p:nvPr>
            <p:extLst>
              <p:ext uri="{D42A27DB-BD31-4B8C-83A1-F6EECF244321}">
                <p14:modId xmlns:p14="http://schemas.microsoft.com/office/powerpoint/2010/main" val="1156248795"/>
              </p:ext>
            </p:extLst>
          </p:nvPr>
        </p:nvGraphicFramePr>
        <p:xfrm>
          <a:off x="2431774" y="2000416"/>
          <a:ext cx="7506805" cy="3631756"/>
        </p:xfrm>
        <a:graphic>
          <a:graphicData uri="http://schemas.openxmlformats.org/drawingml/2006/table">
            <a:tbl>
              <a:tblPr firstRow="1" bandRow="1">
                <a:tableStyleId>{5C22544A-7EE6-4342-B048-85BDC9FD1C3A}</a:tableStyleId>
              </a:tblPr>
              <a:tblGrid>
                <a:gridCol w="3545335">
                  <a:extLst>
                    <a:ext uri="{9D8B030D-6E8A-4147-A177-3AD203B41FA5}">
                      <a16:colId xmlns:a16="http://schemas.microsoft.com/office/drawing/2014/main" val="443840800"/>
                    </a:ext>
                  </a:extLst>
                </a:gridCol>
                <a:gridCol w="1946258">
                  <a:extLst>
                    <a:ext uri="{9D8B030D-6E8A-4147-A177-3AD203B41FA5}">
                      <a16:colId xmlns:a16="http://schemas.microsoft.com/office/drawing/2014/main" val="1854169605"/>
                    </a:ext>
                  </a:extLst>
                </a:gridCol>
                <a:gridCol w="2015212">
                  <a:extLst>
                    <a:ext uri="{9D8B030D-6E8A-4147-A177-3AD203B41FA5}">
                      <a16:colId xmlns:a16="http://schemas.microsoft.com/office/drawing/2014/main" val="2955701444"/>
                    </a:ext>
                  </a:extLst>
                </a:gridCol>
              </a:tblGrid>
              <a:tr h="671086">
                <a:tc>
                  <a:txBody>
                    <a:bodyPr/>
                    <a:lstStyle/>
                    <a:p>
                      <a:pPr algn="ctr"/>
                      <a:r>
                        <a:rPr lang="en-US" sz="2800">
                          <a:latin typeface="Arial" panose="020B0604020202020204" pitchFamily="34" charset="0"/>
                          <a:cs typeface="Arial" panose="020B0604020202020204" pitchFamily="34" charset="0"/>
                        </a:rPr>
                        <a:t>Họ và tên</a:t>
                      </a:r>
                      <a:endParaRPr lang="vi-VN" sz="280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tc>
                  <a:txBody>
                    <a:bodyPr/>
                    <a:lstStyle/>
                    <a:p>
                      <a:pPr algn="ctr"/>
                      <a:r>
                        <a:rPr lang="en-US" sz="2800">
                          <a:latin typeface="Arial" panose="020B0604020202020204" pitchFamily="34" charset="0"/>
                          <a:cs typeface="Arial" panose="020B0604020202020204" pitchFamily="34" charset="0"/>
                        </a:rPr>
                        <a:t>Lớp</a:t>
                      </a:r>
                      <a:endParaRPr lang="vi-VN" sz="280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tc>
                  <a:txBody>
                    <a:bodyPr/>
                    <a:lstStyle/>
                    <a:p>
                      <a:pPr algn="ctr"/>
                      <a:r>
                        <a:rPr lang="en-US" sz="2800">
                          <a:latin typeface="Arial" panose="020B0604020202020204" pitchFamily="34" charset="0"/>
                          <a:cs typeface="Arial" panose="020B0604020202020204" pitchFamily="34" charset="0"/>
                        </a:rPr>
                        <a:t>MSSV</a:t>
                      </a:r>
                      <a:endParaRPr lang="vi-VN" sz="280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2918427625"/>
                  </a:ext>
                </a:extLst>
              </a:tr>
              <a:tr h="592134">
                <a:tc>
                  <a:txBody>
                    <a:bodyPr/>
                    <a:lstStyle/>
                    <a:p>
                      <a:r>
                        <a:rPr lang="en-US" sz="2400" kern="1200">
                          <a:solidFill>
                            <a:schemeClr val="bg1"/>
                          </a:solidFill>
                          <a:latin typeface="Arial" panose="020B0604020202020204" pitchFamily="34" charset="0"/>
                          <a:ea typeface="+mn-ea"/>
                          <a:cs typeface="Arial" panose="020B0604020202020204" pitchFamily="34" charset="0"/>
                        </a:rPr>
                        <a:t>Trần Anh Khoa (Leader)</a:t>
                      </a:r>
                      <a:endParaRPr lang="vi-VN" sz="2400" kern="1200">
                        <a:solidFill>
                          <a:schemeClr val="bg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002060"/>
                    </a:solidFill>
                  </a:tcPr>
                </a:tc>
                <a:tc>
                  <a:txBody>
                    <a:bodyPr/>
                    <a:lstStyle/>
                    <a:p>
                      <a:pPr algn="ctr"/>
                      <a:r>
                        <a:rPr lang="en-US" sz="2400" kern="1200">
                          <a:solidFill>
                            <a:schemeClr val="bg1"/>
                          </a:solidFill>
                          <a:latin typeface="Arial" panose="020B0604020202020204" pitchFamily="34" charset="0"/>
                          <a:ea typeface="+mn-ea"/>
                          <a:cs typeface="Arial" panose="020B0604020202020204" pitchFamily="34" charset="0"/>
                        </a:rPr>
                        <a:t>64.CNTT-2</a:t>
                      </a:r>
                      <a:endParaRPr lang="vi-VN" sz="2400" kern="1200">
                        <a:solidFill>
                          <a:schemeClr val="bg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002060"/>
                    </a:solidFill>
                  </a:tcPr>
                </a:tc>
                <a:tc>
                  <a:txBody>
                    <a:bodyPr/>
                    <a:lstStyle/>
                    <a:p>
                      <a:pPr algn="ctr"/>
                      <a:r>
                        <a:rPr lang="en-US" sz="2400" kern="1200">
                          <a:solidFill>
                            <a:schemeClr val="bg1"/>
                          </a:solidFill>
                          <a:latin typeface="Arial" panose="020B0604020202020204" pitchFamily="34" charset="0"/>
                          <a:ea typeface="+mn-ea"/>
                          <a:cs typeface="Arial" panose="020B0604020202020204" pitchFamily="34" charset="0"/>
                        </a:rPr>
                        <a:t>64131011</a:t>
                      </a:r>
                      <a:endParaRPr lang="vi-VN" sz="2400" kern="1200">
                        <a:solidFill>
                          <a:schemeClr val="bg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46149140"/>
                  </a:ext>
                </a:extLst>
              </a:tr>
              <a:tr h="592134">
                <a:tc>
                  <a:txBody>
                    <a:bodyPr/>
                    <a:lstStyle/>
                    <a:p>
                      <a:r>
                        <a:rPr lang="en-US" sz="2400" kern="1200">
                          <a:solidFill>
                            <a:schemeClr val="bg1"/>
                          </a:solidFill>
                          <a:latin typeface="Arial" panose="020B0604020202020204" pitchFamily="34" charset="0"/>
                          <a:ea typeface="+mn-ea"/>
                          <a:cs typeface="Arial" panose="020B0604020202020204" pitchFamily="34" charset="0"/>
                        </a:rPr>
                        <a:t>Nguyễn Trọng Thời</a:t>
                      </a:r>
                      <a:endParaRPr lang="vi-VN" sz="2400" kern="1200">
                        <a:solidFill>
                          <a:schemeClr val="bg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2060"/>
                    </a:solidFill>
                  </a:tcPr>
                </a:tc>
                <a:tc>
                  <a:txBody>
                    <a:bodyPr/>
                    <a:lstStyle/>
                    <a:p>
                      <a:pPr algn="ctr"/>
                      <a:r>
                        <a:rPr lang="en-US" sz="2400" kern="1200">
                          <a:solidFill>
                            <a:schemeClr val="bg1"/>
                          </a:solidFill>
                          <a:latin typeface="Arial" panose="020B0604020202020204" pitchFamily="34" charset="0"/>
                          <a:ea typeface="+mn-ea"/>
                          <a:cs typeface="Arial" panose="020B0604020202020204" pitchFamily="34" charset="0"/>
                        </a:rPr>
                        <a:t>64.CNTT-2</a:t>
                      </a:r>
                      <a:endParaRPr lang="vi-VN" sz="2400" kern="1200">
                        <a:solidFill>
                          <a:schemeClr val="bg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2060"/>
                    </a:solidFill>
                  </a:tcPr>
                </a:tc>
                <a:tc>
                  <a:txBody>
                    <a:bodyPr/>
                    <a:lstStyle/>
                    <a:p>
                      <a:pPr algn="ctr"/>
                      <a:r>
                        <a:rPr lang="en-US" sz="2400" kern="1200">
                          <a:solidFill>
                            <a:schemeClr val="bg1"/>
                          </a:solidFill>
                          <a:latin typeface="Arial" panose="020B0604020202020204" pitchFamily="34" charset="0"/>
                          <a:ea typeface="+mn-ea"/>
                          <a:cs typeface="Arial" panose="020B0604020202020204" pitchFamily="34" charset="0"/>
                        </a:rPr>
                        <a:t>64132333</a:t>
                      </a:r>
                      <a:endParaRPr lang="vi-VN" sz="2400" kern="1200">
                        <a:solidFill>
                          <a:schemeClr val="bg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904591633"/>
                  </a:ext>
                </a:extLst>
              </a:tr>
              <a:tr h="592134">
                <a:tc>
                  <a:txBody>
                    <a:bodyPr/>
                    <a:lstStyle/>
                    <a:p>
                      <a:pPr indent="-180340" algn="ctr" rtl="0" fontAlgn="t">
                        <a:spcBef>
                          <a:spcPts val="0"/>
                        </a:spcBef>
                        <a:spcAft>
                          <a:spcPts val="0"/>
                        </a:spcAft>
                      </a:pPr>
                      <a:r>
                        <a:rPr lang="en-US" sz="2400" kern="1200">
                          <a:solidFill>
                            <a:schemeClr val="bg1"/>
                          </a:solidFill>
                          <a:latin typeface="Arial" panose="020B0604020202020204" pitchFamily="34" charset="0"/>
                          <a:ea typeface="+mn-ea"/>
                          <a:cs typeface="Arial" panose="020B0604020202020204" pitchFamily="34" charset="0"/>
                        </a:rPr>
                        <a:t>Trần Duy Khánh</a:t>
                      </a:r>
                    </a:p>
                  </a:txBody>
                  <a:tcPr marL="68580" marR="685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kern="1200">
                          <a:solidFill>
                            <a:schemeClr val="bg1"/>
                          </a:solidFill>
                          <a:latin typeface="Arial" panose="020B0604020202020204" pitchFamily="34" charset="0"/>
                          <a:ea typeface="+mn-ea"/>
                          <a:cs typeface="Arial" panose="020B0604020202020204" pitchFamily="34" charset="0"/>
                        </a:rPr>
                        <a:t>64.CNTT-2</a:t>
                      </a:r>
                      <a:endParaRPr lang="vi-VN" sz="2400" kern="1200">
                        <a:solidFill>
                          <a:schemeClr val="bg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2060"/>
                    </a:solidFill>
                  </a:tcPr>
                </a:tc>
                <a:tc>
                  <a:txBody>
                    <a:bodyPr/>
                    <a:lstStyle/>
                    <a:p>
                      <a:pPr indent="-180340" algn="ctr" rtl="0" fontAlgn="t">
                        <a:spcBef>
                          <a:spcPts val="0"/>
                        </a:spcBef>
                        <a:spcAft>
                          <a:spcPts val="0"/>
                        </a:spcAft>
                      </a:pPr>
                      <a:r>
                        <a:rPr lang="en-US" sz="2400" kern="1200">
                          <a:solidFill>
                            <a:schemeClr val="bg1"/>
                          </a:solidFill>
                          <a:latin typeface="Arial" panose="020B0604020202020204" pitchFamily="34" charset="0"/>
                          <a:ea typeface="+mn-ea"/>
                          <a:cs typeface="Arial" panose="020B0604020202020204" pitchFamily="34" charset="0"/>
                        </a:rPr>
                        <a:t>64130994</a:t>
                      </a:r>
                    </a:p>
                  </a:txBody>
                  <a:tcPr marL="68580" marR="685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747766314"/>
                  </a:ext>
                </a:extLst>
              </a:tr>
              <a:tr h="592134">
                <a:tc>
                  <a:txBody>
                    <a:bodyPr/>
                    <a:lstStyle/>
                    <a:p>
                      <a:pPr indent="-180340" algn="ctr" rtl="0" fontAlgn="t">
                        <a:spcBef>
                          <a:spcPts val="0"/>
                        </a:spcBef>
                        <a:spcAft>
                          <a:spcPts val="0"/>
                        </a:spcAft>
                      </a:pPr>
                      <a:r>
                        <a:rPr lang="en-US" sz="2400" kern="1200">
                          <a:solidFill>
                            <a:schemeClr val="bg1"/>
                          </a:solidFill>
                          <a:latin typeface="Arial" panose="020B0604020202020204" pitchFamily="34" charset="0"/>
                          <a:ea typeface="+mn-ea"/>
                          <a:cs typeface="Arial" panose="020B0604020202020204" pitchFamily="34" charset="0"/>
                        </a:rPr>
                        <a:t>Nguyễn Minh Hùng</a:t>
                      </a:r>
                    </a:p>
                  </a:txBody>
                  <a:tcPr marL="68580" marR="685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kern="1200">
                          <a:solidFill>
                            <a:schemeClr val="bg1"/>
                          </a:solidFill>
                          <a:latin typeface="Arial" panose="020B0604020202020204" pitchFamily="34" charset="0"/>
                          <a:ea typeface="+mn-ea"/>
                          <a:cs typeface="Arial" panose="020B0604020202020204" pitchFamily="34" charset="0"/>
                        </a:rPr>
                        <a:t>64.CNTT-2</a:t>
                      </a:r>
                      <a:endParaRPr lang="vi-VN" sz="2400" kern="1200">
                        <a:solidFill>
                          <a:schemeClr val="bg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2060"/>
                    </a:solidFill>
                  </a:tcPr>
                </a:tc>
                <a:tc>
                  <a:txBody>
                    <a:bodyPr/>
                    <a:lstStyle/>
                    <a:p>
                      <a:pPr indent="-180340" algn="ctr" rtl="0" fontAlgn="t">
                        <a:spcBef>
                          <a:spcPts val="0"/>
                        </a:spcBef>
                        <a:spcAft>
                          <a:spcPts val="0"/>
                        </a:spcAft>
                      </a:pPr>
                      <a:r>
                        <a:rPr lang="en-US" sz="2400" kern="1200">
                          <a:solidFill>
                            <a:schemeClr val="bg1"/>
                          </a:solidFill>
                          <a:latin typeface="Arial" panose="020B0604020202020204" pitchFamily="34" charset="0"/>
                          <a:ea typeface="+mn-ea"/>
                          <a:cs typeface="Arial" panose="020B0604020202020204" pitchFamily="34" charset="0"/>
                        </a:rPr>
                        <a:t>64130776</a:t>
                      </a:r>
                    </a:p>
                  </a:txBody>
                  <a:tcPr marL="68580" marR="685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50165955"/>
                  </a:ext>
                </a:extLst>
              </a:tr>
              <a:tr h="592134">
                <a:tc>
                  <a:txBody>
                    <a:bodyPr/>
                    <a:lstStyle/>
                    <a:p>
                      <a:pPr indent="-180340" algn="ctr" rtl="0" fontAlgn="t">
                        <a:spcBef>
                          <a:spcPts val="0"/>
                        </a:spcBef>
                        <a:spcAft>
                          <a:spcPts val="0"/>
                        </a:spcAft>
                      </a:pPr>
                      <a:r>
                        <a:rPr lang="en-US" sz="2400" kern="1200">
                          <a:solidFill>
                            <a:schemeClr val="bg1"/>
                          </a:solidFill>
                          <a:latin typeface="Arial" panose="020B0604020202020204" pitchFamily="34" charset="0"/>
                          <a:ea typeface="+mn-ea"/>
                          <a:cs typeface="Arial" panose="020B0604020202020204" pitchFamily="34" charset="0"/>
                        </a:rPr>
                        <a:t>Lê Trọng Tài</a:t>
                      </a:r>
                    </a:p>
                  </a:txBody>
                  <a:tcPr marL="68580" marR="685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kern="1200">
                          <a:solidFill>
                            <a:schemeClr val="bg1"/>
                          </a:solidFill>
                          <a:latin typeface="Arial" panose="020B0604020202020204" pitchFamily="34" charset="0"/>
                          <a:ea typeface="+mn-ea"/>
                          <a:cs typeface="Arial" panose="020B0604020202020204" pitchFamily="34" charset="0"/>
                        </a:rPr>
                        <a:t>64.CNTT-2</a:t>
                      </a:r>
                      <a:endParaRPr lang="vi-VN" sz="2400" kern="1200">
                        <a:solidFill>
                          <a:schemeClr val="bg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indent="-180340" algn="ctr" rtl="0" fontAlgn="t">
                        <a:spcBef>
                          <a:spcPts val="0"/>
                        </a:spcBef>
                        <a:spcAft>
                          <a:spcPts val="0"/>
                        </a:spcAft>
                      </a:pPr>
                      <a:r>
                        <a:rPr lang="en-US" sz="2400" kern="1200">
                          <a:solidFill>
                            <a:schemeClr val="bg1"/>
                          </a:solidFill>
                          <a:latin typeface="Arial" panose="020B0604020202020204" pitchFamily="34" charset="0"/>
                          <a:ea typeface="+mn-ea"/>
                          <a:cs typeface="Arial" panose="020B0604020202020204" pitchFamily="34" charset="0"/>
                        </a:rPr>
                        <a:t>64132074</a:t>
                      </a:r>
                    </a:p>
                  </a:txBody>
                  <a:tcPr marL="68580" marR="685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508333460"/>
                  </a:ext>
                </a:extLst>
              </a:tr>
            </a:tbl>
          </a:graphicData>
        </a:graphic>
      </p:graphicFrame>
    </p:spTree>
    <p:extLst>
      <p:ext uri="{BB962C8B-B14F-4D97-AF65-F5344CB8AC3E}">
        <p14:creationId xmlns:p14="http://schemas.microsoft.com/office/powerpoint/2010/main" val="4085083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hlinkClick r:id="" action="ppaction://customshow?id=0&amp;return=true"/>
            <a:extLst>
              <a:ext uri="{FF2B5EF4-FFF2-40B4-BE49-F238E27FC236}">
                <a16:creationId xmlns:a16="http://schemas.microsoft.com/office/drawing/2014/main" id="{EB6299E5-04CD-4E85-9AAA-46CA611002E5}"/>
              </a:ext>
            </a:extLst>
          </p:cNvPr>
          <p:cNvSpPr/>
          <p:nvPr/>
        </p:nvSpPr>
        <p:spPr>
          <a:xfrm>
            <a:off x="1785577" y="95334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a:t>
            </a:r>
            <a:endParaRPr lang="vi-VN" sz="2400" b="1"/>
          </a:p>
        </p:txBody>
      </p:sp>
      <p:sp>
        <p:nvSpPr>
          <p:cNvPr id="2" name="Rectangle: Rounded Corners 1">
            <a:hlinkClick r:id="" action="ppaction://customshow?id=1&amp;return=true"/>
            <a:extLst>
              <a:ext uri="{FF2B5EF4-FFF2-40B4-BE49-F238E27FC236}">
                <a16:creationId xmlns:a16="http://schemas.microsoft.com/office/drawing/2014/main" id="{23CB5B98-8FD0-CB62-DA4B-860E7422D192}"/>
              </a:ext>
            </a:extLst>
          </p:cNvPr>
          <p:cNvSpPr/>
          <p:nvPr/>
        </p:nvSpPr>
        <p:spPr>
          <a:xfrm>
            <a:off x="7689420" y="95334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a:t>
            </a:r>
            <a:endParaRPr lang="vi-VN" sz="2400" b="1"/>
          </a:p>
        </p:txBody>
      </p:sp>
      <p:sp>
        <p:nvSpPr>
          <p:cNvPr id="3" name="Rectangle: Rounded Corners 2">
            <a:hlinkClick r:id="" action="ppaction://customshow?id=2&amp;return=true"/>
            <a:extLst>
              <a:ext uri="{FF2B5EF4-FFF2-40B4-BE49-F238E27FC236}">
                <a16:creationId xmlns:a16="http://schemas.microsoft.com/office/drawing/2014/main" id="{06FEB196-B502-5981-B2BD-4F3FE6F130CC}"/>
              </a:ext>
            </a:extLst>
          </p:cNvPr>
          <p:cNvSpPr/>
          <p:nvPr/>
        </p:nvSpPr>
        <p:spPr>
          <a:xfrm>
            <a:off x="2617305" y="278214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DESIGN</a:t>
            </a:r>
            <a:endParaRPr lang="vi-VN" sz="2400" b="1"/>
          </a:p>
        </p:txBody>
      </p:sp>
      <p:sp>
        <p:nvSpPr>
          <p:cNvPr id="5" name="Rectangle: Rounded Corners 4">
            <a:hlinkClick r:id="" action="ppaction://customshow?id=3&amp;return=true"/>
            <a:extLst>
              <a:ext uri="{FF2B5EF4-FFF2-40B4-BE49-F238E27FC236}">
                <a16:creationId xmlns:a16="http://schemas.microsoft.com/office/drawing/2014/main" id="{43A52A58-C561-9917-062F-9D652BD6A2B4}"/>
              </a:ext>
            </a:extLst>
          </p:cNvPr>
          <p:cNvSpPr/>
          <p:nvPr/>
        </p:nvSpPr>
        <p:spPr>
          <a:xfrm>
            <a:off x="6576239" y="278214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MECHANISM</a:t>
            </a:r>
            <a:endParaRPr lang="vi-VN" sz="2400" b="1"/>
          </a:p>
        </p:txBody>
      </p:sp>
      <p:sp>
        <p:nvSpPr>
          <p:cNvPr id="6" name="Rectangle: Rounded Corners 5">
            <a:hlinkClick r:id="" action="ppaction://customshow?id=4&amp;return=true"/>
            <a:extLst>
              <a:ext uri="{FF2B5EF4-FFF2-40B4-BE49-F238E27FC236}">
                <a16:creationId xmlns:a16="http://schemas.microsoft.com/office/drawing/2014/main" id="{807127C9-296D-C2C1-57A2-3502C6487EDB}"/>
              </a:ext>
            </a:extLst>
          </p:cNvPr>
          <p:cNvSpPr/>
          <p:nvPr/>
        </p:nvSpPr>
        <p:spPr>
          <a:xfrm>
            <a:off x="1419409" y="4591064"/>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HIT &amp; MISS LOGIC</a:t>
            </a:r>
            <a:endParaRPr lang="vi-VN" sz="2400" b="1"/>
          </a:p>
        </p:txBody>
      </p:sp>
      <p:sp>
        <p:nvSpPr>
          <p:cNvPr id="7" name="Rectangle: Rounded Corners 6">
            <a:hlinkClick r:id="" action="ppaction://customshow?id=5"/>
            <a:extLst>
              <a:ext uri="{FF2B5EF4-FFF2-40B4-BE49-F238E27FC236}">
                <a16:creationId xmlns:a16="http://schemas.microsoft.com/office/drawing/2014/main" id="{3ED2E76E-DF2F-2792-4D62-E4B0736E118C}"/>
              </a:ext>
            </a:extLst>
          </p:cNvPr>
          <p:cNvSpPr/>
          <p:nvPr/>
        </p:nvSpPr>
        <p:spPr>
          <a:xfrm>
            <a:off x="7689420" y="4591064"/>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ADVANTAGES &amp; DRAWBACKS</a:t>
            </a:r>
            <a:endParaRPr lang="vi-VN" sz="2400" b="1"/>
          </a:p>
        </p:txBody>
      </p:sp>
    </p:spTree>
    <p:extLst>
      <p:ext uri="{BB962C8B-B14F-4D97-AF65-F5344CB8AC3E}">
        <p14:creationId xmlns:p14="http://schemas.microsoft.com/office/powerpoint/2010/main" val="34846579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B6299E5-04CD-4E85-9AAA-46CA611002E5}"/>
              </a:ext>
            </a:extLst>
          </p:cNvPr>
          <p:cNvSpPr/>
          <p:nvPr/>
        </p:nvSpPr>
        <p:spPr>
          <a:xfrm>
            <a:off x="-70522" y="-42953"/>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a:t>
            </a:r>
            <a:endParaRPr lang="vi-VN" sz="2400" b="1"/>
          </a:p>
        </p:txBody>
      </p:sp>
      <p:sp>
        <p:nvSpPr>
          <p:cNvPr id="2" name="Rectangle: Rounded Corners 1">
            <a:extLst>
              <a:ext uri="{FF2B5EF4-FFF2-40B4-BE49-F238E27FC236}">
                <a16:creationId xmlns:a16="http://schemas.microsoft.com/office/drawing/2014/main" id="{23CB5B98-8FD0-CB62-DA4B-860E7422D192}"/>
              </a:ext>
            </a:extLst>
          </p:cNvPr>
          <p:cNvSpPr/>
          <p:nvPr/>
        </p:nvSpPr>
        <p:spPr>
          <a:xfrm>
            <a:off x="7689420" y="-204165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a:t>
            </a:r>
            <a:endParaRPr lang="vi-VN" sz="2400" b="1"/>
          </a:p>
        </p:txBody>
      </p:sp>
      <p:sp>
        <p:nvSpPr>
          <p:cNvPr id="3" name="Rectangle: Rounded Corners 2">
            <a:extLst>
              <a:ext uri="{FF2B5EF4-FFF2-40B4-BE49-F238E27FC236}">
                <a16:creationId xmlns:a16="http://schemas.microsoft.com/office/drawing/2014/main" id="{06FEB196-B502-5981-B2BD-4F3FE6F130CC}"/>
              </a:ext>
            </a:extLst>
          </p:cNvPr>
          <p:cNvSpPr/>
          <p:nvPr/>
        </p:nvSpPr>
        <p:spPr>
          <a:xfrm>
            <a:off x="-5107347" y="278214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DESIGN</a:t>
            </a:r>
            <a:endParaRPr lang="vi-VN" sz="2400" b="1"/>
          </a:p>
        </p:txBody>
      </p:sp>
      <p:sp>
        <p:nvSpPr>
          <p:cNvPr id="5" name="Rectangle: Rounded Corners 4">
            <a:extLst>
              <a:ext uri="{FF2B5EF4-FFF2-40B4-BE49-F238E27FC236}">
                <a16:creationId xmlns:a16="http://schemas.microsoft.com/office/drawing/2014/main" id="{43A52A58-C561-9917-062F-9D652BD6A2B4}"/>
              </a:ext>
            </a:extLst>
          </p:cNvPr>
          <p:cNvSpPr/>
          <p:nvPr/>
        </p:nvSpPr>
        <p:spPr>
          <a:xfrm>
            <a:off x="12771541" y="278214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MECHANISM</a:t>
            </a:r>
            <a:endParaRPr lang="vi-VN" sz="2400" b="1"/>
          </a:p>
        </p:txBody>
      </p:sp>
      <p:sp>
        <p:nvSpPr>
          <p:cNvPr id="6" name="Rectangle: Rounded Corners 5">
            <a:extLst>
              <a:ext uri="{FF2B5EF4-FFF2-40B4-BE49-F238E27FC236}">
                <a16:creationId xmlns:a16="http://schemas.microsoft.com/office/drawing/2014/main" id="{807127C9-296D-C2C1-57A2-3502C6487EDB}"/>
              </a:ext>
            </a:extLst>
          </p:cNvPr>
          <p:cNvSpPr/>
          <p:nvPr/>
        </p:nvSpPr>
        <p:spPr>
          <a:xfrm>
            <a:off x="-4449133" y="4577416"/>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HIT &amp; MISS LOGIC</a:t>
            </a:r>
            <a:endParaRPr lang="vi-VN" sz="2400" b="1"/>
          </a:p>
        </p:txBody>
      </p:sp>
      <p:sp>
        <p:nvSpPr>
          <p:cNvPr id="7" name="Rectangle: Rounded Corners 6">
            <a:extLst>
              <a:ext uri="{FF2B5EF4-FFF2-40B4-BE49-F238E27FC236}">
                <a16:creationId xmlns:a16="http://schemas.microsoft.com/office/drawing/2014/main" id="{3ED2E76E-DF2F-2792-4D62-E4B0736E118C}"/>
              </a:ext>
            </a:extLst>
          </p:cNvPr>
          <p:cNvSpPr/>
          <p:nvPr/>
        </p:nvSpPr>
        <p:spPr>
          <a:xfrm>
            <a:off x="7689420" y="8767288"/>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ADVANTAGES &amp; DRAWBACKS</a:t>
            </a:r>
            <a:endParaRPr lang="vi-VN" sz="2400" b="1"/>
          </a:p>
        </p:txBody>
      </p:sp>
      <p:sp>
        <p:nvSpPr>
          <p:cNvPr id="8" name="TextBox 7">
            <a:extLst>
              <a:ext uri="{FF2B5EF4-FFF2-40B4-BE49-F238E27FC236}">
                <a16:creationId xmlns:a16="http://schemas.microsoft.com/office/drawing/2014/main" id="{0DE231E0-A81C-194A-1F16-FD68606956C3}"/>
              </a:ext>
            </a:extLst>
          </p:cNvPr>
          <p:cNvSpPr txBox="1"/>
          <p:nvPr/>
        </p:nvSpPr>
        <p:spPr>
          <a:xfrm>
            <a:off x="8157658" y="699143"/>
            <a:ext cx="2998458" cy="584775"/>
          </a:xfrm>
          <a:prstGeom prst="rect">
            <a:avLst/>
          </a:prstGeom>
          <a:noFill/>
        </p:spPr>
        <p:txBody>
          <a:bodyPr wrap="square">
            <a:spAutoFit/>
          </a:bodyPr>
          <a:lstStyle/>
          <a:p>
            <a:pPr algn="ctr"/>
            <a:r>
              <a:rPr lang="en-US" sz="3200" b="1" u="sng">
                <a:solidFill>
                  <a:schemeClr val="lt1"/>
                </a:solidFill>
              </a:rPr>
              <a:t>Trace là gì?</a:t>
            </a:r>
          </a:p>
        </p:txBody>
      </p:sp>
      <p:sp>
        <p:nvSpPr>
          <p:cNvPr id="9" name="Rectangle: Rounded Corners 8">
            <a:extLst>
              <a:ext uri="{FF2B5EF4-FFF2-40B4-BE49-F238E27FC236}">
                <a16:creationId xmlns:a16="http://schemas.microsoft.com/office/drawing/2014/main" id="{6A156B04-6D00-DE2E-A409-732C3A2B97E5}"/>
              </a:ext>
            </a:extLst>
          </p:cNvPr>
          <p:cNvSpPr/>
          <p:nvPr/>
        </p:nvSpPr>
        <p:spPr>
          <a:xfrm>
            <a:off x="2026636" y="1809878"/>
            <a:ext cx="8138728" cy="323824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400" b="1"/>
              <a:t>Trace, còn được gọi là chuỗi lệnh động, là một mục trong bộ nhớ đệm theo dõi. Nó có thể được đặc trưng bởi số lệnh tối đa và khối cơ bản tối đa. Dấu vết có thể bắt đầu tại bất kỳ lệnh động nào. Nhiều dấu vết có thể có cùng một hướng dẫn bắt đầu, tức là, cùng một bộ đếm chương trình khởi động (PC) và các hướng dẫn từ các khối cơ bản khác nhau tùy theo kết quả nhánh.</a:t>
            </a:r>
          </a:p>
        </p:txBody>
      </p:sp>
      <p:sp>
        <p:nvSpPr>
          <p:cNvPr id="10" name="Rectangle: Rounded Corners 9">
            <a:extLst>
              <a:ext uri="{FF2B5EF4-FFF2-40B4-BE49-F238E27FC236}">
                <a16:creationId xmlns:a16="http://schemas.microsoft.com/office/drawing/2014/main" id="{A741F435-B9EC-09D7-5452-50C0784BFD03}"/>
              </a:ext>
            </a:extLst>
          </p:cNvPr>
          <p:cNvSpPr/>
          <p:nvPr/>
        </p:nvSpPr>
        <p:spPr>
          <a:xfrm>
            <a:off x="1694222" y="7402373"/>
            <a:ext cx="7268011" cy="71890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Thông tin chi tiết về các hoạt động của chương trình</a:t>
            </a:r>
          </a:p>
        </p:txBody>
      </p:sp>
      <p:sp>
        <p:nvSpPr>
          <p:cNvPr id="11" name="Rectangle: Rounded Corners 10">
            <a:extLst>
              <a:ext uri="{FF2B5EF4-FFF2-40B4-BE49-F238E27FC236}">
                <a16:creationId xmlns:a16="http://schemas.microsoft.com/office/drawing/2014/main" id="{CA5579B4-C755-77E6-622B-AB5D421C6169}"/>
              </a:ext>
            </a:extLst>
          </p:cNvPr>
          <p:cNvSpPr/>
          <p:nvPr/>
        </p:nvSpPr>
        <p:spPr>
          <a:xfrm>
            <a:off x="1694221" y="8407218"/>
            <a:ext cx="7268011" cy="71890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Khả năng ghi lại các hoạt động của chương trình trong thời gian thực</a:t>
            </a:r>
          </a:p>
        </p:txBody>
      </p:sp>
      <p:sp>
        <p:nvSpPr>
          <p:cNvPr id="12" name="Rectangle: Rounded Corners 11">
            <a:extLst>
              <a:ext uri="{FF2B5EF4-FFF2-40B4-BE49-F238E27FC236}">
                <a16:creationId xmlns:a16="http://schemas.microsoft.com/office/drawing/2014/main" id="{6BCACD02-D893-970C-8438-A053BDAB5BC1}"/>
              </a:ext>
            </a:extLst>
          </p:cNvPr>
          <p:cNvSpPr/>
          <p:nvPr/>
        </p:nvSpPr>
        <p:spPr>
          <a:xfrm>
            <a:off x="1694222" y="9412064"/>
            <a:ext cx="7268011" cy="71890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Khả năng phân tích và sửa lỗi chương trình một cách hiệu quả</a:t>
            </a:r>
          </a:p>
        </p:txBody>
      </p:sp>
      <p:sp>
        <p:nvSpPr>
          <p:cNvPr id="13" name="Rectangle: Rounded Corners 12">
            <a:extLst>
              <a:ext uri="{FF2B5EF4-FFF2-40B4-BE49-F238E27FC236}">
                <a16:creationId xmlns:a16="http://schemas.microsoft.com/office/drawing/2014/main" id="{5AE0D967-CEFF-E1E2-FF99-7C294938C000}"/>
              </a:ext>
            </a:extLst>
          </p:cNvPr>
          <p:cNvSpPr/>
          <p:nvPr/>
        </p:nvSpPr>
        <p:spPr>
          <a:xfrm>
            <a:off x="1694220" y="10416909"/>
            <a:ext cx="7268011" cy="71890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Sử dụng được với nhiều ngôn ngữ lập trình khác nhau</a:t>
            </a:r>
          </a:p>
        </p:txBody>
      </p:sp>
    </p:spTree>
    <p:extLst>
      <p:ext uri="{BB962C8B-B14F-4D97-AF65-F5344CB8AC3E}">
        <p14:creationId xmlns:p14="http://schemas.microsoft.com/office/powerpoint/2010/main" val="36880454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B6299E5-04CD-4E85-9AAA-46CA611002E5}"/>
              </a:ext>
            </a:extLst>
          </p:cNvPr>
          <p:cNvSpPr/>
          <p:nvPr/>
        </p:nvSpPr>
        <p:spPr>
          <a:xfrm>
            <a:off x="-1304236" y="-2016896"/>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a:t>
            </a:r>
            <a:endParaRPr lang="vi-VN" sz="2400" b="1"/>
          </a:p>
        </p:txBody>
      </p:sp>
      <p:sp>
        <p:nvSpPr>
          <p:cNvPr id="8" name="TextBox 7">
            <a:extLst>
              <a:ext uri="{FF2B5EF4-FFF2-40B4-BE49-F238E27FC236}">
                <a16:creationId xmlns:a16="http://schemas.microsoft.com/office/drawing/2014/main" id="{0DE231E0-A81C-194A-1F16-FD68606956C3}"/>
              </a:ext>
            </a:extLst>
          </p:cNvPr>
          <p:cNvSpPr txBox="1"/>
          <p:nvPr/>
        </p:nvSpPr>
        <p:spPr>
          <a:xfrm>
            <a:off x="8157658" y="-2581087"/>
            <a:ext cx="2998458" cy="584775"/>
          </a:xfrm>
          <a:prstGeom prst="rect">
            <a:avLst/>
          </a:prstGeom>
          <a:noFill/>
        </p:spPr>
        <p:txBody>
          <a:bodyPr wrap="square">
            <a:spAutoFit/>
          </a:bodyPr>
          <a:lstStyle/>
          <a:p>
            <a:pPr algn="ctr"/>
            <a:r>
              <a:rPr lang="en-US" sz="3200" b="1" u="sng">
                <a:solidFill>
                  <a:schemeClr val="lt1"/>
                </a:solidFill>
              </a:rPr>
              <a:t>Trace là gì?</a:t>
            </a:r>
          </a:p>
        </p:txBody>
      </p:sp>
      <p:sp>
        <p:nvSpPr>
          <p:cNvPr id="9" name="Rectangle: Rounded Corners 8">
            <a:extLst>
              <a:ext uri="{FF2B5EF4-FFF2-40B4-BE49-F238E27FC236}">
                <a16:creationId xmlns:a16="http://schemas.microsoft.com/office/drawing/2014/main" id="{6A156B04-6D00-DE2E-A409-732C3A2B97E5}"/>
              </a:ext>
            </a:extLst>
          </p:cNvPr>
          <p:cNvSpPr/>
          <p:nvPr/>
        </p:nvSpPr>
        <p:spPr>
          <a:xfrm>
            <a:off x="2026636" y="-4082926"/>
            <a:ext cx="8138728" cy="323824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400" b="1"/>
              <a:t>Trace, còn được gọi là chuỗi lệnh động, là một mục trong bộ nhớ đệm theo dõi. Nó có thể được đặc trưng bởi số lệnh tối đa và khối cơ bản tối đa. Dấu vết có thể bắt đầu tại bất kỳ lệnh động nào. Nhiều dấu vết có thể có cùng một hướng dẫn bắt đầu, tức là, cùng một bộ đếm chương trình khởi động (PC) và các hướng dẫn từ các khối cơ bản khác nhau tùy theo kết quả nhánh.</a:t>
            </a:r>
          </a:p>
        </p:txBody>
      </p:sp>
      <p:sp>
        <p:nvSpPr>
          <p:cNvPr id="10" name="TextBox 9">
            <a:extLst>
              <a:ext uri="{FF2B5EF4-FFF2-40B4-BE49-F238E27FC236}">
                <a16:creationId xmlns:a16="http://schemas.microsoft.com/office/drawing/2014/main" id="{DE8EC6AB-E0C6-714B-846B-0ED4084DB916}"/>
              </a:ext>
            </a:extLst>
          </p:cNvPr>
          <p:cNvSpPr txBox="1"/>
          <p:nvPr/>
        </p:nvSpPr>
        <p:spPr>
          <a:xfrm>
            <a:off x="5120641" y="699143"/>
            <a:ext cx="6035476"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Các đặc tính chính của Trace</a:t>
            </a:r>
          </a:p>
        </p:txBody>
      </p:sp>
      <p:sp>
        <p:nvSpPr>
          <p:cNvPr id="11" name="Rectangle: Rounded Corners 10">
            <a:extLst>
              <a:ext uri="{FF2B5EF4-FFF2-40B4-BE49-F238E27FC236}">
                <a16:creationId xmlns:a16="http://schemas.microsoft.com/office/drawing/2014/main" id="{17C06BB4-459C-D21C-6C18-DBBBBFA2BDA4}"/>
              </a:ext>
            </a:extLst>
          </p:cNvPr>
          <p:cNvSpPr/>
          <p:nvPr/>
        </p:nvSpPr>
        <p:spPr>
          <a:xfrm>
            <a:off x="1694222" y="1884977"/>
            <a:ext cx="7268011" cy="71890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Thông tin chi tiết về các hoạt động của chương trình</a:t>
            </a:r>
          </a:p>
        </p:txBody>
      </p:sp>
      <p:sp>
        <p:nvSpPr>
          <p:cNvPr id="12" name="Rectangle: Rounded Corners 11">
            <a:extLst>
              <a:ext uri="{FF2B5EF4-FFF2-40B4-BE49-F238E27FC236}">
                <a16:creationId xmlns:a16="http://schemas.microsoft.com/office/drawing/2014/main" id="{D8AF8C7B-506C-CE02-BCFF-2FB583500356}"/>
              </a:ext>
            </a:extLst>
          </p:cNvPr>
          <p:cNvSpPr/>
          <p:nvPr/>
        </p:nvSpPr>
        <p:spPr>
          <a:xfrm>
            <a:off x="1694221" y="2889822"/>
            <a:ext cx="7268011" cy="71890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Khả năng ghi lại các hoạt động của chương trình trong thời gian thực</a:t>
            </a:r>
          </a:p>
        </p:txBody>
      </p:sp>
      <p:sp>
        <p:nvSpPr>
          <p:cNvPr id="13" name="Rectangle: Rounded Corners 12">
            <a:extLst>
              <a:ext uri="{FF2B5EF4-FFF2-40B4-BE49-F238E27FC236}">
                <a16:creationId xmlns:a16="http://schemas.microsoft.com/office/drawing/2014/main" id="{45FD9798-FF06-F872-88EA-FA29FD5F2E3C}"/>
              </a:ext>
            </a:extLst>
          </p:cNvPr>
          <p:cNvSpPr/>
          <p:nvPr/>
        </p:nvSpPr>
        <p:spPr>
          <a:xfrm>
            <a:off x="1694222" y="3894668"/>
            <a:ext cx="7268011" cy="71890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Khả năng phân tích và sửa lỗi chương trình một cách hiệu quả</a:t>
            </a:r>
          </a:p>
        </p:txBody>
      </p:sp>
      <p:sp>
        <p:nvSpPr>
          <p:cNvPr id="14" name="Rectangle: Rounded Corners 13">
            <a:extLst>
              <a:ext uri="{FF2B5EF4-FFF2-40B4-BE49-F238E27FC236}">
                <a16:creationId xmlns:a16="http://schemas.microsoft.com/office/drawing/2014/main" id="{22275F50-75B1-4015-49E6-496410D76255}"/>
              </a:ext>
            </a:extLst>
          </p:cNvPr>
          <p:cNvSpPr/>
          <p:nvPr/>
        </p:nvSpPr>
        <p:spPr>
          <a:xfrm>
            <a:off x="1694220" y="4899513"/>
            <a:ext cx="7268011" cy="71890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Sử dụng được với nhiều ngôn ngữ lập trình khác nhau</a:t>
            </a:r>
          </a:p>
        </p:txBody>
      </p:sp>
      <p:sp>
        <p:nvSpPr>
          <p:cNvPr id="15" name="Rectangle: Rounded Corners 14">
            <a:extLst>
              <a:ext uri="{FF2B5EF4-FFF2-40B4-BE49-F238E27FC236}">
                <a16:creationId xmlns:a16="http://schemas.microsoft.com/office/drawing/2014/main" id="{B68D77E0-7F9F-E468-2036-BADCA78CDDC4}"/>
              </a:ext>
            </a:extLst>
          </p:cNvPr>
          <p:cNvSpPr/>
          <p:nvPr/>
        </p:nvSpPr>
        <p:spPr>
          <a:xfrm>
            <a:off x="1694220" y="7392667"/>
            <a:ext cx="2998458" cy="859488"/>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Trace hàm</a:t>
            </a:r>
            <a:endParaRPr lang="vi-VN" sz="2000" b="1">
              <a:latin typeface="Arial" panose="020B0604020202020204" pitchFamily="34" charset="0"/>
              <a:cs typeface="Arial" panose="020B0604020202020204" pitchFamily="34" charset="0"/>
            </a:endParaRPr>
          </a:p>
        </p:txBody>
      </p:sp>
      <p:sp>
        <p:nvSpPr>
          <p:cNvPr id="16" name="Rectangle: Rounded Corners 15">
            <a:extLst>
              <a:ext uri="{FF2B5EF4-FFF2-40B4-BE49-F238E27FC236}">
                <a16:creationId xmlns:a16="http://schemas.microsoft.com/office/drawing/2014/main" id="{04BEF188-C2D0-C7EB-34D5-D987520B4652}"/>
              </a:ext>
            </a:extLst>
          </p:cNvPr>
          <p:cNvSpPr/>
          <p:nvPr/>
        </p:nvSpPr>
        <p:spPr>
          <a:xfrm>
            <a:off x="5740025" y="7392667"/>
            <a:ext cx="2998458" cy="859488"/>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Trace câu lệnh</a:t>
            </a:r>
            <a:endParaRPr lang="vi-VN" sz="2000" b="1">
              <a:latin typeface="Arial" panose="020B0604020202020204" pitchFamily="34" charset="0"/>
              <a:cs typeface="Arial" panose="020B0604020202020204" pitchFamily="34" charset="0"/>
            </a:endParaRPr>
          </a:p>
        </p:txBody>
      </p:sp>
      <p:sp>
        <p:nvSpPr>
          <p:cNvPr id="17" name="Rectangle: Rounded Corners 16">
            <a:extLst>
              <a:ext uri="{FF2B5EF4-FFF2-40B4-BE49-F238E27FC236}">
                <a16:creationId xmlns:a16="http://schemas.microsoft.com/office/drawing/2014/main" id="{557B80BB-D2CC-E76A-1320-04BAEBDAD309}"/>
              </a:ext>
            </a:extLst>
          </p:cNvPr>
          <p:cNvSpPr/>
          <p:nvPr/>
        </p:nvSpPr>
        <p:spPr>
          <a:xfrm>
            <a:off x="7689420" y="8963393"/>
            <a:ext cx="2998458" cy="859488"/>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Trace biến</a:t>
            </a:r>
            <a:endParaRPr lang="vi-VN" sz="2000" b="1">
              <a:latin typeface="Arial" panose="020B0604020202020204" pitchFamily="34" charset="0"/>
              <a:cs typeface="Arial" panose="020B0604020202020204" pitchFamily="34" charset="0"/>
            </a:endParaRPr>
          </a:p>
        </p:txBody>
      </p:sp>
      <p:sp>
        <p:nvSpPr>
          <p:cNvPr id="18" name="Rectangle: Rounded Corners 17">
            <a:extLst>
              <a:ext uri="{FF2B5EF4-FFF2-40B4-BE49-F238E27FC236}">
                <a16:creationId xmlns:a16="http://schemas.microsoft.com/office/drawing/2014/main" id="{FDA02BB4-839F-FB9D-9425-491C7BF04A2B}"/>
              </a:ext>
            </a:extLst>
          </p:cNvPr>
          <p:cNvSpPr/>
          <p:nvPr/>
        </p:nvSpPr>
        <p:spPr>
          <a:xfrm>
            <a:off x="3191733" y="8963393"/>
            <a:ext cx="2998458" cy="859488"/>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Trace mạng</a:t>
            </a:r>
          </a:p>
        </p:txBody>
      </p:sp>
      <p:sp>
        <p:nvSpPr>
          <p:cNvPr id="19" name="Rectangle: Rounded Corners 18">
            <a:extLst>
              <a:ext uri="{FF2B5EF4-FFF2-40B4-BE49-F238E27FC236}">
                <a16:creationId xmlns:a16="http://schemas.microsoft.com/office/drawing/2014/main" id="{D83440A3-3E8A-BBC6-B4CD-8BC9637B3BDC}"/>
              </a:ext>
            </a:extLst>
          </p:cNvPr>
          <p:cNvSpPr/>
          <p:nvPr/>
        </p:nvSpPr>
        <p:spPr>
          <a:xfrm>
            <a:off x="5740025" y="10534119"/>
            <a:ext cx="2998458" cy="859488"/>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Trace thời gian</a:t>
            </a:r>
          </a:p>
        </p:txBody>
      </p:sp>
    </p:spTree>
    <p:extLst>
      <p:ext uri="{BB962C8B-B14F-4D97-AF65-F5344CB8AC3E}">
        <p14:creationId xmlns:p14="http://schemas.microsoft.com/office/powerpoint/2010/main" val="35268999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DE8EC6AB-E0C6-714B-846B-0ED4084DB916}"/>
              </a:ext>
            </a:extLst>
          </p:cNvPr>
          <p:cNvSpPr txBox="1"/>
          <p:nvPr/>
        </p:nvSpPr>
        <p:spPr>
          <a:xfrm>
            <a:off x="5442857" y="699143"/>
            <a:ext cx="5713259"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Các loại Trace phổ biến</a:t>
            </a:r>
          </a:p>
        </p:txBody>
      </p:sp>
      <p:sp>
        <p:nvSpPr>
          <p:cNvPr id="11" name="Rectangle: Rounded Corners 10">
            <a:extLst>
              <a:ext uri="{FF2B5EF4-FFF2-40B4-BE49-F238E27FC236}">
                <a16:creationId xmlns:a16="http://schemas.microsoft.com/office/drawing/2014/main" id="{17C06BB4-459C-D21C-6C18-DBBBBFA2BDA4}"/>
              </a:ext>
            </a:extLst>
          </p:cNvPr>
          <p:cNvSpPr/>
          <p:nvPr/>
        </p:nvSpPr>
        <p:spPr>
          <a:xfrm>
            <a:off x="1694222" y="-5233278"/>
            <a:ext cx="7268011" cy="71890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Thông tin chi tiết về các hoạt động của chương trình</a:t>
            </a:r>
          </a:p>
        </p:txBody>
      </p:sp>
      <p:sp>
        <p:nvSpPr>
          <p:cNvPr id="12" name="Rectangle: Rounded Corners 11">
            <a:extLst>
              <a:ext uri="{FF2B5EF4-FFF2-40B4-BE49-F238E27FC236}">
                <a16:creationId xmlns:a16="http://schemas.microsoft.com/office/drawing/2014/main" id="{D8AF8C7B-506C-CE02-BCFF-2FB583500356}"/>
              </a:ext>
            </a:extLst>
          </p:cNvPr>
          <p:cNvSpPr/>
          <p:nvPr/>
        </p:nvSpPr>
        <p:spPr>
          <a:xfrm>
            <a:off x="1694221" y="-4228433"/>
            <a:ext cx="7268011" cy="71890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Khả năng ghi lại các hoạt động của chương trình trong thời gian thực</a:t>
            </a:r>
          </a:p>
        </p:txBody>
      </p:sp>
      <p:sp>
        <p:nvSpPr>
          <p:cNvPr id="13" name="Rectangle: Rounded Corners 12">
            <a:extLst>
              <a:ext uri="{FF2B5EF4-FFF2-40B4-BE49-F238E27FC236}">
                <a16:creationId xmlns:a16="http://schemas.microsoft.com/office/drawing/2014/main" id="{45FD9798-FF06-F872-88EA-FA29FD5F2E3C}"/>
              </a:ext>
            </a:extLst>
          </p:cNvPr>
          <p:cNvSpPr/>
          <p:nvPr/>
        </p:nvSpPr>
        <p:spPr>
          <a:xfrm>
            <a:off x="1694222" y="-3223587"/>
            <a:ext cx="7268011" cy="71890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Khả năng phân tích và sửa lỗi chương trình một cách hiệu quả</a:t>
            </a:r>
          </a:p>
        </p:txBody>
      </p:sp>
      <p:sp>
        <p:nvSpPr>
          <p:cNvPr id="14" name="Rectangle: Rounded Corners 13">
            <a:extLst>
              <a:ext uri="{FF2B5EF4-FFF2-40B4-BE49-F238E27FC236}">
                <a16:creationId xmlns:a16="http://schemas.microsoft.com/office/drawing/2014/main" id="{22275F50-75B1-4015-49E6-496410D76255}"/>
              </a:ext>
            </a:extLst>
          </p:cNvPr>
          <p:cNvSpPr/>
          <p:nvPr/>
        </p:nvSpPr>
        <p:spPr>
          <a:xfrm>
            <a:off x="1694220" y="-2218742"/>
            <a:ext cx="7268011" cy="71890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Sử dụng được với nhiều ngôn ngữ lập trình khác nhau</a:t>
            </a:r>
          </a:p>
        </p:txBody>
      </p:sp>
      <p:sp>
        <p:nvSpPr>
          <p:cNvPr id="2" name="TextBox 1">
            <a:extLst>
              <a:ext uri="{FF2B5EF4-FFF2-40B4-BE49-F238E27FC236}">
                <a16:creationId xmlns:a16="http://schemas.microsoft.com/office/drawing/2014/main" id="{E75DEF24-D193-28FE-D522-C7C72004FB4F}"/>
              </a:ext>
            </a:extLst>
          </p:cNvPr>
          <p:cNvSpPr txBox="1"/>
          <p:nvPr/>
        </p:nvSpPr>
        <p:spPr>
          <a:xfrm>
            <a:off x="5219115" y="-3031141"/>
            <a:ext cx="6089402"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Các đặc tính chính của Trace</a:t>
            </a:r>
          </a:p>
        </p:txBody>
      </p:sp>
      <p:sp>
        <p:nvSpPr>
          <p:cNvPr id="3" name="Rectangle: Rounded Corners 2">
            <a:extLst>
              <a:ext uri="{FF2B5EF4-FFF2-40B4-BE49-F238E27FC236}">
                <a16:creationId xmlns:a16="http://schemas.microsoft.com/office/drawing/2014/main" id="{7D6A0221-164F-E273-002F-A293CFAAEC5B}"/>
              </a:ext>
            </a:extLst>
          </p:cNvPr>
          <p:cNvSpPr/>
          <p:nvPr/>
        </p:nvSpPr>
        <p:spPr>
          <a:xfrm>
            <a:off x="1694220" y="1565305"/>
            <a:ext cx="2998458" cy="859488"/>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Trace hàm</a:t>
            </a:r>
            <a:endParaRPr lang="vi-VN" sz="2000" b="1">
              <a:latin typeface="Arial" panose="020B0604020202020204" pitchFamily="34" charset="0"/>
              <a:cs typeface="Arial" panose="020B0604020202020204" pitchFamily="34" charset="0"/>
            </a:endParaRPr>
          </a:p>
        </p:txBody>
      </p:sp>
      <p:sp>
        <p:nvSpPr>
          <p:cNvPr id="5" name="Rectangle: Rounded Corners 4">
            <a:extLst>
              <a:ext uri="{FF2B5EF4-FFF2-40B4-BE49-F238E27FC236}">
                <a16:creationId xmlns:a16="http://schemas.microsoft.com/office/drawing/2014/main" id="{75B1E861-E77A-C8E9-B496-4310D914EC1B}"/>
              </a:ext>
            </a:extLst>
          </p:cNvPr>
          <p:cNvSpPr/>
          <p:nvPr/>
        </p:nvSpPr>
        <p:spPr>
          <a:xfrm>
            <a:off x="5740025" y="1565305"/>
            <a:ext cx="2998458" cy="859488"/>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Trace câu lệnh</a:t>
            </a:r>
            <a:endParaRPr lang="vi-VN" sz="2000" b="1">
              <a:latin typeface="Arial" panose="020B0604020202020204" pitchFamily="34" charset="0"/>
              <a:cs typeface="Arial" panose="020B0604020202020204" pitchFamily="34" charset="0"/>
            </a:endParaRPr>
          </a:p>
        </p:txBody>
      </p:sp>
      <p:sp>
        <p:nvSpPr>
          <p:cNvPr id="6" name="Rectangle: Rounded Corners 5">
            <a:extLst>
              <a:ext uri="{FF2B5EF4-FFF2-40B4-BE49-F238E27FC236}">
                <a16:creationId xmlns:a16="http://schemas.microsoft.com/office/drawing/2014/main" id="{C5E218C0-0883-2D48-7A6C-1B8E84C09DAF}"/>
              </a:ext>
            </a:extLst>
          </p:cNvPr>
          <p:cNvSpPr/>
          <p:nvPr/>
        </p:nvSpPr>
        <p:spPr>
          <a:xfrm>
            <a:off x="7689420" y="3136031"/>
            <a:ext cx="2998458" cy="859488"/>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Trace biến</a:t>
            </a:r>
            <a:endParaRPr lang="vi-VN" sz="2000" b="1">
              <a:latin typeface="Arial" panose="020B0604020202020204" pitchFamily="34" charset="0"/>
              <a:cs typeface="Arial" panose="020B0604020202020204" pitchFamily="34" charset="0"/>
            </a:endParaRPr>
          </a:p>
        </p:txBody>
      </p:sp>
      <p:sp>
        <p:nvSpPr>
          <p:cNvPr id="15" name="Rectangle: Rounded Corners 14">
            <a:extLst>
              <a:ext uri="{FF2B5EF4-FFF2-40B4-BE49-F238E27FC236}">
                <a16:creationId xmlns:a16="http://schemas.microsoft.com/office/drawing/2014/main" id="{9F54F353-4870-F95D-2BBE-F3BDAD348148}"/>
              </a:ext>
            </a:extLst>
          </p:cNvPr>
          <p:cNvSpPr/>
          <p:nvPr/>
        </p:nvSpPr>
        <p:spPr>
          <a:xfrm>
            <a:off x="3191733" y="3136031"/>
            <a:ext cx="2998458" cy="859488"/>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Trace mạng</a:t>
            </a:r>
          </a:p>
        </p:txBody>
      </p:sp>
      <p:sp>
        <p:nvSpPr>
          <p:cNvPr id="16" name="Rectangle: Rounded Corners 15">
            <a:extLst>
              <a:ext uri="{FF2B5EF4-FFF2-40B4-BE49-F238E27FC236}">
                <a16:creationId xmlns:a16="http://schemas.microsoft.com/office/drawing/2014/main" id="{5C93EDC6-8611-AFD4-4ACE-82ACF7F4C95C}"/>
              </a:ext>
            </a:extLst>
          </p:cNvPr>
          <p:cNvSpPr/>
          <p:nvPr/>
        </p:nvSpPr>
        <p:spPr>
          <a:xfrm>
            <a:off x="5740025" y="4706757"/>
            <a:ext cx="2998458" cy="859488"/>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Trace thời gian</a:t>
            </a:r>
          </a:p>
        </p:txBody>
      </p:sp>
      <p:sp>
        <p:nvSpPr>
          <p:cNvPr id="17" name="TextBox 16">
            <a:extLst>
              <a:ext uri="{FF2B5EF4-FFF2-40B4-BE49-F238E27FC236}">
                <a16:creationId xmlns:a16="http://schemas.microsoft.com/office/drawing/2014/main" id="{7A1FAE8E-AF79-08D9-B56B-1BFBE8CC31D3}"/>
              </a:ext>
            </a:extLst>
          </p:cNvPr>
          <p:cNvSpPr txBox="1"/>
          <p:nvPr/>
        </p:nvSpPr>
        <p:spPr>
          <a:xfrm>
            <a:off x="2107612" y="7182551"/>
            <a:ext cx="5010640" cy="2523768"/>
          </a:xfrm>
          <a:prstGeom prst="rect">
            <a:avLst/>
          </a:prstGeom>
          <a:noFill/>
        </p:spPr>
        <p:txBody>
          <a:bodyPr wrap="square">
            <a:spAutoFit/>
          </a:bodyPr>
          <a:lstStyle/>
          <a:p>
            <a:pPr marL="342900" indent="-342900" rtl="0">
              <a:spcBef>
                <a:spcPts val="0"/>
              </a:spcBef>
              <a:spcAft>
                <a:spcPts val="1200"/>
              </a:spcAft>
              <a:buFont typeface="Arial" panose="020B0604020202020204" pitchFamily="34" charset="0"/>
              <a:buChar char="•"/>
            </a:pPr>
            <a:r>
              <a:rPr lang="vi-VN" sz="3200" b="1">
                <a:solidFill>
                  <a:schemeClr val="lt1"/>
                </a:solidFill>
              </a:rPr>
              <a:t>PyCharm</a:t>
            </a:r>
            <a:endParaRPr lang="en-US" sz="3200" b="1">
              <a:solidFill>
                <a:schemeClr val="lt1"/>
              </a:solidFill>
            </a:endParaRPr>
          </a:p>
          <a:p>
            <a:pPr marL="342900" indent="-342900" rtl="0">
              <a:spcBef>
                <a:spcPts val="0"/>
              </a:spcBef>
              <a:spcAft>
                <a:spcPts val="1200"/>
              </a:spcAft>
              <a:buFont typeface="Arial" panose="020B0604020202020204" pitchFamily="34" charset="0"/>
              <a:buChar char="•"/>
            </a:pPr>
            <a:r>
              <a:rPr lang="vi-VN" sz="3200" b="1">
                <a:solidFill>
                  <a:schemeClr val="lt1"/>
                </a:solidFill>
              </a:rPr>
              <a:t>Visual Studio Code</a:t>
            </a:r>
          </a:p>
          <a:p>
            <a:pPr marL="342900" indent="-342900" rtl="0">
              <a:spcBef>
                <a:spcPts val="0"/>
              </a:spcBef>
              <a:spcAft>
                <a:spcPts val="1200"/>
              </a:spcAft>
              <a:buFont typeface="Arial" panose="020B0604020202020204" pitchFamily="34" charset="0"/>
              <a:buChar char="•"/>
            </a:pPr>
            <a:r>
              <a:rPr lang="en-US" sz="3200" b="1">
                <a:solidFill>
                  <a:schemeClr val="lt1"/>
                </a:solidFill>
              </a:rPr>
              <a:t>Pdb</a:t>
            </a:r>
          </a:p>
          <a:p>
            <a:pPr marL="342900" indent="-342900" rtl="0">
              <a:spcBef>
                <a:spcPts val="0"/>
              </a:spcBef>
              <a:spcAft>
                <a:spcPts val="1200"/>
              </a:spcAft>
              <a:buFont typeface="Arial" panose="020B0604020202020204" pitchFamily="34" charset="0"/>
              <a:buChar char="•"/>
            </a:pPr>
            <a:r>
              <a:rPr lang="en-US" sz="3200" b="1">
                <a:solidFill>
                  <a:schemeClr val="lt1"/>
                </a:solidFill>
              </a:rPr>
              <a:t>PySnooper</a:t>
            </a:r>
          </a:p>
        </p:txBody>
      </p:sp>
    </p:spTree>
    <p:extLst>
      <p:ext uri="{BB962C8B-B14F-4D97-AF65-F5344CB8AC3E}">
        <p14:creationId xmlns:p14="http://schemas.microsoft.com/office/powerpoint/2010/main" val="23043991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DE8EC6AB-E0C6-714B-846B-0ED4084DB916}"/>
              </a:ext>
            </a:extLst>
          </p:cNvPr>
          <p:cNvSpPr txBox="1"/>
          <p:nvPr/>
        </p:nvSpPr>
        <p:spPr>
          <a:xfrm>
            <a:off x="2883877" y="699143"/>
            <a:ext cx="8272239"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Các công cụ và phần mềm hỗ trợ Trace:</a:t>
            </a:r>
          </a:p>
        </p:txBody>
      </p:sp>
      <p:sp>
        <p:nvSpPr>
          <p:cNvPr id="11" name="Rectangle: Rounded Corners 10">
            <a:extLst>
              <a:ext uri="{FF2B5EF4-FFF2-40B4-BE49-F238E27FC236}">
                <a16:creationId xmlns:a16="http://schemas.microsoft.com/office/drawing/2014/main" id="{17C06BB4-459C-D21C-6C18-DBBBBFA2BDA4}"/>
              </a:ext>
            </a:extLst>
          </p:cNvPr>
          <p:cNvSpPr/>
          <p:nvPr/>
        </p:nvSpPr>
        <p:spPr>
          <a:xfrm>
            <a:off x="1694222" y="-5233278"/>
            <a:ext cx="7268011" cy="71890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Thông tin chi tiết về các hoạt động của chương trình</a:t>
            </a:r>
          </a:p>
        </p:txBody>
      </p:sp>
      <p:sp>
        <p:nvSpPr>
          <p:cNvPr id="12" name="Rectangle: Rounded Corners 11">
            <a:extLst>
              <a:ext uri="{FF2B5EF4-FFF2-40B4-BE49-F238E27FC236}">
                <a16:creationId xmlns:a16="http://schemas.microsoft.com/office/drawing/2014/main" id="{D8AF8C7B-506C-CE02-BCFF-2FB583500356}"/>
              </a:ext>
            </a:extLst>
          </p:cNvPr>
          <p:cNvSpPr/>
          <p:nvPr/>
        </p:nvSpPr>
        <p:spPr>
          <a:xfrm>
            <a:off x="1694221" y="-4228433"/>
            <a:ext cx="7268011" cy="71890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Khả năng ghi lại các hoạt động của chương trình trong thời gian thực</a:t>
            </a:r>
          </a:p>
        </p:txBody>
      </p:sp>
      <p:sp>
        <p:nvSpPr>
          <p:cNvPr id="3" name="Rectangle: Rounded Corners 2">
            <a:extLst>
              <a:ext uri="{FF2B5EF4-FFF2-40B4-BE49-F238E27FC236}">
                <a16:creationId xmlns:a16="http://schemas.microsoft.com/office/drawing/2014/main" id="{7D6A0221-164F-E273-002F-A293CFAAEC5B}"/>
              </a:ext>
            </a:extLst>
          </p:cNvPr>
          <p:cNvSpPr/>
          <p:nvPr/>
        </p:nvSpPr>
        <p:spPr>
          <a:xfrm>
            <a:off x="1694220" y="-4990242"/>
            <a:ext cx="2998458" cy="859488"/>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Trace hàm</a:t>
            </a:r>
            <a:endParaRPr lang="vi-VN" sz="2000" b="1">
              <a:latin typeface="Arial" panose="020B0604020202020204" pitchFamily="34" charset="0"/>
              <a:cs typeface="Arial" panose="020B0604020202020204" pitchFamily="34" charset="0"/>
            </a:endParaRPr>
          </a:p>
        </p:txBody>
      </p:sp>
      <p:sp>
        <p:nvSpPr>
          <p:cNvPr id="5" name="Rectangle: Rounded Corners 4">
            <a:extLst>
              <a:ext uri="{FF2B5EF4-FFF2-40B4-BE49-F238E27FC236}">
                <a16:creationId xmlns:a16="http://schemas.microsoft.com/office/drawing/2014/main" id="{75B1E861-E77A-C8E9-B496-4310D914EC1B}"/>
              </a:ext>
            </a:extLst>
          </p:cNvPr>
          <p:cNvSpPr/>
          <p:nvPr/>
        </p:nvSpPr>
        <p:spPr>
          <a:xfrm>
            <a:off x="5740025" y="-4990242"/>
            <a:ext cx="2998458" cy="859488"/>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Trace câu lệnh</a:t>
            </a:r>
            <a:endParaRPr lang="vi-VN" sz="2000" b="1">
              <a:latin typeface="Arial" panose="020B0604020202020204" pitchFamily="34" charset="0"/>
              <a:cs typeface="Arial" panose="020B0604020202020204" pitchFamily="34" charset="0"/>
            </a:endParaRPr>
          </a:p>
        </p:txBody>
      </p:sp>
      <p:sp>
        <p:nvSpPr>
          <p:cNvPr id="6" name="Rectangle: Rounded Corners 5">
            <a:extLst>
              <a:ext uri="{FF2B5EF4-FFF2-40B4-BE49-F238E27FC236}">
                <a16:creationId xmlns:a16="http://schemas.microsoft.com/office/drawing/2014/main" id="{C5E218C0-0883-2D48-7A6C-1B8E84C09DAF}"/>
              </a:ext>
            </a:extLst>
          </p:cNvPr>
          <p:cNvSpPr/>
          <p:nvPr/>
        </p:nvSpPr>
        <p:spPr>
          <a:xfrm>
            <a:off x="7689420" y="-3419516"/>
            <a:ext cx="2998458" cy="859488"/>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Trace biến</a:t>
            </a:r>
            <a:endParaRPr lang="vi-VN" sz="2000" b="1">
              <a:latin typeface="Arial" panose="020B0604020202020204" pitchFamily="34" charset="0"/>
              <a:cs typeface="Arial" panose="020B0604020202020204" pitchFamily="34" charset="0"/>
            </a:endParaRPr>
          </a:p>
        </p:txBody>
      </p:sp>
      <p:sp>
        <p:nvSpPr>
          <p:cNvPr id="15" name="Rectangle: Rounded Corners 14">
            <a:extLst>
              <a:ext uri="{FF2B5EF4-FFF2-40B4-BE49-F238E27FC236}">
                <a16:creationId xmlns:a16="http://schemas.microsoft.com/office/drawing/2014/main" id="{9F54F353-4870-F95D-2BBE-F3BDAD348148}"/>
              </a:ext>
            </a:extLst>
          </p:cNvPr>
          <p:cNvSpPr/>
          <p:nvPr/>
        </p:nvSpPr>
        <p:spPr>
          <a:xfrm>
            <a:off x="3191733" y="-3419516"/>
            <a:ext cx="2998458" cy="859488"/>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Trace mạng</a:t>
            </a:r>
          </a:p>
        </p:txBody>
      </p:sp>
      <p:sp>
        <p:nvSpPr>
          <p:cNvPr id="16" name="Rectangle: Rounded Corners 15">
            <a:extLst>
              <a:ext uri="{FF2B5EF4-FFF2-40B4-BE49-F238E27FC236}">
                <a16:creationId xmlns:a16="http://schemas.microsoft.com/office/drawing/2014/main" id="{5C93EDC6-8611-AFD4-4ACE-82ACF7F4C95C}"/>
              </a:ext>
            </a:extLst>
          </p:cNvPr>
          <p:cNvSpPr/>
          <p:nvPr/>
        </p:nvSpPr>
        <p:spPr>
          <a:xfrm>
            <a:off x="5740025" y="-1848790"/>
            <a:ext cx="2998458" cy="859488"/>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Trace thời gian</a:t>
            </a:r>
          </a:p>
        </p:txBody>
      </p:sp>
      <p:sp>
        <p:nvSpPr>
          <p:cNvPr id="4" name="TextBox 3">
            <a:extLst>
              <a:ext uri="{FF2B5EF4-FFF2-40B4-BE49-F238E27FC236}">
                <a16:creationId xmlns:a16="http://schemas.microsoft.com/office/drawing/2014/main" id="{93A82EA1-D6CA-74C2-2178-6E5109A02BEC}"/>
              </a:ext>
            </a:extLst>
          </p:cNvPr>
          <p:cNvSpPr txBox="1"/>
          <p:nvPr/>
        </p:nvSpPr>
        <p:spPr>
          <a:xfrm>
            <a:off x="5595257" y="-1624371"/>
            <a:ext cx="5713259"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Các loại Trace phổ biến</a:t>
            </a:r>
          </a:p>
        </p:txBody>
      </p:sp>
      <p:sp>
        <p:nvSpPr>
          <p:cNvPr id="8" name="TextBox 7">
            <a:extLst>
              <a:ext uri="{FF2B5EF4-FFF2-40B4-BE49-F238E27FC236}">
                <a16:creationId xmlns:a16="http://schemas.microsoft.com/office/drawing/2014/main" id="{CC3007ED-BB30-6A56-E692-C4476E4EDFD2}"/>
              </a:ext>
            </a:extLst>
          </p:cNvPr>
          <p:cNvSpPr txBox="1"/>
          <p:nvPr/>
        </p:nvSpPr>
        <p:spPr>
          <a:xfrm>
            <a:off x="2107612" y="2130104"/>
            <a:ext cx="5010640" cy="2523768"/>
          </a:xfrm>
          <a:prstGeom prst="rect">
            <a:avLst/>
          </a:prstGeom>
          <a:noFill/>
        </p:spPr>
        <p:txBody>
          <a:bodyPr wrap="square">
            <a:spAutoFit/>
          </a:bodyPr>
          <a:lstStyle/>
          <a:p>
            <a:pPr marL="342900" indent="-342900" rtl="0">
              <a:spcBef>
                <a:spcPts val="0"/>
              </a:spcBef>
              <a:spcAft>
                <a:spcPts val="1200"/>
              </a:spcAft>
              <a:buFont typeface="Arial" panose="020B0604020202020204" pitchFamily="34" charset="0"/>
              <a:buChar char="•"/>
            </a:pPr>
            <a:r>
              <a:rPr lang="vi-VN" sz="3200" b="1">
                <a:solidFill>
                  <a:schemeClr val="lt1"/>
                </a:solidFill>
              </a:rPr>
              <a:t>PyCharm</a:t>
            </a:r>
            <a:endParaRPr lang="en-US" sz="3200" b="1">
              <a:solidFill>
                <a:schemeClr val="lt1"/>
              </a:solidFill>
            </a:endParaRPr>
          </a:p>
          <a:p>
            <a:pPr marL="342900" indent="-342900" rtl="0">
              <a:spcBef>
                <a:spcPts val="0"/>
              </a:spcBef>
              <a:spcAft>
                <a:spcPts val="1200"/>
              </a:spcAft>
              <a:buFont typeface="Arial" panose="020B0604020202020204" pitchFamily="34" charset="0"/>
              <a:buChar char="•"/>
            </a:pPr>
            <a:r>
              <a:rPr lang="vi-VN" sz="3200" b="1">
                <a:solidFill>
                  <a:schemeClr val="lt1"/>
                </a:solidFill>
              </a:rPr>
              <a:t>Visual Studio Code</a:t>
            </a:r>
          </a:p>
          <a:p>
            <a:pPr marL="342900" indent="-342900" rtl="0">
              <a:spcBef>
                <a:spcPts val="0"/>
              </a:spcBef>
              <a:spcAft>
                <a:spcPts val="1200"/>
              </a:spcAft>
              <a:buFont typeface="Arial" panose="020B0604020202020204" pitchFamily="34" charset="0"/>
              <a:buChar char="•"/>
            </a:pPr>
            <a:r>
              <a:rPr lang="en-US" sz="3200" b="1">
                <a:solidFill>
                  <a:schemeClr val="lt1"/>
                </a:solidFill>
              </a:rPr>
              <a:t>Pdb</a:t>
            </a:r>
          </a:p>
          <a:p>
            <a:pPr marL="342900" indent="-342900" rtl="0">
              <a:spcBef>
                <a:spcPts val="0"/>
              </a:spcBef>
              <a:spcAft>
                <a:spcPts val="1200"/>
              </a:spcAft>
              <a:buFont typeface="Arial" panose="020B0604020202020204" pitchFamily="34" charset="0"/>
              <a:buChar char="•"/>
            </a:pPr>
            <a:r>
              <a:rPr lang="en-US" sz="3200" b="1">
                <a:solidFill>
                  <a:schemeClr val="lt1"/>
                </a:solidFill>
              </a:rPr>
              <a:t>PySnooper</a:t>
            </a:r>
          </a:p>
        </p:txBody>
      </p:sp>
      <p:sp>
        <p:nvSpPr>
          <p:cNvPr id="9" name="TextBox 8">
            <a:extLst>
              <a:ext uri="{FF2B5EF4-FFF2-40B4-BE49-F238E27FC236}">
                <a16:creationId xmlns:a16="http://schemas.microsoft.com/office/drawing/2014/main" id="{DCDBC69A-E2AD-0BC6-54F3-065A3B241176}"/>
              </a:ext>
            </a:extLst>
          </p:cNvPr>
          <p:cNvSpPr txBox="1"/>
          <p:nvPr/>
        </p:nvSpPr>
        <p:spPr>
          <a:xfrm>
            <a:off x="1587107" y="8549263"/>
            <a:ext cx="7472486" cy="2862322"/>
          </a:xfrm>
          <a:prstGeom prst="rect">
            <a:avLst/>
          </a:prstGeom>
          <a:noFill/>
        </p:spPr>
        <p:txBody>
          <a:bodyPr wrap="square">
            <a:spAutoFit/>
          </a:bodyPr>
          <a:lstStyle/>
          <a:p>
            <a:pPr rtl="0">
              <a:spcBef>
                <a:spcPts val="0"/>
              </a:spcBef>
              <a:spcAft>
                <a:spcPts val="1200"/>
              </a:spcAft>
            </a:pPr>
            <a:r>
              <a:rPr lang="vi-VN" sz="2000" b="1">
                <a:solidFill>
                  <a:schemeClr val="lt1"/>
                </a:solidFill>
              </a:rPr>
              <a:t>Trace thường chấm dứt khi xảy ra một trong các trường hợp sau:</a:t>
            </a:r>
            <a:endParaRPr lang="en-US" sz="2000" b="1">
              <a:solidFill>
                <a:schemeClr val="lt1"/>
              </a:solidFill>
            </a:endParaRPr>
          </a:p>
          <a:p>
            <a:pPr marL="342900" indent="-342900" rtl="0">
              <a:spcBef>
                <a:spcPts val="0"/>
              </a:spcBef>
              <a:spcAft>
                <a:spcPts val="1200"/>
              </a:spcAft>
              <a:buFont typeface="Arial" panose="020B0604020202020204" pitchFamily="34" charset="0"/>
              <a:buChar char="•"/>
            </a:pPr>
            <a:r>
              <a:rPr lang="vi-VN" sz="2000" b="1">
                <a:solidFill>
                  <a:schemeClr val="lt1"/>
                </a:solidFill>
              </a:rPr>
              <a:t>Trace đã được lấp đầy với số lượng hướng dẫn tối đa cho phép</a:t>
            </a:r>
            <a:endParaRPr lang="en-US" sz="2000" b="1">
              <a:solidFill>
                <a:schemeClr val="lt1"/>
              </a:solidFill>
            </a:endParaRPr>
          </a:p>
          <a:p>
            <a:pPr marL="342900" indent="-342900" rtl="0">
              <a:spcBef>
                <a:spcPts val="0"/>
              </a:spcBef>
              <a:spcAft>
                <a:spcPts val="1200"/>
              </a:spcAft>
              <a:buFont typeface="Arial" panose="020B0604020202020204" pitchFamily="34" charset="0"/>
              <a:buChar char="•"/>
            </a:pPr>
            <a:r>
              <a:rPr lang="vi-VN" sz="2000" b="1">
                <a:solidFill>
                  <a:schemeClr val="lt1"/>
                </a:solidFill>
              </a:rPr>
              <a:t>Trace có khối cơ bản tối đa cho phép</a:t>
            </a:r>
          </a:p>
          <a:p>
            <a:pPr marL="342900" indent="-342900" rtl="0">
              <a:spcBef>
                <a:spcPts val="0"/>
              </a:spcBef>
              <a:spcAft>
                <a:spcPts val="1200"/>
              </a:spcAft>
              <a:buFont typeface="Arial" panose="020B0604020202020204" pitchFamily="34" charset="0"/>
              <a:buChar char="•"/>
            </a:pPr>
            <a:r>
              <a:rPr lang="vi-VN" sz="2000" b="1">
                <a:solidFill>
                  <a:schemeClr val="lt1"/>
                </a:solidFill>
              </a:rPr>
              <a:t>Hướng dẫn trả lại</a:t>
            </a:r>
          </a:p>
          <a:p>
            <a:pPr marL="342900" indent="-342900" rtl="0">
              <a:spcBef>
                <a:spcPts val="0"/>
              </a:spcBef>
              <a:spcAft>
                <a:spcPts val="1200"/>
              </a:spcAft>
              <a:buFont typeface="Arial" panose="020B0604020202020204" pitchFamily="34" charset="0"/>
              <a:buChar char="•"/>
            </a:pPr>
            <a:r>
              <a:rPr lang="vi-VN" sz="2000" b="1">
                <a:solidFill>
                  <a:schemeClr val="lt1"/>
                </a:solidFill>
              </a:rPr>
              <a:t>Nhánh gián tiếp</a:t>
            </a:r>
          </a:p>
        </p:txBody>
      </p:sp>
    </p:spTree>
    <p:extLst>
      <p:ext uri="{BB962C8B-B14F-4D97-AF65-F5344CB8AC3E}">
        <p14:creationId xmlns:p14="http://schemas.microsoft.com/office/powerpoint/2010/main" val="235620297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C3007ED-BB30-6A56-E692-C4476E4EDFD2}"/>
              </a:ext>
            </a:extLst>
          </p:cNvPr>
          <p:cNvSpPr txBox="1"/>
          <p:nvPr/>
        </p:nvSpPr>
        <p:spPr>
          <a:xfrm>
            <a:off x="2107612" y="-3722058"/>
            <a:ext cx="5010640" cy="2523768"/>
          </a:xfrm>
          <a:prstGeom prst="rect">
            <a:avLst/>
          </a:prstGeom>
          <a:noFill/>
        </p:spPr>
        <p:txBody>
          <a:bodyPr wrap="square">
            <a:spAutoFit/>
          </a:bodyPr>
          <a:lstStyle/>
          <a:p>
            <a:pPr marL="342900" indent="-342900" rtl="0">
              <a:spcBef>
                <a:spcPts val="0"/>
              </a:spcBef>
              <a:spcAft>
                <a:spcPts val="1200"/>
              </a:spcAft>
              <a:buFont typeface="Arial" panose="020B0604020202020204" pitchFamily="34" charset="0"/>
              <a:buChar char="•"/>
            </a:pPr>
            <a:r>
              <a:rPr lang="vi-VN" sz="3200" b="1">
                <a:solidFill>
                  <a:schemeClr val="lt1"/>
                </a:solidFill>
              </a:rPr>
              <a:t>PyCharm</a:t>
            </a:r>
            <a:endParaRPr lang="en-US" sz="3200" b="1">
              <a:solidFill>
                <a:schemeClr val="lt1"/>
              </a:solidFill>
            </a:endParaRPr>
          </a:p>
          <a:p>
            <a:pPr marL="342900" indent="-342900" rtl="0">
              <a:spcBef>
                <a:spcPts val="0"/>
              </a:spcBef>
              <a:spcAft>
                <a:spcPts val="1200"/>
              </a:spcAft>
              <a:buFont typeface="Arial" panose="020B0604020202020204" pitchFamily="34" charset="0"/>
              <a:buChar char="•"/>
            </a:pPr>
            <a:r>
              <a:rPr lang="vi-VN" sz="3200" b="1">
                <a:solidFill>
                  <a:schemeClr val="lt1"/>
                </a:solidFill>
              </a:rPr>
              <a:t>Visual Studio Code</a:t>
            </a:r>
          </a:p>
          <a:p>
            <a:pPr marL="342900" indent="-342900" rtl="0">
              <a:spcBef>
                <a:spcPts val="0"/>
              </a:spcBef>
              <a:spcAft>
                <a:spcPts val="1200"/>
              </a:spcAft>
              <a:buFont typeface="Arial" panose="020B0604020202020204" pitchFamily="34" charset="0"/>
              <a:buChar char="•"/>
            </a:pPr>
            <a:r>
              <a:rPr lang="en-US" sz="3200" b="1">
                <a:solidFill>
                  <a:schemeClr val="lt1"/>
                </a:solidFill>
              </a:rPr>
              <a:t>Pdb</a:t>
            </a:r>
          </a:p>
          <a:p>
            <a:pPr marL="342900" indent="-342900" rtl="0">
              <a:spcBef>
                <a:spcPts val="0"/>
              </a:spcBef>
              <a:spcAft>
                <a:spcPts val="1200"/>
              </a:spcAft>
              <a:buFont typeface="Arial" panose="020B0604020202020204" pitchFamily="34" charset="0"/>
              <a:buChar char="•"/>
            </a:pPr>
            <a:r>
              <a:rPr lang="en-US" sz="3200" b="1">
                <a:solidFill>
                  <a:schemeClr val="lt1"/>
                </a:solidFill>
              </a:rPr>
              <a:t>PySnooper</a:t>
            </a:r>
          </a:p>
        </p:txBody>
      </p:sp>
      <p:sp>
        <p:nvSpPr>
          <p:cNvPr id="2" name="TextBox 1">
            <a:extLst>
              <a:ext uri="{FF2B5EF4-FFF2-40B4-BE49-F238E27FC236}">
                <a16:creationId xmlns:a16="http://schemas.microsoft.com/office/drawing/2014/main" id="{28D60FA8-E8E5-43CC-E141-0E0951D5B17B}"/>
              </a:ext>
            </a:extLst>
          </p:cNvPr>
          <p:cNvSpPr txBox="1"/>
          <p:nvPr/>
        </p:nvSpPr>
        <p:spPr>
          <a:xfrm>
            <a:off x="2883877" y="-4449634"/>
            <a:ext cx="8272239"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Các công cụ và phần mềm hỗ trợ Trace:</a:t>
            </a:r>
          </a:p>
        </p:txBody>
      </p:sp>
      <p:sp>
        <p:nvSpPr>
          <p:cNvPr id="9" name="TextBox 8">
            <a:extLst>
              <a:ext uri="{FF2B5EF4-FFF2-40B4-BE49-F238E27FC236}">
                <a16:creationId xmlns:a16="http://schemas.microsoft.com/office/drawing/2014/main" id="{469B65D0-60DF-28F7-989C-2471C2EFBBF8}"/>
              </a:ext>
            </a:extLst>
          </p:cNvPr>
          <p:cNvSpPr txBox="1"/>
          <p:nvPr/>
        </p:nvSpPr>
        <p:spPr>
          <a:xfrm>
            <a:off x="6554272" y="755414"/>
            <a:ext cx="5010641"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Trace Structure</a:t>
            </a:r>
          </a:p>
        </p:txBody>
      </p:sp>
      <p:sp>
        <p:nvSpPr>
          <p:cNvPr id="13" name="TextBox 12">
            <a:extLst>
              <a:ext uri="{FF2B5EF4-FFF2-40B4-BE49-F238E27FC236}">
                <a16:creationId xmlns:a16="http://schemas.microsoft.com/office/drawing/2014/main" id="{C91B6826-0395-EC68-E09A-D6C55D90296D}"/>
              </a:ext>
            </a:extLst>
          </p:cNvPr>
          <p:cNvSpPr txBox="1"/>
          <p:nvPr/>
        </p:nvSpPr>
        <p:spPr>
          <a:xfrm>
            <a:off x="1587107" y="2101969"/>
            <a:ext cx="7472486" cy="2862322"/>
          </a:xfrm>
          <a:prstGeom prst="rect">
            <a:avLst/>
          </a:prstGeom>
          <a:noFill/>
        </p:spPr>
        <p:txBody>
          <a:bodyPr wrap="square">
            <a:spAutoFit/>
          </a:bodyPr>
          <a:lstStyle/>
          <a:p>
            <a:pPr rtl="0">
              <a:spcBef>
                <a:spcPts val="0"/>
              </a:spcBef>
              <a:spcAft>
                <a:spcPts val="1200"/>
              </a:spcAft>
            </a:pPr>
            <a:r>
              <a:rPr lang="vi-VN" sz="2000" b="1">
                <a:solidFill>
                  <a:schemeClr val="lt1"/>
                </a:solidFill>
              </a:rPr>
              <a:t>Trace thường chấm dứt khi xảy ra một trong các trường hợp sau:</a:t>
            </a:r>
            <a:endParaRPr lang="en-US" sz="2000" b="1">
              <a:solidFill>
                <a:schemeClr val="lt1"/>
              </a:solidFill>
            </a:endParaRPr>
          </a:p>
          <a:p>
            <a:pPr marL="342900" indent="-342900" rtl="0">
              <a:spcBef>
                <a:spcPts val="0"/>
              </a:spcBef>
              <a:spcAft>
                <a:spcPts val="1200"/>
              </a:spcAft>
              <a:buFont typeface="Arial" panose="020B0604020202020204" pitchFamily="34" charset="0"/>
              <a:buChar char="•"/>
            </a:pPr>
            <a:r>
              <a:rPr lang="vi-VN" sz="2000" b="1">
                <a:solidFill>
                  <a:schemeClr val="lt1"/>
                </a:solidFill>
              </a:rPr>
              <a:t>Trace đã được lấp đầy với số lượng hướng dẫn tối đa cho phép</a:t>
            </a:r>
            <a:endParaRPr lang="en-US" sz="2000" b="1">
              <a:solidFill>
                <a:schemeClr val="lt1"/>
              </a:solidFill>
            </a:endParaRPr>
          </a:p>
          <a:p>
            <a:pPr marL="342900" indent="-342900" rtl="0">
              <a:spcBef>
                <a:spcPts val="0"/>
              </a:spcBef>
              <a:spcAft>
                <a:spcPts val="1200"/>
              </a:spcAft>
              <a:buFont typeface="Arial" panose="020B0604020202020204" pitchFamily="34" charset="0"/>
              <a:buChar char="•"/>
            </a:pPr>
            <a:r>
              <a:rPr lang="vi-VN" sz="2000" b="1">
                <a:solidFill>
                  <a:schemeClr val="lt1"/>
                </a:solidFill>
              </a:rPr>
              <a:t>Trace có khối cơ bản tối đa cho phép</a:t>
            </a:r>
          </a:p>
          <a:p>
            <a:pPr marL="342900" indent="-342900" rtl="0">
              <a:spcBef>
                <a:spcPts val="0"/>
              </a:spcBef>
              <a:spcAft>
                <a:spcPts val="1200"/>
              </a:spcAft>
              <a:buFont typeface="Arial" panose="020B0604020202020204" pitchFamily="34" charset="0"/>
              <a:buChar char="•"/>
            </a:pPr>
            <a:r>
              <a:rPr lang="vi-VN" sz="2000" b="1">
                <a:solidFill>
                  <a:schemeClr val="lt1"/>
                </a:solidFill>
              </a:rPr>
              <a:t>Hướng dẫn trả lại</a:t>
            </a:r>
          </a:p>
          <a:p>
            <a:pPr marL="342900" indent="-342900" rtl="0">
              <a:spcBef>
                <a:spcPts val="0"/>
              </a:spcBef>
              <a:spcAft>
                <a:spcPts val="1200"/>
              </a:spcAft>
              <a:buFont typeface="Arial" panose="020B0604020202020204" pitchFamily="34" charset="0"/>
              <a:buChar char="•"/>
            </a:pPr>
            <a:r>
              <a:rPr lang="vi-VN" sz="2000" b="1">
                <a:solidFill>
                  <a:schemeClr val="lt1"/>
                </a:solidFill>
              </a:rPr>
              <a:t>Nhánh gián tiếp</a:t>
            </a:r>
          </a:p>
        </p:txBody>
      </p:sp>
      <p:sp>
        <p:nvSpPr>
          <p:cNvPr id="17" name="TextBox 16">
            <a:extLst>
              <a:ext uri="{FF2B5EF4-FFF2-40B4-BE49-F238E27FC236}">
                <a16:creationId xmlns:a16="http://schemas.microsoft.com/office/drawing/2014/main" id="{42956373-1400-646E-0D68-D3FF666D9D2B}"/>
              </a:ext>
            </a:extLst>
          </p:cNvPr>
          <p:cNvSpPr txBox="1"/>
          <p:nvPr/>
        </p:nvSpPr>
        <p:spPr>
          <a:xfrm>
            <a:off x="1739507" y="7595001"/>
            <a:ext cx="7472486" cy="2862322"/>
          </a:xfrm>
          <a:prstGeom prst="rect">
            <a:avLst/>
          </a:prstGeom>
          <a:noFill/>
        </p:spPr>
        <p:txBody>
          <a:bodyPr wrap="square">
            <a:spAutoFit/>
          </a:bodyPr>
          <a:lstStyle/>
          <a:p>
            <a:pPr>
              <a:spcAft>
                <a:spcPts val="1200"/>
              </a:spcAft>
            </a:pPr>
            <a:r>
              <a:rPr lang="vi-VN" sz="2000" b="1">
                <a:solidFill>
                  <a:schemeClr val="lt1"/>
                </a:solidFill>
              </a:rPr>
              <a:t>Một Trace duy nhất sẽ có thông tin sau:</a:t>
            </a:r>
          </a:p>
          <a:p>
            <a:pPr marL="342900" indent="-342900">
              <a:spcAft>
                <a:spcPts val="1200"/>
              </a:spcAft>
              <a:buFont typeface="Arial" panose="020B0604020202020204" pitchFamily="34" charset="0"/>
              <a:buChar char="•"/>
            </a:pPr>
            <a:r>
              <a:rPr lang="vi-VN" sz="2000" b="1">
                <a:solidFill>
                  <a:schemeClr val="lt1"/>
                </a:solidFill>
              </a:rPr>
              <a:t>Khởi động PC - PC của lệnh đầu tiên trong dấu vết</a:t>
            </a:r>
          </a:p>
          <a:p>
            <a:pPr marL="342900" indent="-342900">
              <a:spcAft>
                <a:spcPts val="1200"/>
              </a:spcAft>
              <a:buFont typeface="Arial" panose="020B0604020202020204" pitchFamily="34" charset="0"/>
              <a:buChar char="•"/>
            </a:pPr>
            <a:r>
              <a:rPr lang="vi-VN" sz="2000" b="1">
                <a:solidFill>
                  <a:schemeClr val="lt1"/>
                </a:solidFill>
              </a:rPr>
              <a:t>Cờ nhánh - ( khối cơ bản tối đa -1 ) dự đoán nhánh</a:t>
            </a:r>
          </a:p>
          <a:p>
            <a:pPr marL="342900" indent="-342900">
              <a:spcAft>
                <a:spcPts val="1200"/>
              </a:spcAft>
              <a:buFont typeface="Arial" panose="020B0604020202020204" pitchFamily="34" charset="0"/>
              <a:buChar char="•"/>
            </a:pPr>
            <a:r>
              <a:rPr lang="vi-VN" sz="2000" b="1">
                <a:solidFill>
                  <a:schemeClr val="lt1"/>
                </a:solidFill>
              </a:rPr>
              <a:t>Mặt nạ nhánh - số lượng nhánh trong dấu vết và liệu dấu vết có kết thúc trong nhánh hay không</a:t>
            </a:r>
          </a:p>
          <a:p>
            <a:pPr marL="342900" indent="-342900">
              <a:spcAft>
                <a:spcPts val="1200"/>
              </a:spcAft>
              <a:buFont typeface="Arial" panose="020B0604020202020204" pitchFamily="34" charset="0"/>
              <a:buChar char="•"/>
            </a:pPr>
            <a:r>
              <a:rPr lang="vi-VN" sz="2000" b="1">
                <a:solidFill>
                  <a:schemeClr val="lt1"/>
                </a:solidFill>
              </a:rPr>
              <a:t>Dấu vết rơi qua - PC tiếp theo nếu lệnh cuối cùng không được thực hiện nhánh hoặc không phải là nhánh</a:t>
            </a:r>
          </a:p>
        </p:txBody>
      </p:sp>
    </p:spTree>
    <p:extLst>
      <p:ext uri="{BB962C8B-B14F-4D97-AF65-F5344CB8AC3E}">
        <p14:creationId xmlns:p14="http://schemas.microsoft.com/office/powerpoint/2010/main" val="33074862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69B65D0-60DF-28F7-989C-2471C2EFBBF8}"/>
              </a:ext>
            </a:extLst>
          </p:cNvPr>
          <p:cNvSpPr txBox="1"/>
          <p:nvPr/>
        </p:nvSpPr>
        <p:spPr>
          <a:xfrm>
            <a:off x="6554272" y="755414"/>
            <a:ext cx="5010641"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Trace Structure</a:t>
            </a:r>
          </a:p>
        </p:txBody>
      </p:sp>
      <p:sp>
        <p:nvSpPr>
          <p:cNvPr id="13" name="TextBox 12">
            <a:extLst>
              <a:ext uri="{FF2B5EF4-FFF2-40B4-BE49-F238E27FC236}">
                <a16:creationId xmlns:a16="http://schemas.microsoft.com/office/drawing/2014/main" id="{C91B6826-0395-EC68-E09A-D6C55D90296D}"/>
              </a:ext>
            </a:extLst>
          </p:cNvPr>
          <p:cNvSpPr txBox="1"/>
          <p:nvPr/>
        </p:nvSpPr>
        <p:spPr>
          <a:xfrm>
            <a:off x="1587107" y="-3890870"/>
            <a:ext cx="7472486" cy="2862322"/>
          </a:xfrm>
          <a:prstGeom prst="rect">
            <a:avLst/>
          </a:prstGeom>
          <a:noFill/>
        </p:spPr>
        <p:txBody>
          <a:bodyPr wrap="square">
            <a:spAutoFit/>
          </a:bodyPr>
          <a:lstStyle/>
          <a:p>
            <a:pPr rtl="0">
              <a:spcBef>
                <a:spcPts val="0"/>
              </a:spcBef>
              <a:spcAft>
                <a:spcPts val="1200"/>
              </a:spcAft>
            </a:pPr>
            <a:r>
              <a:rPr lang="vi-VN" sz="2000" b="1">
                <a:solidFill>
                  <a:schemeClr val="lt1"/>
                </a:solidFill>
              </a:rPr>
              <a:t>Trace thường chấm dứt khi xảy ra một trong các trường hợp sau:</a:t>
            </a:r>
            <a:endParaRPr lang="en-US" sz="2000" b="1">
              <a:solidFill>
                <a:schemeClr val="lt1"/>
              </a:solidFill>
            </a:endParaRPr>
          </a:p>
          <a:p>
            <a:pPr marL="342900" indent="-342900" rtl="0">
              <a:spcBef>
                <a:spcPts val="0"/>
              </a:spcBef>
              <a:spcAft>
                <a:spcPts val="1200"/>
              </a:spcAft>
              <a:buFont typeface="Arial" panose="020B0604020202020204" pitchFamily="34" charset="0"/>
              <a:buChar char="•"/>
            </a:pPr>
            <a:r>
              <a:rPr lang="vi-VN" sz="2000" b="1">
                <a:solidFill>
                  <a:schemeClr val="lt1"/>
                </a:solidFill>
              </a:rPr>
              <a:t>Trace đã được lấp đầy với số lượng hướng dẫn tối đa cho phép</a:t>
            </a:r>
            <a:endParaRPr lang="en-US" sz="2000" b="1">
              <a:solidFill>
                <a:schemeClr val="lt1"/>
              </a:solidFill>
            </a:endParaRPr>
          </a:p>
          <a:p>
            <a:pPr marL="342900" indent="-342900" rtl="0">
              <a:spcBef>
                <a:spcPts val="0"/>
              </a:spcBef>
              <a:spcAft>
                <a:spcPts val="1200"/>
              </a:spcAft>
              <a:buFont typeface="Arial" panose="020B0604020202020204" pitchFamily="34" charset="0"/>
              <a:buChar char="•"/>
            </a:pPr>
            <a:r>
              <a:rPr lang="vi-VN" sz="2000" b="1">
                <a:solidFill>
                  <a:schemeClr val="lt1"/>
                </a:solidFill>
              </a:rPr>
              <a:t>Trace có khối cơ bản tối đa cho phép</a:t>
            </a:r>
          </a:p>
          <a:p>
            <a:pPr marL="342900" indent="-342900" rtl="0">
              <a:spcBef>
                <a:spcPts val="0"/>
              </a:spcBef>
              <a:spcAft>
                <a:spcPts val="1200"/>
              </a:spcAft>
              <a:buFont typeface="Arial" panose="020B0604020202020204" pitchFamily="34" charset="0"/>
              <a:buChar char="•"/>
            </a:pPr>
            <a:r>
              <a:rPr lang="vi-VN" sz="2000" b="1">
                <a:solidFill>
                  <a:schemeClr val="lt1"/>
                </a:solidFill>
              </a:rPr>
              <a:t>Hướng dẫn trả lại</a:t>
            </a:r>
          </a:p>
          <a:p>
            <a:pPr marL="342900" indent="-342900" rtl="0">
              <a:spcBef>
                <a:spcPts val="0"/>
              </a:spcBef>
              <a:spcAft>
                <a:spcPts val="1200"/>
              </a:spcAft>
              <a:buFont typeface="Arial" panose="020B0604020202020204" pitchFamily="34" charset="0"/>
              <a:buChar char="•"/>
            </a:pPr>
            <a:r>
              <a:rPr lang="vi-VN" sz="2000" b="1">
                <a:solidFill>
                  <a:schemeClr val="lt1"/>
                </a:solidFill>
              </a:rPr>
              <a:t>Nhánh gián tiếp</a:t>
            </a:r>
          </a:p>
        </p:txBody>
      </p:sp>
      <p:sp>
        <p:nvSpPr>
          <p:cNvPr id="3" name="TextBox 2">
            <a:extLst>
              <a:ext uri="{FF2B5EF4-FFF2-40B4-BE49-F238E27FC236}">
                <a16:creationId xmlns:a16="http://schemas.microsoft.com/office/drawing/2014/main" id="{181125B8-F16F-F1F7-95B3-58F264D5E801}"/>
              </a:ext>
            </a:extLst>
          </p:cNvPr>
          <p:cNvSpPr txBox="1"/>
          <p:nvPr/>
        </p:nvSpPr>
        <p:spPr>
          <a:xfrm>
            <a:off x="1587107" y="2101969"/>
            <a:ext cx="7472486" cy="2862322"/>
          </a:xfrm>
          <a:prstGeom prst="rect">
            <a:avLst/>
          </a:prstGeom>
          <a:noFill/>
        </p:spPr>
        <p:txBody>
          <a:bodyPr wrap="square">
            <a:spAutoFit/>
          </a:bodyPr>
          <a:lstStyle/>
          <a:p>
            <a:pPr>
              <a:spcAft>
                <a:spcPts val="1200"/>
              </a:spcAft>
            </a:pPr>
            <a:r>
              <a:rPr lang="vi-VN" sz="2000" b="1">
                <a:solidFill>
                  <a:schemeClr val="lt1"/>
                </a:solidFill>
              </a:rPr>
              <a:t>Một Trace duy nhất sẽ có thông tin sau:</a:t>
            </a:r>
          </a:p>
          <a:p>
            <a:pPr marL="342900" indent="-342900">
              <a:spcAft>
                <a:spcPts val="1200"/>
              </a:spcAft>
              <a:buFont typeface="Arial" panose="020B0604020202020204" pitchFamily="34" charset="0"/>
              <a:buChar char="•"/>
            </a:pPr>
            <a:r>
              <a:rPr lang="vi-VN" sz="2000" b="1">
                <a:solidFill>
                  <a:schemeClr val="lt1"/>
                </a:solidFill>
              </a:rPr>
              <a:t>Khởi động PC - PC của lệnh đầu tiên trong dấu vết</a:t>
            </a:r>
          </a:p>
          <a:p>
            <a:pPr marL="342900" indent="-342900">
              <a:spcAft>
                <a:spcPts val="1200"/>
              </a:spcAft>
              <a:buFont typeface="Arial" panose="020B0604020202020204" pitchFamily="34" charset="0"/>
              <a:buChar char="•"/>
            </a:pPr>
            <a:r>
              <a:rPr lang="vi-VN" sz="2000" b="1">
                <a:solidFill>
                  <a:schemeClr val="lt1"/>
                </a:solidFill>
              </a:rPr>
              <a:t>Cờ nhánh - ( khối cơ bản tối đa -1 ) dự đoán nhánh</a:t>
            </a:r>
          </a:p>
          <a:p>
            <a:pPr marL="342900" indent="-342900">
              <a:spcAft>
                <a:spcPts val="1200"/>
              </a:spcAft>
              <a:buFont typeface="Arial" panose="020B0604020202020204" pitchFamily="34" charset="0"/>
              <a:buChar char="•"/>
            </a:pPr>
            <a:r>
              <a:rPr lang="vi-VN" sz="2000" b="1">
                <a:solidFill>
                  <a:schemeClr val="lt1"/>
                </a:solidFill>
              </a:rPr>
              <a:t>Mặt nạ nhánh - số lượng nhánh trong dấu vết và liệu dấu vết có kết thúc trong nhánh hay không</a:t>
            </a:r>
          </a:p>
          <a:p>
            <a:pPr marL="342900" indent="-342900">
              <a:spcAft>
                <a:spcPts val="1200"/>
              </a:spcAft>
              <a:buFont typeface="Arial" panose="020B0604020202020204" pitchFamily="34" charset="0"/>
              <a:buChar char="•"/>
            </a:pPr>
            <a:r>
              <a:rPr lang="vi-VN" sz="2000" b="1">
                <a:solidFill>
                  <a:schemeClr val="lt1"/>
                </a:solidFill>
              </a:rPr>
              <a:t>Dấu vết rơi qua - PC tiếp theo nếu lệnh cuối cùng không được thực hiện nhánh hoặc không phải là nhánh</a:t>
            </a:r>
          </a:p>
        </p:txBody>
      </p:sp>
      <p:sp>
        <p:nvSpPr>
          <p:cNvPr id="5" name="Rectangle: Rounded Corners 4">
            <a:extLst>
              <a:ext uri="{FF2B5EF4-FFF2-40B4-BE49-F238E27FC236}">
                <a16:creationId xmlns:a16="http://schemas.microsoft.com/office/drawing/2014/main" id="{87626BB5-4144-632E-8A36-DC813906116A}"/>
              </a:ext>
            </a:extLst>
          </p:cNvPr>
          <p:cNvSpPr/>
          <p:nvPr/>
        </p:nvSpPr>
        <p:spPr>
          <a:xfrm>
            <a:off x="2026636" y="7453869"/>
            <a:ext cx="8138728" cy="415482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400" b="1"/>
              <a:t>Trace chaining là một kỹ thuật được sử dụng trong vi xử lý để tăng hiệu suất đọc dữ liệu bằng cách cho phép Trace Cache lấy thành phần chung giữa nhiều luồng thực thi và kết hợp chúng thành một Trace Cache lớn hơn. Trace chaining sử dụng một cơ chế gọi là hybrid chaining để phủ nhận các trường hợp mà các trace không thể được kết hợp trong cùng một Trace Cache. Nó phù hợp với hệ thống đa luồng, nơi nhiều luồng có thể chia sẻ các trace được lưu trữ trong Trace Cache.</a:t>
            </a:r>
          </a:p>
        </p:txBody>
      </p:sp>
    </p:spTree>
    <p:extLst>
      <p:ext uri="{BB962C8B-B14F-4D97-AF65-F5344CB8AC3E}">
        <p14:creationId xmlns:p14="http://schemas.microsoft.com/office/powerpoint/2010/main" val="26138646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69B65D0-60DF-28F7-989C-2471C2EFBBF8}"/>
              </a:ext>
            </a:extLst>
          </p:cNvPr>
          <p:cNvSpPr txBox="1"/>
          <p:nvPr/>
        </p:nvSpPr>
        <p:spPr>
          <a:xfrm>
            <a:off x="6554272" y="-6503518"/>
            <a:ext cx="5010641"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Trace Structure</a:t>
            </a:r>
          </a:p>
        </p:txBody>
      </p:sp>
      <p:sp>
        <p:nvSpPr>
          <p:cNvPr id="3" name="TextBox 2">
            <a:extLst>
              <a:ext uri="{FF2B5EF4-FFF2-40B4-BE49-F238E27FC236}">
                <a16:creationId xmlns:a16="http://schemas.microsoft.com/office/drawing/2014/main" id="{181125B8-F16F-F1F7-95B3-58F264D5E801}"/>
              </a:ext>
            </a:extLst>
          </p:cNvPr>
          <p:cNvSpPr txBox="1"/>
          <p:nvPr/>
        </p:nvSpPr>
        <p:spPr>
          <a:xfrm>
            <a:off x="1587107" y="-5156963"/>
            <a:ext cx="7472486" cy="3631763"/>
          </a:xfrm>
          <a:prstGeom prst="rect">
            <a:avLst/>
          </a:prstGeom>
          <a:noFill/>
        </p:spPr>
        <p:txBody>
          <a:bodyPr wrap="square">
            <a:spAutoFit/>
          </a:bodyPr>
          <a:lstStyle/>
          <a:p>
            <a:pPr>
              <a:spcAft>
                <a:spcPts val="1200"/>
              </a:spcAft>
            </a:pPr>
            <a:r>
              <a:rPr lang="vi-VN" sz="2000" b="1">
                <a:solidFill>
                  <a:schemeClr val="lt1"/>
                </a:solidFill>
              </a:rPr>
              <a:t>Một Trace duy nhất sẽ có thông tin sau:</a:t>
            </a:r>
          </a:p>
          <a:p>
            <a:pPr marL="342900" indent="-342900">
              <a:spcAft>
                <a:spcPts val="1200"/>
              </a:spcAft>
              <a:buFont typeface="Arial" panose="020B0604020202020204" pitchFamily="34" charset="0"/>
              <a:buChar char="•"/>
            </a:pPr>
            <a:r>
              <a:rPr lang="vi-VN" sz="2000" b="1">
                <a:solidFill>
                  <a:schemeClr val="lt1"/>
                </a:solidFill>
              </a:rPr>
              <a:t>Khởi động PC - PC của lệnh đầu tiên trong dấu vết</a:t>
            </a:r>
          </a:p>
          <a:p>
            <a:pPr marL="342900" indent="-342900">
              <a:spcAft>
                <a:spcPts val="1200"/>
              </a:spcAft>
              <a:buFont typeface="Arial" panose="020B0604020202020204" pitchFamily="34" charset="0"/>
              <a:buChar char="•"/>
            </a:pPr>
            <a:r>
              <a:rPr lang="vi-VN" sz="2000" b="1">
                <a:solidFill>
                  <a:schemeClr val="lt1"/>
                </a:solidFill>
              </a:rPr>
              <a:t>Cờ nhánh - ( khối cơ bản tối đa -1 ) dự đoán nhánh</a:t>
            </a:r>
          </a:p>
          <a:p>
            <a:pPr marL="342900" indent="-342900">
              <a:spcAft>
                <a:spcPts val="1200"/>
              </a:spcAft>
              <a:buFont typeface="Arial" panose="020B0604020202020204" pitchFamily="34" charset="0"/>
              <a:buChar char="•"/>
            </a:pPr>
            <a:r>
              <a:rPr lang="vi-VN" sz="2000" b="1">
                <a:solidFill>
                  <a:schemeClr val="lt1"/>
                </a:solidFill>
              </a:rPr>
              <a:t>Mặt nạ nhánh - số lượng nhánh trong dấu vết và liệu dấu vết có kết thúc trong nhánh hay không</a:t>
            </a:r>
          </a:p>
          <a:p>
            <a:pPr marL="342900" indent="-342900">
              <a:spcAft>
                <a:spcPts val="1200"/>
              </a:spcAft>
              <a:buFont typeface="Arial" panose="020B0604020202020204" pitchFamily="34" charset="0"/>
              <a:buChar char="•"/>
            </a:pPr>
            <a:r>
              <a:rPr lang="vi-VN" sz="2000" b="1">
                <a:solidFill>
                  <a:schemeClr val="lt1"/>
                </a:solidFill>
              </a:rPr>
              <a:t>Dấu vết rơi qua - PC tiếp theo nếu lệnh cuối cùng không được thực hiện nhánh hoặc không phải là nhánh</a:t>
            </a:r>
          </a:p>
          <a:p>
            <a:br>
              <a:rPr lang="vi-VN" sz="2000"/>
            </a:br>
            <a:endParaRPr lang="vi-VN" sz="2000" b="1">
              <a:solidFill>
                <a:schemeClr val="lt1"/>
              </a:solidFill>
            </a:endParaRPr>
          </a:p>
        </p:txBody>
      </p:sp>
      <p:sp>
        <p:nvSpPr>
          <p:cNvPr id="2" name="TextBox 1">
            <a:extLst>
              <a:ext uri="{FF2B5EF4-FFF2-40B4-BE49-F238E27FC236}">
                <a16:creationId xmlns:a16="http://schemas.microsoft.com/office/drawing/2014/main" id="{D94A0ABD-68E5-CAE0-148F-A9833010BB86}"/>
              </a:ext>
            </a:extLst>
          </p:cNvPr>
          <p:cNvSpPr txBox="1"/>
          <p:nvPr/>
        </p:nvSpPr>
        <p:spPr>
          <a:xfrm>
            <a:off x="6554272" y="755414"/>
            <a:ext cx="5010641"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Trace Chaining</a:t>
            </a:r>
          </a:p>
        </p:txBody>
      </p:sp>
      <p:sp>
        <p:nvSpPr>
          <p:cNvPr id="4" name="Rectangle: Rounded Corners 3">
            <a:extLst>
              <a:ext uri="{FF2B5EF4-FFF2-40B4-BE49-F238E27FC236}">
                <a16:creationId xmlns:a16="http://schemas.microsoft.com/office/drawing/2014/main" id="{CB499C64-E8D9-DF55-4523-8646EB591859}"/>
              </a:ext>
            </a:extLst>
          </p:cNvPr>
          <p:cNvSpPr/>
          <p:nvPr/>
        </p:nvSpPr>
        <p:spPr>
          <a:xfrm>
            <a:off x="2026636" y="1543391"/>
            <a:ext cx="8138728" cy="415482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400" b="1"/>
              <a:t>Trace chaining là một kỹ thuật được sử dụng trong vi xử lý để tăng hiệu suất đọc dữ liệu bằng cách cho phép Trace Cache lấy thành phần chung giữa nhiều luồng thực thi và kết hợp chúng thành một Trace Cache lớn hơn. Trace chaining sử dụng một cơ chế gọi là hybrid chaining để phủ nhận các trường hợp mà các trace không thể được kết hợp trong cùng một Trace Cache. Nó phù hợp với hệ thống đa luồng, nơi nhiều luồng có thể chia sẻ các trace được lưu trữ trong Trace Cache.</a:t>
            </a:r>
          </a:p>
        </p:txBody>
      </p:sp>
      <p:sp>
        <p:nvSpPr>
          <p:cNvPr id="5" name="Rectangle: Rounded Corners 4">
            <a:extLst>
              <a:ext uri="{FF2B5EF4-FFF2-40B4-BE49-F238E27FC236}">
                <a16:creationId xmlns:a16="http://schemas.microsoft.com/office/drawing/2014/main" id="{0362FBA7-1476-5EA7-936C-2351D268A61B}"/>
              </a:ext>
            </a:extLst>
          </p:cNvPr>
          <p:cNvSpPr/>
          <p:nvPr/>
        </p:nvSpPr>
        <p:spPr>
          <a:xfrm>
            <a:off x="1229985" y="7793504"/>
            <a:ext cx="4129805" cy="3466060"/>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Trace chaining bao gồm trace cache và bộ nhớ cache. Trace cache lưu trữ các trace được sử dụng thường xuyên của các luồng thực thi, trong khi đó bộ nhớ cache là nơi các dữ liệu được lưu trữ tạm thời để truy cập nhanh chóng.</a:t>
            </a:r>
          </a:p>
        </p:txBody>
      </p:sp>
      <p:sp>
        <p:nvSpPr>
          <p:cNvPr id="6" name="Rectangle: Rounded Corners 5">
            <a:extLst>
              <a:ext uri="{FF2B5EF4-FFF2-40B4-BE49-F238E27FC236}">
                <a16:creationId xmlns:a16="http://schemas.microsoft.com/office/drawing/2014/main" id="{306CDC3B-1119-7209-827F-C8541D02617A}"/>
              </a:ext>
            </a:extLst>
          </p:cNvPr>
          <p:cNvSpPr/>
          <p:nvPr/>
        </p:nvSpPr>
        <p:spPr>
          <a:xfrm>
            <a:off x="6058487" y="7793504"/>
            <a:ext cx="4875392" cy="998806"/>
          </a:xfrm>
          <a:prstGeom prst="roundRect">
            <a:avLst/>
          </a:prstGeom>
          <a:solidFill>
            <a:schemeClr val="tx2">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Tối ưu hoá việc sử dụng tài nguyên với sự cộng tác giữa trace cache và bộ nhớ cache</a:t>
            </a:r>
          </a:p>
        </p:txBody>
      </p:sp>
      <p:sp>
        <p:nvSpPr>
          <p:cNvPr id="7" name="Rectangle: Rounded Corners 6">
            <a:extLst>
              <a:ext uri="{FF2B5EF4-FFF2-40B4-BE49-F238E27FC236}">
                <a16:creationId xmlns:a16="http://schemas.microsoft.com/office/drawing/2014/main" id="{236591B1-2E01-BB87-F471-F73B2E14F7E7}"/>
              </a:ext>
            </a:extLst>
          </p:cNvPr>
          <p:cNvSpPr/>
          <p:nvPr/>
        </p:nvSpPr>
        <p:spPr>
          <a:xfrm>
            <a:off x="6081932" y="9052563"/>
            <a:ext cx="4875392" cy="998806"/>
          </a:xfrm>
          <a:prstGeom prst="roundRect">
            <a:avLst/>
          </a:prstGeom>
          <a:solidFill>
            <a:schemeClr val="tx2">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Cải thiện tính đa luồng, giúp các thread khác nhau sử dụng được các trace của nhau</a:t>
            </a:r>
          </a:p>
        </p:txBody>
      </p:sp>
      <p:sp>
        <p:nvSpPr>
          <p:cNvPr id="8" name="Rectangle: Rounded Corners 7">
            <a:extLst>
              <a:ext uri="{FF2B5EF4-FFF2-40B4-BE49-F238E27FC236}">
                <a16:creationId xmlns:a16="http://schemas.microsoft.com/office/drawing/2014/main" id="{21840A16-99D7-53F2-032F-CEFD09AC212E}"/>
              </a:ext>
            </a:extLst>
          </p:cNvPr>
          <p:cNvSpPr/>
          <p:nvPr/>
        </p:nvSpPr>
        <p:spPr>
          <a:xfrm>
            <a:off x="6081932" y="10511845"/>
            <a:ext cx="4875392" cy="1403492"/>
          </a:xfrm>
          <a:prstGeom prst="roundRect">
            <a:avLst/>
          </a:prstGeom>
          <a:solidFill>
            <a:schemeClr val="tx2">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Tuy nhiên, các trace phải được lưu trữ trong cache một cách liên tục để tránh pháp tuyến tính khi các trace không đủ liên tục với nhau.</a:t>
            </a:r>
          </a:p>
        </p:txBody>
      </p:sp>
    </p:spTree>
    <p:extLst>
      <p:ext uri="{BB962C8B-B14F-4D97-AF65-F5344CB8AC3E}">
        <p14:creationId xmlns:p14="http://schemas.microsoft.com/office/powerpoint/2010/main" val="4636721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4A0ABD-68E5-CAE0-148F-A9833010BB86}"/>
              </a:ext>
            </a:extLst>
          </p:cNvPr>
          <p:cNvSpPr txBox="1"/>
          <p:nvPr/>
        </p:nvSpPr>
        <p:spPr>
          <a:xfrm>
            <a:off x="6554272" y="755414"/>
            <a:ext cx="5010641"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Trace Chaining</a:t>
            </a:r>
          </a:p>
        </p:txBody>
      </p:sp>
      <p:sp>
        <p:nvSpPr>
          <p:cNvPr id="4" name="Rectangle: Rounded Corners 3">
            <a:extLst>
              <a:ext uri="{FF2B5EF4-FFF2-40B4-BE49-F238E27FC236}">
                <a16:creationId xmlns:a16="http://schemas.microsoft.com/office/drawing/2014/main" id="{CB499C64-E8D9-DF55-4523-8646EB591859}"/>
              </a:ext>
            </a:extLst>
          </p:cNvPr>
          <p:cNvSpPr/>
          <p:nvPr/>
        </p:nvSpPr>
        <p:spPr>
          <a:xfrm>
            <a:off x="2026636" y="-5856218"/>
            <a:ext cx="8138728" cy="415482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400" b="1"/>
              <a:t>Trace chaining là một kỹ thuật được sử dụng trong vi xử lý để tăng hiệu suất đọc dữ liệu bằng cách cho phép Trace Cache lấy thành phần chung giữa nhiều luồng thực thi và kết hợp chúng thành một Trace Cache lớn hơn. Trace chaining sử dụng một cơ chế gọi là hybrid chaining để phủ nhận các trường hợp mà các trace không thể được kết hợp trong cùng một Trace Cache. Nó phù hợp với hệ thống đa luồng, nơi nhiều luồng có thể chia sẻ các trace được lưu trữ trong Trace Cache.</a:t>
            </a:r>
          </a:p>
        </p:txBody>
      </p:sp>
      <p:sp>
        <p:nvSpPr>
          <p:cNvPr id="5" name="Rectangle: Rounded Corners 4">
            <a:extLst>
              <a:ext uri="{FF2B5EF4-FFF2-40B4-BE49-F238E27FC236}">
                <a16:creationId xmlns:a16="http://schemas.microsoft.com/office/drawing/2014/main" id="{F78436BB-C951-4AFB-410B-E0A371A016C8}"/>
              </a:ext>
            </a:extLst>
          </p:cNvPr>
          <p:cNvSpPr/>
          <p:nvPr/>
        </p:nvSpPr>
        <p:spPr>
          <a:xfrm>
            <a:off x="1244053" y="1800665"/>
            <a:ext cx="4129805" cy="3466060"/>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Trace chaining bao gồm trace cache và bộ nhớ cache. Trace cache lưu trữ các trace được sử dụng thường xuyên của các luồng thực thi, trong khi đó bộ nhớ cache là nơi các dữ liệu được lưu trữ tạm thời để truy cập nhanh chóng.</a:t>
            </a:r>
          </a:p>
        </p:txBody>
      </p:sp>
      <p:sp>
        <p:nvSpPr>
          <p:cNvPr id="6" name="Rectangle: Rounded Corners 5">
            <a:extLst>
              <a:ext uri="{FF2B5EF4-FFF2-40B4-BE49-F238E27FC236}">
                <a16:creationId xmlns:a16="http://schemas.microsoft.com/office/drawing/2014/main" id="{4E698836-DCF7-186D-D7C6-53627A916512}"/>
              </a:ext>
            </a:extLst>
          </p:cNvPr>
          <p:cNvSpPr/>
          <p:nvPr/>
        </p:nvSpPr>
        <p:spPr>
          <a:xfrm>
            <a:off x="6072555" y="1800665"/>
            <a:ext cx="4875392" cy="998806"/>
          </a:xfrm>
          <a:prstGeom prst="roundRect">
            <a:avLst/>
          </a:prstGeom>
          <a:solidFill>
            <a:schemeClr val="tx2">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Tối ưu hoá việc sử dụng tài nguyên với sự cộng tác giữa trace cache và bộ nhớ cache</a:t>
            </a:r>
          </a:p>
        </p:txBody>
      </p:sp>
      <p:sp>
        <p:nvSpPr>
          <p:cNvPr id="7" name="Rectangle: Rounded Corners 6">
            <a:extLst>
              <a:ext uri="{FF2B5EF4-FFF2-40B4-BE49-F238E27FC236}">
                <a16:creationId xmlns:a16="http://schemas.microsoft.com/office/drawing/2014/main" id="{9CEED98C-D0CB-DEFB-ECFA-8454AB0834E1}"/>
              </a:ext>
            </a:extLst>
          </p:cNvPr>
          <p:cNvSpPr/>
          <p:nvPr/>
        </p:nvSpPr>
        <p:spPr>
          <a:xfrm>
            <a:off x="6096000" y="3059724"/>
            <a:ext cx="4875392" cy="998806"/>
          </a:xfrm>
          <a:prstGeom prst="roundRect">
            <a:avLst/>
          </a:prstGeom>
          <a:solidFill>
            <a:schemeClr val="tx2">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Cải thiện tính đa luồng, giúp các thread khác nhau sử dụng được các trace của nhau</a:t>
            </a:r>
          </a:p>
        </p:txBody>
      </p:sp>
      <p:sp>
        <p:nvSpPr>
          <p:cNvPr id="8" name="Rectangle: Rounded Corners 7">
            <a:extLst>
              <a:ext uri="{FF2B5EF4-FFF2-40B4-BE49-F238E27FC236}">
                <a16:creationId xmlns:a16="http://schemas.microsoft.com/office/drawing/2014/main" id="{033E5F56-182D-AF5E-B59B-818EC58B43B7}"/>
              </a:ext>
            </a:extLst>
          </p:cNvPr>
          <p:cNvSpPr/>
          <p:nvPr/>
        </p:nvSpPr>
        <p:spPr>
          <a:xfrm>
            <a:off x="6096000" y="4519006"/>
            <a:ext cx="4875392" cy="1403492"/>
          </a:xfrm>
          <a:prstGeom prst="roundRect">
            <a:avLst/>
          </a:prstGeom>
          <a:solidFill>
            <a:schemeClr val="tx2">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Tuy nhiên, các trace phải được lưu trữ trong cache một cách liên tục để tránh pháp tuyến tính khi các trace không đủ liên tục với nhau.</a:t>
            </a:r>
          </a:p>
        </p:txBody>
      </p:sp>
      <p:sp>
        <p:nvSpPr>
          <p:cNvPr id="10" name="Rectangle: Rounded Corners 9">
            <a:extLst>
              <a:ext uri="{FF2B5EF4-FFF2-40B4-BE49-F238E27FC236}">
                <a16:creationId xmlns:a16="http://schemas.microsoft.com/office/drawing/2014/main" id="{0BA95423-E931-E9B2-3B8C-E3065A1E3157}"/>
              </a:ext>
            </a:extLst>
          </p:cNvPr>
          <p:cNvSpPr/>
          <p:nvPr/>
        </p:nvSpPr>
        <p:spPr>
          <a:xfrm>
            <a:off x="1244053" y="8160230"/>
            <a:ext cx="8378249" cy="998806"/>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Trace chaining là một kỹ thuật được sử dụng trong vi xử lý để tăng hiệu suất đọc dữ liệu. Trace chaining giúp nâng cao hiệu suất của hệ thống máy tính</a:t>
            </a:r>
          </a:p>
        </p:txBody>
      </p:sp>
      <p:sp>
        <p:nvSpPr>
          <p:cNvPr id="11" name="Rectangle: Rounded Corners 10">
            <a:extLst>
              <a:ext uri="{FF2B5EF4-FFF2-40B4-BE49-F238E27FC236}">
                <a16:creationId xmlns:a16="http://schemas.microsoft.com/office/drawing/2014/main" id="{943F2545-371F-F048-9A57-D454147203C0}"/>
              </a:ext>
            </a:extLst>
          </p:cNvPr>
          <p:cNvSpPr/>
          <p:nvPr/>
        </p:nvSpPr>
        <p:spPr>
          <a:xfrm>
            <a:off x="1244053" y="9419289"/>
            <a:ext cx="8378249" cy="998806"/>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Trace chaining có vai trò quan trọng trong tối ưu hiệu suất của hệ thống máy tính</a:t>
            </a:r>
          </a:p>
        </p:txBody>
      </p:sp>
      <p:sp>
        <p:nvSpPr>
          <p:cNvPr id="12" name="Rectangle: Rounded Corners 11">
            <a:extLst>
              <a:ext uri="{FF2B5EF4-FFF2-40B4-BE49-F238E27FC236}">
                <a16:creationId xmlns:a16="http://schemas.microsoft.com/office/drawing/2014/main" id="{0ADE64F2-D97E-E477-81EC-8F2FE4B5F573}"/>
              </a:ext>
            </a:extLst>
          </p:cNvPr>
          <p:cNvSpPr/>
          <p:nvPr/>
        </p:nvSpPr>
        <p:spPr>
          <a:xfrm>
            <a:off x="1244053" y="11153176"/>
            <a:ext cx="8378248" cy="998806"/>
          </a:xfrm>
          <a:prstGeom prst="roundRect">
            <a:avLst/>
          </a:prstGeom>
          <a:solidFill>
            <a:schemeClr val="tx2">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Vì vậy, trace chaining được áp dụng rất nhiều trong các vi xử lý hiện đại nhằm nâng cao hiệu suất và tối ưu hoá việc sử dụng tài nguyên của hệ thống.</a:t>
            </a:r>
          </a:p>
        </p:txBody>
      </p:sp>
    </p:spTree>
    <p:extLst>
      <p:ext uri="{BB962C8B-B14F-4D97-AF65-F5344CB8AC3E}">
        <p14:creationId xmlns:p14="http://schemas.microsoft.com/office/powerpoint/2010/main" val="30897852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4A0ABD-68E5-CAE0-148F-A9833010BB86}"/>
              </a:ext>
            </a:extLst>
          </p:cNvPr>
          <p:cNvSpPr txBox="1"/>
          <p:nvPr/>
        </p:nvSpPr>
        <p:spPr>
          <a:xfrm>
            <a:off x="6554272" y="755414"/>
            <a:ext cx="5010641"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Trace Chaining</a:t>
            </a:r>
          </a:p>
        </p:txBody>
      </p:sp>
      <p:sp>
        <p:nvSpPr>
          <p:cNvPr id="5" name="Rectangle: Rounded Corners 4">
            <a:extLst>
              <a:ext uri="{FF2B5EF4-FFF2-40B4-BE49-F238E27FC236}">
                <a16:creationId xmlns:a16="http://schemas.microsoft.com/office/drawing/2014/main" id="{F78436BB-C951-4AFB-410B-E0A371A016C8}"/>
              </a:ext>
            </a:extLst>
          </p:cNvPr>
          <p:cNvSpPr/>
          <p:nvPr/>
        </p:nvSpPr>
        <p:spPr>
          <a:xfrm>
            <a:off x="1244053" y="-4614205"/>
            <a:ext cx="4129805" cy="3466060"/>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Trace chaining bao gồm trace cache và bộ nhớ cache. Trace cache lưu trữ các trace được sử dụng thường xuyên của các luồng thực thi, trong khi đó bộ nhớ cache là nơi các dữ liệu được lưu trữ tạm thời để truy cập nhanh chóng.</a:t>
            </a:r>
          </a:p>
        </p:txBody>
      </p:sp>
      <p:sp>
        <p:nvSpPr>
          <p:cNvPr id="6" name="Rectangle: Rounded Corners 5">
            <a:extLst>
              <a:ext uri="{FF2B5EF4-FFF2-40B4-BE49-F238E27FC236}">
                <a16:creationId xmlns:a16="http://schemas.microsoft.com/office/drawing/2014/main" id="{4E698836-DCF7-186D-D7C6-53627A916512}"/>
              </a:ext>
            </a:extLst>
          </p:cNvPr>
          <p:cNvSpPr/>
          <p:nvPr/>
        </p:nvSpPr>
        <p:spPr>
          <a:xfrm>
            <a:off x="6072555" y="-5458267"/>
            <a:ext cx="4875392" cy="998806"/>
          </a:xfrm>
          <a:prstGeom prst="roundRect">
            <a:avLst/>
          </a:prstGeom>
          <a:solidFill>
            <a:schemeClr val="tx2">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Tối ưu hoá việc sử dụng tài nguyên với sự cộng tác giữa trace cache và bộ nhớ cache</a:t>
            </a:r>
          </a:p>
        </p:txBody>
      </p:sp>
      <p:sp>
        <p:nvSpPr>
          <p:cNvPr id="7" name="Rectangle: Rounded Corners 6">
            <a:extLst>
              <a:ext uri="{FF2B5EF4-FFF2-40B4-BE49-F238E27FC236}">
                <a16:creationId xmlns:a16="http://schemas.microsoft.com/office/drawing/2014/main" id="{9CEED98C-D0CB-DEFB-ECFA-8454AB0834E1}"/>
              </a:ext>
            </a:extLst>
          </p:cNvPr>
          <p:cNvSpPr/>
          <p:nvPr/>
        </p:nvSpPr>
        <p:spPr>
          <a:xfrm>
            <a:off x="6096000" y="-4199208"/>
            <a:ext cx="4875392" cy="998806"/>
          </a:xfrm>
          <a:prstGeom prst="roundRect">
            <a:avLst/>
          </a:prstGeom>
          <a:solidFill>
            <a:schemeClr val="tx2">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Cải thiện tính đa luồng, giúp các thread khác nhau sử dụng được các trace của nhau</a:t>
            </a:r>
          </a:p>
        </p:txBody>
      </p:sp>
      <p:sp>
        <p:nvSpPr>
          <p:cNvPr id="8" name="Rectangle: Rounded Corners 7">
            <a:extLst>
              <a:ext uri="{FF2B5EF4-FFF2-40B4-BE49-F238E27FC236}">
                <a16:creationId xmlns:a16="http://schemas.microsoft.com/office/drawing/2014/main" id="{033E5F56-182D-AF5E-B59B-818EC58B43B7}"/>
              </a:ext>
            </a:extLst>
          </p:cNvPr>
          <p:cNvSpPr/>
          <p:nvPr/>
        </p:nvSpPr>
        <p:spPr>
          <a:xfrm>
            <a:off x="6096000" y="-2739926"/>
            <a:ext cx="4875392" cy="1403492"/>
          </a:xfrm>
          <a:prstGeom prst="roundRect">
            <a:avLst/>
          </a:prstGeom>
          <a:solidFill>
            <a:schemeClr val="tx2">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Tuy nhiên, các trace phải được lưu trữ trong cache một cách liên tục để tránh pháp tuyến tính khi các trace không đủ liên tục với nhau.</a:t>
            </a:r>
          </a:p>
        </p:txBody>
      </p:sp>
      <p:sp>
        <p:nvSpPr>
          <p:cNvPr id="3" name="Rectangle: Rounded Corners 2">
            <a:extLst>
              <a:ext uri="{FF2B5EF4-FFF2-40B4-BE49-F238E27FC236}">
                <a16:creationId xmlns:a16="http://schemas.microsoft.com/office/drawing/2014/main" id="{336C9A8F-6CEE-1B54-3B2E-B68221F6631D}"/>
              </a:ext>
            </a:extLst>
          </p:cNvPr>
          <p:cNvSpPr/>
          <p:nvPr/>
        </p:nvSpPr>
        <p:spPr>
          <a:xfrm>
            <a:off x="1244053" y="1886037"/>
            <a:ext cx="8378249" cy="998806"/>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Trace chaining là một kỹ thuật được sử dụng trong vi xử lý để tăng hiệu suất đọc dữ liệu. Trace chaining giúp nâng cao hiệu suất của hệ thống máy tính</a:t>
            </a:r>
          </a:p>
        </p:txBody>
      </p:sp>
      <p:sp>
        <p:nvSpPr>
          <p:cNvPr id="9" name="Rectangle: Rounded Corners 8">
            <a:extLst>
              <a:ext uri="{FF2B5EF4-FFF2-40B4-BE49-F238E27FC236}">
                <a16:creationId xmlns:a16="http://schemas.microsoft.com/office/drawing/2014/main" id="{8707A13C-3623-89D0-64FD-5418C3A9E391}"/>
              </a:ext>
            </a:extLst>
          </p:cNvPr>
          <p:cNvSpPr/>
          <p:nvPr/>
        </p:nvSpPr>
        <p:spPr>
          <a:xfrm>
            <a:off x="1244053" y="3145096"/>
            <a:ext cx="8378249" cy="998806"/>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Trace chaining có vai trò quan trọng trong tối ưu hiệu suất của hệ thống máy tính</a:t>
            </a:r>
          </a:p>
        </p:txBody>
      </p:sp>
      <p:sp>
        <p:nvSpPr>
          <p:cNvPr id="10" name="Rectangle: Rounded Corners 9">
            <a:extLst>
              <a:ext uri="{FF2B5EF4-FFF2-40B4-BE49-F238E27FC236}">
                <a16:creationId xmlns:a16="http://schemas.microsoft.com/office/drawing/2014/main" id="{2F2741F4-EA8C-663F-84A7-62CA8178079D}"/>
              </a:ext>
            </a:extLst>
          </p:cNvPr>
          <p:cNvSpPr/>
          <p:nvPr/>
        </p:nvSpPr>
        <p:spPr>
          <a:xfrm>
            <a:off x="1244053" y="4878983"/>
            <a:ext cx="8378248" cy="998806"/>
          </a:xfrm>
          <a:prstGeom prst="roundRect">
            <a:avLst/>
          </a:prstGeom>
          <a:solidFill>
            <a:schemeClr val="tx2">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Vì vậy, trace chaining được áp dụng rất nhiều trong các vi xử lý hiện đại nhằm nâng cao hiệu suất và tối ưu hoá việc sử dụng tài nguyên của hệ thống.</a:t>
            </a:r>
          </a:p>
        </p:txBody>
      </p:sp>
      <p:sp>
        <p:nvSpPr>
          <p:cNvPr id="11" name="TextBox 10">
            <a:extLst>
              <a:ext uri="{FF2B5EF4-FFF2-40B4-BE49-F238E27FC236}">
                <a16:creationId xmlns:a16="http://schemas.microsoft.com/office/drawing/2014/main" id="{0C022C9D-36ED-F57D-F7F0-E98DAC3230C7}"/>
              </a:ext>
            </a:extLst>
          </p:cNvPr>
          <p:cNvSpPr txBox="1"/>
          <p:nvPr/>
        </p:nvSpPr>
        <p:spPr>
          <a:xfrm>
            <a:off x="1587107" y="7747403"/>
            <a:ext cx="7472486" cy="2708434"/>
          </a:xfrm>
          <a:prstGeom prst="rect">
            <a:avLst/>
          </a:prstGeom>
          <a:noFill/>
        </p:spPr>
        <p:txBody>
          <a:bodyPr wrap="square">
            <a:spAutoFit/>
          </a:bodyPr>
          <a:lstStyle/>
          <a:p>
            <a:pPr>
              <a:spcBef>
                <a:spcPts val="0"/>
              </a:spcBef>
              <a:spcAft>
                <a:spcPts val="1200"/>
              </a:spcAft>
            </a:pPr>
            <a:r>
              <a:rPr lang="vi-VN" sz="2000" b="1">
                <a:solidFill>
                  <a:schemeClr val="lt1"/>
                </a:solidFill>
              </a:rPr>
              <a:t>Các bước thực hiện Trace Chaining thường bao gồm:</a:t>
            </a:r>
            <a:endParaRPr lang="en-US" sz="2000" b="1">
              <a:solidFill>
                <a:schemeClr val="lt1"/>
              </a:solidFill>
            </a:endParaRPr>
          </a:p>
          <a:p>
            <a:pPr marL="342900" indent="-342900">
              <a:spcBef>
                <a:spcPts val="0"/>
              </a:spcBef>
              <a:spcAft>
                <a:spcPts val="1200"/>
              </a:spcAft>
              <a:buFont typeface="Arial" panose="020B0604020202020204" pitchFamily="34" charset="0"/>
              <a:buChar char="•"/>
            </a:pPr>
            <a:r>
              <a:rPr lang="vi-VN" sz="2000" b="1">
                <a:solidFill>
                  <a:schemeClr val="lt1"/>
                </a:solidFill>
              </a:rPr>
              <a:t>C</a:t>
            </a:r>
            <a:r>
              <a:rPr lang="en-US" sz="2000" b="1">
                <a:solidFill>
                  <a:schemeClr val="lt1"/>
                </a:solidFill>
              </a:rPr>
              <a:t>h</a:t>
            </a:r>
            <a:r>
              <a:rPr lang="vi-VN" sz="2000" b="1">
                <a:solidFill>
                  <a:schemeClr val="lt1"/>
                </a:solidFill>
              </a:rPr>
              <a:t>ạy chương trình và ghi lại dữ liệu về các trace được thực thi (trace logging).</a:t>
            </a:r>
            <a:endParaRPr lang="en-US" sz="2000" b="1">
              <a:solidFill>
                <a:schemeClr val="lt1"/>
              </a:solidFill>
            </a:endParaRPr>
          </a:p>
          <a:p>
            <a:pPr marL="342900" indent="-342900">
              <a:spcAft>
                <a:spcPts val="1200"/>
              </a:spcAft>
              <a:buFont typeface="Arial" panose="020B0604020202020204" pitchFamily="34" charset="0"/>
              <a:buChar char="•"/>
            </a:pPr>
            <a:r>
              <a:rPr lang="vi-VN" sz="2000" b="1">
                <a:solidFill>
                  <a:schemeClr val="lt1"/>
                </a:solidFill>
              </a:rPr>
              <a:t>Tạo ra một đoạn mã mới kết hợp các trace được thực hiện nhiều lần (trace stitching / chaining).</a:t>
            </a:r>
          </a:p>
          <a:p>
            <a:pPr marL="342900" indent="-342900">
              <a:spcAft>
                <a:spcPts val="1200"/>
              </a:spcAft>
              <a:buFont typeface="Arial" panose="020B0604020202020204" pitchFamily="34" charset="0"/>
              <a:buChar char="•"/>
            </a:pPr>
            <a:r>
              <a:rPr lang="en-US" sz="2000" b="1">
                <a:solidFill>
                  <a:schemeClr val="lt1"/>
                </a:solidFill>
                <a:latin typeface="Arial" panose="020B0604020202020204" pitchFamily="34" charset="0"/>
                <a:cs typeface="Arial" panose="020B0604020202020204" pitchFamily="34" charset="0"/>
              </a:rPr>
              <a:t>Thực thi đoạn mã mới để đảm bảo tính đúng đắn và hiệu năng.</a:t>
            </a:r>
            <a:endParaRPr lang="vi-VN" sz="2000" b="1">
              <a:solidFill>
                <a:schemeClr val="lt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566530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4A0ABD-68E5-CAE0-148F-A9833010BB86}"/>
              </a:ext>
            </a:extLst>
          </p:cNvPr>
          <p:cNvSpPr txBox="1"/>
          <p:nvPr/>
        </p:nvSpPr>
        <p:spPr>
          <a:xfrm>
            <a:off x="6554272" y="755414"/>
            <a:ext cx="5010641"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Trace Chaining</a:t>
            </a:r>
          </a:p>
        </p:txBody>
      </p:sp>
      <p:sp>
        <p:nvSpPr>
          <p:cNvPr id="3" name="Rectangle: Rounded Corners 2">
            <a:extLst>
              <a:ext uri="{FF2B5EF4-FFF2-40B4-BE49-F238E27FC236}">
                <a16:creationId xmlns:a16="http://schemas.microsoft.com/office/drawing/2014/main" id="{336C9A8F-6CEE-1B54-3B2E-B68221F6631D}"/>
              </a:ext>
            </a:extLst>
          </p:cNvPr>
          <p:cNvSpPr/>
          <p:nvPr/>
        </p:nvSpPr>
        <p:spPr>
          <a:xfrm>
            <a:off x="1244053" y="-4673799"/>
            <a:ext cx="8378249" cy="998806"/>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Trace chaining là một kỹ thuật được sử dụng trong vi xử lý để tăng hiệu suất đọc dữ liệu. Trace chaining giúp nâng cao hiệu suất của hệ thống máy tính</a:t>
            </a:r>
          </a:p>
        </p:txBody>
      </p:sp>
      <p:sp>
        <p:nvSpPr>
          <p:cNvPr id="9" name="Rectangle: Rounded Corners 8">
            <a:extLst>
              <a:ext uri="{FF2B5EF4-FFF2-40B4-BE49-F238E27FC236}">
                <a16:creationId xmlns:a16="http://schemas.microsoft.com/office/drawing/2014/main" id="{8707A13C-3623-89D0-64FD-5418C3A9E391}"/>
              </a:ext>
            </a:extLst>
          </p:cNvPr>
          <p:cNvSpPr/>
          <p:nvPr/>
        </p:nvSpPr>
        <p:spPr>
          <a:xfrm>
            <a:off x="1244053" y="-3414740"/>
            <a:ext cx="8378249" cy="998806"/>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Trace chaining có vai trò quan trọng trong tối ưu hiệu suất của hệ thống máy tính</a:t>
            </a:r>
          </a:p>
        </p:txBody>
      </p:sp>
      <p:sp>
        <p:nvSpPr>
          <p:cNvPr id="10" name="Rectangle: Rounded Corners 9">
            <a:extLst>
              <a:ext uri="{FF2B5EF4-FFF2-40B4-BE49-F238E27FC236}">
                <a16:creationId xmlns:a16="http://schemas.microsoft.com/office/drawing/2014/main" id="{2F2741F4-EA8C-663F-84A7-62CA8178079D}"/>
              </a:ext>
            </a:extLst>
          </p:cNvPr>
          <p:cNvSpPr/>
          <p:nvPr/>
        </p:nvSpPr>
        <p:spPr>
          <a:xfrm>
            <a:off x="1244053" y="-1680853"/>
            <a:ext cx="8378248" cy="998806"/>
          </a:xfrm>
          <a:prstGeom prst="roundRect">
            <a:avLst/>
          </a:prstGeom>
          <a:solidFill>
            <a:schemeClr val="tx2">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Vì vậy, trace chaining được áp dụng rất nhiều trong các vi xử lý hiện đại nhằm nâng cao hiệu suất và tối ưu hoá việc sử dụng tài nguyên của hệ thống.</a:t>
            </a:r>
          </a:p>
        </p:txBody>
      </p:sp>
      <p:sp>
        <p:nvSpPr>
          <p:cNvPr id="4" name="TextBox 3">
            <a:extLst>
              <a:ext uri="{FF2B5EF4-FFF2-40B4-BE49-F238E27FC236}">
                <a16:creationId xmlns:a16="http://schemas.microsoft.com/office/drawing/2014/main" id="{8959AD17-ED3F-6518-526E-B58110212DC4}"/>
              </a:ext>
            </a:extLst>
          </p:cNvPr>
          <p:cNvSpPr txBox="1"/>
          <p:nvPr/>
        </p:nvSpPr>
        <p:spPr>
          <a:xfrm>
            <a:off x="1587107" y="2101969"/>
            <a:ext cx="7472486" cy="2708434"/>
          </a:xfrm>
          <a:prstGeom prst="rect">
            <a:avLst/>
          </a:prstGeom>
          <a:noFill/>
        </p:spPr>
        <p:txBody>
          <a:bodyPr wrap="square">
            <a:spAutoFit/>
          </a:bodyPr>
          <a:lstStyle/>
          <a:p>
            <a:pPr>
              <a:spcBef>
                <a:spcPts val="0"/>
              </a:spcBef>
              <a:spcAft>
                <a:spcPts val="1200"/>
              </a:spcAft>
            </a:pPr>
            <a:r>
              <a:rPr lang="vi-VN" sz="2000" b="1">
                <a:solidFill>
                  <a:schemeClr val="lt1"/>
                </a:solidFill>
              </a:rPr>
              <a:t>Các bước thực hiện Trace Chaining thường bao gồm:</a:t>
            </a:r>
            <a:endParaRPr lang="en-US" sz="2000" b="1">
              <a:solidFill>
                <a:schemeClr val="lt1"/>
              </a:solidFill>
            </a:endParaRPr>
          </a:p>
          <a:p>
            <a:pPr marL="342900" indent="-342900">
              <a:spcBef>
                <a:spcPts val="0"/>
              </a:spcBef>
              <a:spcAft>
                <a:spcPts val="1200"/>
              </a:spcAft>
              <a:buFont typeface="Arial" panose="020B0604020202020204" pitchFamily="34" charset="0"/>
              <a:buChar char="•"/>
            </a:pPr>
            <a:r>
              <a:rPr lang="vi-VN" sz="2000" b="1">
                <a:solidFill>
                  <a:schemeClr val="lt1"/>
                </a:solidFill>
              </a:rPr>
              <a:t>C</a:t>
            </a:r>
            <a:r>
              <a:rPr lang="en-US" sz="2000" b="1">
                <a:solidFill>
                  <a:schemeClr val="lt1"/>
                </a:solidFill>
              </a:rPr>
              <a:t>h</a:t>
            </a:r>
            <a:r>
              <a:rPr lang="vi-VN" sz="2000" b="1">
                <a:solidFill>
                  <a:schemeClr val="lt1"/>
                </a:solidFill>
              </a:rPr>
              <a:t>ạy chương trình và ghi lại dữ liệu về các trace được thực thi (trace logging).</a:t>
            </a:r>
            <a:endParaRPr lang="en-US" sz="2000" b="1">
              <a:solidFill>
                <a:schemeClr val="lt1"/>
              </a:solidFill>
            </a:endParaRPr>
          </a:p>
          <a:p>
            <a:pPr marL="342900" indent="-342900">
              <a:spcAft>
                <a:spcPts val="1200"/>
              </a:spcAft>
              <a:buFont typeface="Arial" panose="020B0604020202020204" pitchFamily="34" charset="0"/>
              <a:buChar char="•"/>
            </a:pPr>
            <a:r>
              <a:rPr lang="vi-VN" sz="2000" b="1">
                <a:solidFill>
                  <a:schemeClr val="lt1"/>
                </a:solidFill>
              </a:rPr>
              <a:t>Tạo ra một đoạn mã mới kết hợp các trace được thực hiện nhiều lần (trace stitching / chaining).</a:t>
            </a:r>
          </a:p>
          <a:p>
            <a:pPr marL="342900" indent="-342900">
              <a:spcAft>
                <a:spcPts val="1200"/>
              </a:spcAft>
              <a:buFont typeface="Arial" panose="020B0604020202020204" pitchFamily="34" charset="0"/>
              <a:buChar char="•"/>
            </a:pPr>
            <a:r>
              <a:rPr lang="en-US" sz="2000" b="1">
                <a:solidFill>
                  <a:schemeClr val="lt1"/>
                </a:solidFill>
                <a:latin typeface="Arial" panose="020B0604020202020204" pitchFamily="34" charset="0"/>
                <a:cs typeface="Arial" panose="020B0604020202020204" pitchFamily="34" charset="0"/>
              </a:rPr>
              <a:t>Thực thi đoạn mã mới để đảm bảo tính đúng đắn và hiệu năng.</a:t>
            </a:r>
            <a:endParaRPr lang="vi-VN" sz="2000" b="1">
              <a:solidFill>
                <a:schemeClr val="lt1"/>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CCE8D9D9-453D-361E-416E-8B74CAD199E7}"/>
              </a:ext>
            </a:extLst>
          </p:cNvPr>
          <p:cNvSpPr txBox="1"/>
          <p:nvPr/>
        </p:nvSpPr>
        <p:spPr>
          <a:xfrm>
            <a:off x="1739507" y="8224481"/>
            <a:ext cx="7472486" cy="1938992"/>
          </a:xfrm>
          <a:prstGeom prst="rect">
            <a:avLst/>
          </a:prstGeom>
          <a:noFill/>
        </p:spPr>
        <p:txBody>
          <a:bodyPr wrap="square">
            <a:spAutoFit/>
          </a:bodyPr>
          <a:lstStyle/>
          <a:p>
            <a:pPr>
              <a:spcBef>
                <a:spcPts val="0"/>
              </a:spcBef>
              <a:spcAft>
                <a:spcPts val="1200"/>
              </a:spcAft>
            </a:pPr>
            <a:r>
              <a:rPr lang="vi-VN" sz="2000" b="1">
                <a:solidFill>
                  <a:schemeClr val="lt1"/>
                </a:solidFill>
              </a:rPr>
              <a:t>Các kĩ thuật tối ưu cho việc thực thi các chương trình máy tính.</a:t>
            </a:r>
          </a:p>
          <a:p>
            <a:pPr marL="457200" indent="-457200">
              <a:spcBef>
                <a:spcPts val="0"/>
              </a:spcBef>
              <a:spcAft>
                <a:spcPts val="1200"/>
              </a:spcAft>
              <a:buFont typeface="+mj-lt"/>
              <a:buAutoNum type="arabicPeriod"/>
            </a:pPr>
            <a:r>
              <a:rPr lang="en-US" sz="2000" b="1">
                <a:solidFill>
                  <a:schemeClr val="lt1"/>
                </a:solidFill>
              </a:rPr>
              <a:t>Direct branch chaining ( Kết nối nhánh trực tiếp ).</a:t>
            </a:r>
          </a:p>
          <a:p>
            <a:pPr marL="457200" indent="-457200">
              <a:spcBef>
                <a:spcPts val="0"/>
              </a:spcBef>
              <a:spcAft>
                <a:spcPts val="1200"/>
              </a:spcAft>
              <a:buFont typeface="+mj-lt"/>
              <a:buAutoNum type="arabicPeriod"/>
            </a:pPr>
            <a:r>
              <a:rPr lang="en-US" sz="2000" b="1">
                <a:solidFill>
                  <a:schemeClr val="lt1"/>
                </a:solidFill>
              </a:rPr>
              <a:t>Register-indirect jump chaining ( Kết nối nhảy gián tiếp thông qua thanh ghi ).</a:t>
            </a:r>
            <a:endParaRPr lang="vi-VN" sz="2000" b="1">
              <a:solidFill>
                <a:schemeClr val="lt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82641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4A0ABD-68E5-CAE0-148F-A9833010BB86}"/>
              </a:ext>
            </a:extLst>
          </p:cNvPr>
          <p:cNvSpPr txBox="1"/>
          <p:nvPr/>
        </p:nvSpPr>
        <p:spPr>
          <a:xfrm>
            <a:off x="6554272" y="755414"/>
            <a:ext cx="5010641"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Trace Chaining</a:t>
            </a:r>
          </a:p>
        </p:txBody>
      </p:sp>
      <p:sp>
        <p:nvSpPr>
          <p:cNvPr id="4" name="TextBox 3">
            <a:extLst>
              <a:ext uri="{FF2B5EF4-FFF2-40B4-BE49-F238E27FC236}">
                <a16:creationId xmlns:a16="http://schemas.microsoft.com/office/drawing/2014/main" id="{8959AD17-ED3F-6518-526E-B58110212DC4}"/>
              </a:ext>
            </a:extLst>
          </p:cNvPr>
          <p:cNvSpPr txBox="1"/>
          <p:nvPr/>
        </p:nvSpPr>
        <p:spPr>
          <a:xfrm>
            <a:off x="1739507" y="2314003"/>
            <a:ext cx="7472486" cy="1938992"/>
          </a:xfrm>
          <a:prstGeom prst="rect">
            <a:avLst/>
          </a:prstGeom>
          <a:noFill/>
        </p:spPr>
        <p:txBody>
          <a:bodyPr wrap="square">
            <a:spAutoFit/>
          </a:bodyPr>
          <a:lstStyle/>
          <a:p>
            <a:pPr>
              <a:spcBef>
                <a:spcPts val="0"/>
              </a:spcBef>
              <a:spcAft>
                <a:spcPts val="1200"/>
              </a:spcAft>
            </a:pPr>
            <a:r>
              <a:rPr lang="vi-VN" sz="2000" b="1">
                <a:solidFill>
                  <a:schemeClr val="lt1"/>
                </a:solidFill>
              </a:rPr>
              <a:t>Các kĩ thuật tối ưu cho việc thực thi các chương trình máy tính.</a:t>
            </a:r>
          </a:p>
          <a:p>
            <a:pPr marL="457200" indent="-457200">
              <a:spcBef>
                <a:spcPts val="0"/>
              </a:spcBef>
              <a:spcAft>
                <a:spcPts val="1200"/>
              </a:spcAft>
              <a:buFont typeface="+mj-lt"/>
              <a:buAutoNum type="arabicPeriod"/>
            </a:pPr>
            <a:r>
              <a:rPr lang="en-US" sz="2000" b="1">
                <a:solidFill>
                  <a:schemeClr val="lt1"/>
                </a:solidFill>
              </a:rPr>
              <a:t>Direct branch chaining ( Kết nối nhánh trực tiếp ).</a:t>
            </a:r>
          </a:p>
          <a:p>
            <a:pPr marL="457200" indent="-457200">
              <a:spcBef>
                <a:spcPts val="0"/>
              </a:spcBef>
              <a:spcAft>
                <a:spcPts val="1200"/>
              </a:spcAft>
              <a:buFont typeface="+mj-lt"/>
              <a:buAutoNum type="arabicPeriod"/>
            </a:pPr>
            <a:r>
              <a:rPr lang="en-US" sz="2000" b="1">
                <a:solidFill>
                  <a:schemeClr val="lt1"/>
                </a:solidFill>
              </a:rPr>
              <a:t>Register-indirect jump chaining ( Kết nối nhảy gián tiếp thông qua thanh ghi ).</a:t>
            </a:r>
            <a:endParaRPr lang="vi-VN" sz="2000" b="1">
              <a:solidFill>
                <a:schemeClr val="lt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A2908640-F1DB-E567-A7F7-77BB39766073}"/>
              </a:ext>
            </a:extLst>
          </p:cNvPr>
          <p:cNvSpPr txBox="1"/>
          <p:nvPr/>
        </p:nvSpPr>
        <p:spPr>
          <a:xfrm>
            <a:off x="1739507" y="-3536838"/>
            <a:ext cx="7472486" cy="2708434"/>
          </a:xfrm>
          <a:prstGeom prst="rect">
            <a:avLst/>
          </a:prstGeom>
          <a:noFill/>
        </p:spPr>
        <p:txBody>
          <a:bodyPr wrap="square">
            <a:spAutoFit/>
          </a:bodyPr>
          <a:lstStyle/>
          <a:p>
            <a:pPr>
              <a:spcBef>
                <a:spcPts val="0"/>
              </a:spcBef>
              <a:spcAft>
                <a:spcPts val="1200"/>
              </a:spcAft>
            </a:pPr>
            <a:r>
              <a:rPr lang="vi-VN" sz="2000" b="1">
                <a:solidFill>
                  <a:schemeClr val="lt1"/>
                </a:solidFill>
              </a:rPr>
              <a:t>Các bước thực hiện Trace Chaining thường bao gồm:</a:t>
            </a:r>
            <a:endParaRPr lang="en-US" sz="2000" b="1">
              <a:solidFill>
                <a:schemeClr val="lt1"/>
              </a:solidFill>
            </a:endParaRPr>
          </a:p>
          <a:p>
            <a:pPr marL="342900" indent="-342900">
              <a:spcBef>
                <a:spcPts val="0"/>
              </a:spcBef>
              <a:spcAft>
                <a:spcPts val="1200"/>
              </a:spcAft>
              <a:buFont typeface="Arial" panose="020B0604020202020204" pitchFamily="34" charset="0"/>
              <a:buChar char="•"/>
            </a:pPr>
            <a:r>
              <a:rPr lang="vi-VN" sz="2000" b="1">
                <a:solidFill>
                  <a:schemeClr val="lt1"/>
                </a:solidFill>
              </a:rPr>
              <a:t>C</a:t>
            </a:r>
            <a:r>
              <a:rPr lang="en-US" sz="2000" b="1">
                <a:solidFill>
                  <a:schemeClr val="lt1"/>
                </a:solidFill>
              </a:rPr>
              <a:t>h</a:t>
            </a:r>
            <a:r>
              <a:rPr lang="vi-VN" sz="2000" b="1">
                <a:solidFill>
                  <a:schemeClr val="lt1"/>
                </a:solidFill>
              </a:rPr>
              <a:t>ạy chương trình và ghi lại dữ liệu về các trace được thực thi (trace logging).</a:t>
            </a:r>
            <a:endParaRPr lang="en-US" sz="2000" b="1">
              <a:solidFill>
                <a:schemeClr val="lt1"/>
              </a:solidFill>
            </a:endParaRPr>
          </a:p>
          <a:p>
            <a:pPr marL="342900" indent="-342900">
              <a:spcAft>
                <a:spcPts val="1200"/>
              </a:spcAft>
              <a:buFont typeface="Arial" panose="020B0604020202020204" pitchFamily="34" charset="0"/>
              <a:buChar char="•"/>
            </a:pPr>
            <a:r>
              <a:rPr lang="vi-VN" sz="2000" b="1">
                <a:solidFill>
                  <a:schemeClr val="lt1"/>
                </a:solidFill>
              </a:rPr>
              <a:t>Tạo ra một đoạn mã mới kết hợp các trace được thực hiện nhiều lần (trace stitching / chaining).</a:t>
            </a:r>
          </a:p>
          <a:p>
            <a:pPr marL="342900" indent="-342900">
              <a:spcAft>
                <a:spcPts val="1200"/>
              </a:spcAft>
              <a:buFont typeface="Arial" panose="020B0604020202020204" pitchFamily="34" charset="0"/>
              <a:buChar char="•"/>
            </a:pPr>
            <a:r>
              <a:rPr lang="en-US" sz="2000" b="1">
                <a:solidFill>
                  <a:schemeClr val="lt1"/>
                </a:solidFill>
                <a:latin typeface="Arial" panose="020B0604020202020204" pitchFamily="34" charset="0"/>
                <a:cs typeface="Arial" panose="020B0604020202020204" pitchFamily="34" charset="0"/>
              </a:rPr>
              <a:t>Thực thi đoạn mã mới để đảm bảo tính đúng đắn và hiệu năng.</a:t>
            </a:r>
            <a:endParaRPr lang="vi-VN" sz="2000" b="1">
              <a:solidFill>
                <a:schemeClr val="lt1"/>
              </a:solidFill>
              <a:latin typeface="Arial" panose="020B0604020202020204" pitchFamily="34" charset="0"/>
              <a:cs typeface="Arial" panose="020B0604020202020204" pitchFamily="34" charset="0"/>
            </a:endParaRPr>
          </a:p>
        </p:txBody>
      </p:sp>
      <p:sp>
        <p:nvSpPr>
          <p:cNvPr id="6" name="Rectangle: Rounded Corners 5">
            <a:extLst>
              <a:ext uri="{FF2B5EF4-FFF2-40B4-BE49-F238E27FC236}">
                <a16:creationId xmlns:a16="http://schemas.microsoft.com/office/drawing/2014/main" id="{3F096EA1-F6C9-A2E3-9DD9-32DB571E40D2}"/>
              </a:ext>
            </a:extLst>
          </p:cNvPr>
          <p:cNvSpPr/>
          <p:nvPr/>
        </p:nvSpPr>
        <p:spPr>
          <a:xfrm>
            <a:off x="1739507" y="8315178"/>
            <a:ext cx="9026382" cy="3466060"/>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Trace chaining đã đóng góp rất nhiều vào việc tăng tốc độ xử lý và hiệu suất của hệ thống máy tính bằng cách tối đa hóa việc sử dụng các trace đã được tạo ra. Các thành tựu của trace chaining bao gồm: tăng tốc độ thực thi chương trình, giảm phải tải dữ liệu từ bộ nhớ ngoài vào bộ nhớ trong và tối ưu hoá việc sử dụng tài nguyên, giúp tối ưu hoá việc sử dụng bộ nhớ và tăng hiệu suất của hệ thống. Những thành tựu này đã đóng góp rất lớn vào việc nâng cao hiệu suất và tăng tốc độ xử lý của hệ thống máy tính.</a:t>
            </a:r>
          </a:p>
        </p:txBody>
      </p:sp>
    </p:spTree>
    <p:extLst>
      <p:ext uri="{BB962C8B-B14F-4D97-AF65-F5344CB8AC3E}">
        <p14:creationId xmlns:p14="http://schemas.microsoft.com/office/powerpoint/2010/main" val="33184396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4A0ABD-68E5-CAE0-148F-A9833010BB86}"/>
              </a:ext>
            </a:extLst>
          </p:cNvPr>
          <p:cNvSpPr txBox="1"/>
          <p:nvPr/>
        </p:nvSpPr>
        <p:spPr>
          <a:xfrm>
            <a:off x="6554272" y="-3962366"/>
            <a:ext cx="5010641"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Trace Chaining</a:t>
            </a:r>
          </a:p>
        </p:txBody>
      </p:sp>
      <p:sp>
        <p:nvSpPr>
          <p:cNvPr id="4" name="TextBox 3">
            <a:extLst>
              <a:ext uri="{FF2B5EF4-FFF2-40B4-BE49-F238E27FC236}">
                <a16:creationId xmlns:a16="http://schemas.microsoft.com/office/drawing/2014/main" id="{8959AD17-ED3F-6518-526E-B58110212DC4}"/>
              </a:ext>
            </a:extLst>
          </p:cNvPr>
          <p:cNvSpPr txBox="1"/>
          <p:nvPr/>
        </p:nvSpPr>
        <p:spPr>
          <a:xfrm>
            <a:off x="1739507" y="-2403777"/>
            <a:ext cx="7472486" cy="1938992"/>
          </a:xfrm>
          <a:prstGeom prst="rect">
            <a:avLst/>
          </a:prstGeom>
          <a:noFill/>
        </p:spPr>
        <p:txBody>
          <a:bodyPr wrap="square">
            <a:spAutoFit/>
          </a:bodyPr>
          <a:lstStyle/>
          <a:p>
            <a:pPr>
              <a:spcBef>
                <a:spcPts val="0"/>
              </a:spcBef>
              <a:spcAft>
                <a:spcPts val="1200"/>
              </a:spcAft>
            </a:pPr>
            <a:r>
              <a:rPr lang="vi-VN" sz="2000" b="1">
                <a:solidFill>
                  <a:schemeClr val="lt1"/>
                </a:solidFill>
              </a:rPr>
              <a:t>Các kĩ thuật tối ưu cho việc thực thi các chương trình máy tính.</a:t>
            </a:r>
          </a:p>
          <a:p>
            <a:pPr marL="457200" indent="-457200">
              <a:spcBef>
                <a:spcPts val="0"/>
              </a:spcBef>
              <a:spcAft>
                <a:spcPts val="1200"/>
              </a:spcAft>
              <a:buFont typeface="+mj-lt"/>
              <a:buAutoNum type="arabicPeriod"/>
            </a:pPr>
            <a:r>
              <a:rPr lang="en-US" sz="2000" b="1">
                <a:solidFill>
                  <a:schemeClr val="lt1"/>
                </a:solidFill>
              </a:rPr>
              <a:t>Direct branch chaining ( Kết nối nhánh trực tiếp ).</a:t>
            </a:r>
          </a:p>
          <a:p>
            <a:pPr marL="457200" indent="-457200">
              <a:spcBef>
                <a:spcPts val="0"/>
              </a:spcBef>
              <a:spcAft>
                <a:spcPts val="1200"/>
              </a:spcAft>
              <a:buFont typeface="+mj-lt"/>
              <a:buAutoNum type="arabicPeriod"/>
            </a:pPr>
            <a:r>
              <a:rPr lang="en-US" sz="2000" b="1">
                <a:solidFill>
                  <a:schemeClr val="lt1"/>
                </a:solidFill>
              </a:rPr>
              <a:t>Register-indirect jump chaining ( Kết nối nhảy gián tiếp thông qua thanh ghi ).</a:t>
            </a:r>
            <a:endParaRPr lang="vi-VN" sz="2000" b="1">
              <a:solidFill>
                <a:schemeClr val="lt1"/>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1C01FB76-2687-CD5B-A11C-00E5B93D0086}"/>
              </a:ext>
            </a:extLst>
          </p:cNvPr>
          <p:cNvSpPr txBox="1"/>
          <p:nvPr/>
        </p:nvSpPr>
        <p:spPr>
          <a:xfrm>
            <a:off x="3657600" y="755414"/>
            <a:ext cx="7907313"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Thành tựu của Trace Chaining</a:t>
            </a:r>
          </a:p>
        </p:txBody>
      </p:sp>
      <p:sp>
        <p:nvSpPr>
          <p:cNvPr id="6" name="Rectangle: Rounded Corners 5">
            <a:extLst>
              <a:ext uri="{FF2B5EF4-FFF2-40B4-BE49-F238E27FC236}">
                <a16:creationId xmlns:a16="http://schemas.microsoft.com/office/drawing/2014/main" id="{ACED5D18-3EB8-777D-4287-56A90197C006}"/>
              </a:ext>
            </a:extLst>
          </p:cNvPr>
          <p:cNvSpPr/>
          <p:nvPr/>
        </p:nvSpPr>
        <p:spPr>
          <a:xfrm>
            <a:off x="1739507" y="2007134"/>
            <a:ext cx="9026382" cy="3466060"/>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Trace chaining đã đóng góp rất nhiều vào việc tăng tốc độ xử lý và hiệu suất của hệ thống máy tính bằng cách tối đa hóa việc sử dụng các trace đã được tạo ra. Các thành tựu của trace chaining bao gồm: tăng tốc độ thực thi chương trình, giảm phải tải dữ liệu từ bộ nhớ ngoài vào bộ nhớ trong và tối ưu hoá việc sử dụng tài nguyên, giúp tối ưu hoá việc sử dụng bộ nhớ và tăng hiệu suất của hệ thống. Những thành tựu này đã đóng góp rất lớn vào việc nâng cao hiệu suất và tăng tốc độ xử lý của hệ thống máy tính.</a:t>
            </a:r>
          </a:p>
        </p:txBody>
      </p:sp>
      <p:sp>
        <p:nvSpPr>
          <p:cNvPr id="7" name="Rectangle: Rounded Corners 6">
            <a:extLst>
              <a:ext uri="{FF2B5EF4-FFF2-40B4-BE49-F238E27FC236}">
                <a16:creationId xmlns:a16="http://schemas.microsoft.com/office/drawing/2014/main" id="{107AF894-96C6-888D-4473-D4F56950F4CD}"/>
              </a:ext>
            </a:extLst>
          </p:cNvPr>
          <p:cNvSpPr/>
          <p:nvPr/>
        </p:nvSpPr>
        <p:spPr>
          <a:xfrm>
            <a:off x="1739507" y="7798342"/>
            <a:ext cx="9026382" cy="3028692"/>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Trace mapping là việc sắp xếp các Trace (vết) theo thứ tự chúng được tạo để giảm xung đột và tạo ra khu vực không xung đột (CFA) cho các Trace phổ biến nhất. Kích thước của CFA ảnh hưởng đến hiệu suất của thuật toán sắp xếp. Một CFA lớn hơn bảo vệ được nhiều Trace phổ biến hơn nhưng làm giảm không gian trong instruction cache (I-cache) và tăng lỗi xung đột giữa các Trace còn lại. Việc tăng kích thước CFA cần được cân bằng để đạt hiệu suất tốt nhất cho I-cache.</a:t>
            </a:r>
          </a:p>
        </p:txBody>
      </p:sp>
    </p:spTree>
    <p:extLst>
      <p:ext uri="{BB962C8B-B14F-4D97-AF65-F5344CB8AC3E}">
        <p14:creationId xmlns:p14="http://schemas.microsoft.com/office/powerpoint/2010/main" val="248359930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4A0ABD-68E5-CAE0-148F-A9833010BB86}"/>
              </a:ext>
            </a:extLst>
          </p:cNvPr>
          <p:cNvSpPr txBox="1"/>
          <p:nvPr/>
        </p:nvSpPr>
        <p:spPr>
          <a:xfrm>
            <a:off x="6554272" y="-3962366"/>
            <a:ext cx="5010641"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Trace Chaining</a:t>
            </a:r>
          </a:p>
        </p:txBody>
      </p:sp>
      <p:sp>
        <p:nvSpPr>
          <p:cNvPr id="3" name="TextBox 2">
            <a:extLst>
              <a:ext uri="{FF2B5EF4-FFF2-40B4-BE49-F238E27FC236}">
                <a16:creationId xmlns:a16="http://schemas.microsoft.com/office/drawing/2014/main" id="{1C01FB76-2687-CD5B-A11C-00E5B93D0086}"/>
              </a:ext>
            </a:extLst>
          </p:cNvPr>
          <p:cNvSpPr txBox="1"/>
          <p:nvPr/>
        </p:nvSpPr>
        <p:spPr>
          <a:xfrm>
            <a:off x="3657600" y="-1842014"/>
            <a:ext cx="7907313"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Thành tựu của Trace Chaining</a:t>
            </a:r>
          </a:p>
        </p:txBody>
      </p:sp>
      <p:sp>
        <p:nvSpPr>
          <p:cNvPr id="6" name="Rectangle: Rounded Corners 5">
            <a:extLst>
              <a:ext uri="{FF2B5EF4-FFF2-40B4-BE49-F238E27FC236}">
                <a16:creationId xmlns:a16="http://schemas.microsoft.com/office/drawing/2014/main" id="{ACED5D18-3EB8-777D-4287-56A90197C006}"/>
              </a:ext>
            </a:extLst>
          </p:cNvPr>
          <p:cNvSpPr/>
          <p:nvPr/>
        </p:nvSpPr>
        <p:spPr>
          <a:xfrm>
            <a:off x="1739507" y="-3903344"/>
            <a:ext cx="9026382" cy="3466060"/>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Trace chaining đã đóng góp rất nhiều vào việc tăng tốc độ xử lý và hiệu suất của hệ thống máy tính bằng cách tối đa hóa việc sử dụng các trace đã được tạo ra. Các thành tựu của trace chaining bao gồm: tăng tốc độ thực thi chương trình, giảm phải tải dữ liệu từ bộ nhớ ngoài vào bộ nhớ trong và tối ưu hoá việc sử dụng tài nguyên, giúp tối ưu hoá việc sử dụng bộ nhớ và tăng hiệu suất của hệ thống. Những thành tựu này đã đóng góp rất lớn vào việc nâng cao hiệu suất và tăng tốc độ xử lý của hệ thống máy tính.</a:t>
            </a:r>
          </a:p>
        </p:txBody>
      </p:sp>
      <p:sp>
        <p:nvSpPr>
          <p:cNvPr id="5" name="TextBox 4">
            <a:extLst>
              <a:ext uri="{FF2B5EF4-FFF2-40B4-BE49-F238E27FC236}">
                <a16:creationId xmlns:a16="http://schemas.microsoft.com/office/drawing/2014/main" id="{C35B6708-35A8-D415-B879-A7B919EA5B81}"/>
              </a:ext>
            </a:extLst>
          </p:cNvPr>
          <p:cNvSpPr txBox="1"/>
          <p:nvPr/>
        </p:nvSpPr>
        <p:spPr>
          <a:xfrm>
            <a:off x="3657600" y="755414"/>
            <a:ext cx="7907313"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Trace Mapping</a:t>
            </a:r>
          </a:p>
        </p:txBody>
      </p:sp>
      <p:sp>
        <p:nvSpPr>
          <p:cNvPr id="7" name="Rectangle: Rounded Corners 6">
            <a:extLst>
              <a:ext uri="{FF2B5EF4-FFF2-40B4-BE49-F238E27FC236}">
                <a16:creationId xmlns:a16="http://schemas.microsoft.com/office/drawing/2014/main" id="{37CCF293-7F0D-F834-4D79-DFC18F2D4B9A}"/>
              </a:ext>
            </a:extLst>
          </p:cNvPr>
          <p:cNvSpPr/>
          <p:nvPr/>
        </p:nvSpPr>
        <p:spPr>
          <a:xfrm>
            <a:off x="1739507" y="2007134"/>
            <a:ext cx="9026382" cy="3028692"/>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Trace mapping là việc sắp xếp các Trace (vết) theo thứ tự chúng được tạo để giảm xung đột và tạo ra khu vực không xung đột (CFA) cho các Trace phổ biến nhất. Kích thước của CFA ảnh hưởng đến hiệu suất của thuật toán sắp xếp. Một CFA lớn hơn bảo vệ được nhiều Trace phổ biến hơn nhưng làm giảm không gian trong instruction cache (I-cache) và tăng lỗi xung đột giữa các Trace còn lại. Việc tăng kích thước CFA cần được cân bằng để đạt hiệu suất tốt nhất cho I-cache.</a:t>
            </a:r>
          </a:p>
        </p:txBody>
      </p:sp>
    </p:spTree>
    <p:extLst>
      <p:ext uri="{BB962C8B-B14F-4D97-AF65-F5344CB8AC3E}">
        <p14:creationId xmlns:p14="http://schemas.microsoft.com/office/powerpoint/2010/main" val="37023031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B6299E5-04CD-4E85-9AAA-46CA611002E5}"/>
              </a:ext>
            </a:extLst>
          </p:cNvPr>
          <p:cNvSpPr/>
          <p:nvPr/>
        </p:nvSpPr>
        <p:spPr>
          <a:xfrm>
            <a:off x="-5564015" y="95334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a:t>
            </a:r>
            <a:endParaRPr lang="vi-VN" sz="2400" b="1"/>
          </a:p>
        </p:txBody>
      </p:sp>
      <p:sp>
        <p:nvSpPr>
          <p:cNvPr id="2" name="Rectangle: Rounded Corners 1">
            <a:extLst>
              <a:ext uri="{FF2B5EF4-FFF2-40B4-BE49-F238E27FC236}">
                <a16:creationId xmlns:a16="http://schemas.microsoft.com/office/drawing/2014/main" id="{23CB5B98-8FD0-CB62-DA4B-860E7422D192}"/>
              </a:ext>
            </a:extLst>
          </p:cNvPr>
          <p:cNvSpPr/>
          <p:nvPr/>
        </p:nvSpPr>
        <p:spPr>
          <a:xfrm>
            <a:off x="-134257" y="-8114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a:t>
            </a:r>
            <a:endParaRPr lang="vi-VN" sz="2400" b="1"/>
          </a:p>
        </p:txBody>
      </p:sp>
      <p:sp>
        <p:nvSpPr>
          <p:cNvPr id="3" name="Rectangle: Rounded Corners 2">
            <a:extLst>
              <a:ext uri="{FF2B5EF4-FFF2-40B4-BE49-F238E27FC236}">
                <a16:creationId xmlns:a16="http://schemas.microsoft.com/office/drawing/2014/main" id="{06FEB196-B502-5981-B2BD-4F3FE6F130CC}"/>
              </a:ext>
            </a:extLst>
          </p:cNvPr>
          <p:cNvSpPr/>
          <p:nvPr/>
        </p:nvSpPr>
        <p:spPr>
          <a:xfrm>
            <a:off x="-4704151" y="278214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DESIGN</a:t>
            </a:r>
            <a:endParaRPr lang="vi-VN" sz="2400" b="1"/>
          </a:p>
        </p:txBody>
      </p:sp>
      <p:sp>
        <p:nvSpPr>
          <p:cNvPr id="5" name="Rectangle: Rounded Corners 4">
            <a:extLst>
              <a:ext uri="{FF2B5EF4-FFF2-40B4-BE49-F238E27FC236}">
                <a16:creationId xmlns:a16="http://schemas.microsoft.com/office/drawing/2014/main" id="{43A52A58-C561-9917-062F-9D652BD6A2B4}"/>
              </a:ext>
            </a:extLst>
          </p:cNvPr>
          <p:cNvSpPr/>
          <p:nvPr/>
        </p:nvSpPr>
        <p:spPr>
          <a:xfrm>
            <a:off x="13485044" y="278214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MECHANISM</a:t>
            </a:r>
            <a:endParaRPr lang="vi-VN" sz="2400" b="1"/>
          </a:p>
        </p:txBody>
      </p:sp>
      <p:sp>
        <p:nvSpPr>
          <p:cNvPr id="6" name="Rectangle: Rounded Corners 5">
            <a:extLst>
              <a:ext uri="{FF2B5EF4-FFF2-40B4-BE49-F238E27FC236}">
                <a16:creationId xmlns:a16="http://schemas.microsoft.com/office/drawing/2014/main" id="{807127C9-296D-C2C1-57A2-3502C6487EDB}"/>
              </a:ext>
            </a:extLst>
          </p:cNvPr>
          <p:cNvSpPr/>
          <p:nvPr/>
        </p:nvSpPr>
        <p:spPr>
          <a:xfrm>
            <a:off x="-5902047" y="4591064"/>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HIT &amp; MISS LOGIC</a:t>
            </a:r>
            <a:endParaRPr lang="vi-VN" sz="2400" b="1"/>
          </a:p>
        </p:txBody>
      </p:sp>
      <p:sp>
        <p:nvSpPr>
          <p:cNvPr id="7" name="Rectangle: Rounded Corners 6">
            <a:extLst>
              <a:ext uri="{FF2B5EF4-FFF2-40B4-BE49-F238E27FC236}">
                <a16:creationId xmlns:a16="http://schemas.microsoft.com/office/drawing/2014/main" id="{3ED2E76E-DF2F-2792-4D62-E4B0736E118C}"/>
              </a:ext>
            </a:extLst>
          </p:cNvPr>
          <p:cNvSpPr/>
          <p:nvPr/>
        </p:nvSpPr>
        <p:spPr>
          <a:xfrm>
            <a:off x="14598225" y="4591064"/>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ADVANTAGES &amp; DRAWBACKS</a:t>
            </a:r>
            <a:endParaRPr lang="vi-VN" sz="2400" b="1"/>
          </a:p>
        </p:txBody>
      </p:sp>
      <p:sp>
        <p:nvSpPr>
          <p:cNvPr id="10" name="TextBox 9">
            <a:extLst>
              <a:ext uri="{FF2B5EF4-FFF2-40B4-BE49-F238E27FC236}">
                <a16:creationId xmlns:a16="http://schemas.microsoft.com/office/drawing/2014/main" id="{976A84F2-9818-AF2A-94EF-EE1047A3DDE4}"/>
              </a:ext>
            </a:extLst>
          </p:cNvPr>
          <p:cNvSpPr txBox="1"/>
          <p:nvPr/>
        </p:nvSpPr>
        <p:spPr>
          <a:xfrm>
            <a:off x="1364972" y="953342"/>
            <a:ext cx="11749314" cy="584775"/>
          </a:xfrm>
          <a:prstGeom prst="rect">
            <a:avLst/>
          </a:prstGeom>
          <a:noFill/>
        </p:spPr>
        <p:txBody>
          <a:bodyPr wrap="square">
            <a:spAutoFit/>
          </a:bodyPr>
          <a:lstStyle/>
          <a:p>
            <a:pPr algn="ctr"/>
            <a:r>
              <a:rPr lang="en-US" sz="3200" b="1" u="sng">
                <a:solidFill>
                  <a:schemeClr val="lt1"/>
                </a:solidFill>
              </a:rPr>
              <a:t>Hiểu về bộ nhớ cache dấu vết trong bộ vi xử lý</a:t>
            </a:r>
          </a:p>
        </p:txBody>
      </p:sp>
      <p:sp>
        <p:nvSpPr>
          <p:cNvPr id="12" name="TextBox 11">
            <a:extLst>
              <a:ext uri="{FF2B5EF4-FFF2-40B4-BE49-F238E27FC236}">
                <a16:creationId xmlns:a16="http://schemas.microsoft.com/office/drawing/2014/main" id="{05E5334C-5D7A-FE8E-43E8-B24E3CA75600}"/>
              </a:ext>
            </a:extLst>
          </p:cNvPr>
          <p:cNvSpPr txBox="1"/>
          <p:nvPr/>
        </p:nvSpPr>
        <p:spPr>
          <a:xfrm>
            <a:off x="1784055" y="1987826"/>
            <a:ext cx="4311945" cy="2862322"/>
          </a:xfrm>
          <a:prstGeom prst="rect">
            <a:avLst/>
          </a:prstGeom>
          <a:noFill/>
        </p:spPr>
        <p:txBody>
          <a:bodyPr wrap="square">
            <a:spAutoFit/>
          </a:bodyPr>
          <a:lstStyle/>
          <a:p>
            <a:pPr rtl="0">
              <a:spcBef>
                <a:spcPts val="0"/>
              </a:spcBef>
              <a:spcAft>
                <a:spcPts val="1200"/>
              </a:spcAft>
            </a:pPr>
            <a:r>
              <a:rPr lang="vi-VN" sz="2000" b="1">
                <a:solidFill>
                  <a:schemeClr val="lt1"/>
                </a:solidFill>
              </a:rPr>
              <a:t>Bản trình bày này cung cấp tổng quan về bộ nhớ cache dấu vết, bộ đệm được sử dụng trong bộ vi xử lý để lưu trữ chuỗi các lệnh liên tiếp được thực thi trong một chương trình. Nó bao gồm khái niệm, cách hoạt động, cách phân loại và lịch sử phát triển của Trace Cache</a:t>
            </a:r>
            <a:endParaRPr lang="vi-VN"/>
          </a:p>
        </p:txBody>
      </p:sp>
      <p:sp>
        <p:nvSpPr>
          <p:cNvPr id="8" name="TextBox 7">
            <a:extLst>
              <a:ext uri="{FF2B5EF4-FFF2-40B4-BE49-F238E27FC236}">
                <a16:creationId xmlns:a16="http://schemas.microsoft.com/office/drawing/2014/main" id="{D89E7612-F4BF-4577-1699-135F22B3ABBB}"/>
              </a:ext>
            </a:extLst>
          </p:cNvPr>
          <p:cNvSpPr txBox="1"/>
          <p:nvPr/>
        </p:nvSpPr>
        <p:spPr>
          <a:xfrm>
            <a:off x="1364972" y="8059944"/>
            <a:ext cx="4810427" cy="2862322"/>
          </a:xfrm>
          <a:prstGeom prst="rect">
            <a:avLst/>
          </a:prstGeom>
          <a:noFill/>
        </p:spPr>
        <p:txBody>
          <a:bodyPr wrap="square">
            <a:spAutoFit/>
          </a:bodyPr>
          <a:lstStyle/>
          <a:p>
            <a:pPr marL="342900" indent="-342900" rtl="0" fontAlgn="base">
              <a:spcBef>
                <a:spcPts val="0"/>
              </a:spcBef>
              <a:spcAft>
                <a:spcPts val="0"/>
              </a:spcAft>
              <a:buFont typeface="Arial" panose="020B0604020202020204" pitchFamily="34" charset="0"/>
              <a:buChar char="•"/>
            </a:pPr>
            <a:r>
              <a:rPr lang="en-US" sz="2000" b="1">
                <a:solidFill>
                  <a:schemeClr val="lt1"/>
                </a:solidFill>
              </a:rPr>
              <a:t>T</a:t>
            </a:r>
            <a:r>
              <a:rPr lang="vi-VN" sz="2000" b="1">
                <a:solidFill>
                  <a:schemeClr val="lt1"/>
                </a:solidFill>
              </a:rPr>
              <a:t>race Cache là một bộ nhớ cache đặc biệt được sử dụng trong các bộ vi xử lý để lưu trữ các chuỗi các lệnh liên tiếp được thực thi trong chương trình.</a:t>
            </a:r>
          </a:p>
          <a:p>
            <a:pPr marL="342900" indent="-342900" rtl="0" fontAlgn="base">
              <a:spcBef>
                <a:spcPts val="0"/>
              </a:spcBef>
              <a:spcAft>
                <a:spcPts val="0"/>
              </a:spcAft>
              <a:buFont typeface="Arial" panose="020B0604020202020204" pitchFamily="34" charset="0"/>
              <a:buChar char="•"/>
            </a:pPr>
            <a:r>
              <a:rPr lang="vi-VN" sz="2000" b="1">
                <a:solidFill>
                  <a:schemeClr val="lt1"/>
                </a:solidFill>
              </a:rPr>
              <a:t>Trace Cache sử dụng một kỹ thuật gọi là “tracing” để xác định các chuỗi lệnh liên tiếp và lưu trữ chúng trong bộ nhớ cache.</a:t>
            </a:r>
          </a:p>
        </p:txBody>
      </p:sp>
    </p:spTree>
    <p:extLst>
      <p:ext uri="{BB962C8B-B14F-4D97-AF65-F5344CB8AC3E}">
        <p14:creationId xmlns:p14="http://schemas.microsoft.com/office/powerpoint/2010/main" val="16394579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B6299E5-04CD-4E85-9AAA-46CA611002E5}"/>
              </a:ext>
            </a:extLst>
          </p:cNvPr>
          <p:cNvSpPr/>
          <p:nvPr/>
        </p:nvSpPr>
        <p:spPr>
          <a:xfrm>
            <a:off x="-5564015" y="95334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a:t>
            </a:r>
            <a:endParaRPr lang="vi-VN" sz="2400" b="1"/>
          </a:p>
        </p:txBody>
      </p:sp>
      <p:sp>
        <p:nvSpPr>
          <p:cNvPr id="2" name="Rectangle: Rounded Corners 1">
            <a:extLst>
              <a:ext uri="{FF2B5EF4-FFF2-40B4-BE49-F238E27FC236}">
                <a16:creationId xmlns:a16="http://schemas.microsoft.com/office/drawing/2014/main" id="{23CB5B98-8FD0-CB62-DA4B-860E7422D192}"/>
              </a:ext>
            </a:extLst>
          </p:cNvPr>
          <p:cNvSpPr/>
          <p:nvPr/>
        </p:nvSpPr>
        <p:spPr>
          <a:xfrm>
            <a:off x="-134257" y="-1663198"/>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a:t>
            </a:r>
            <a:endParaRPr lang="vi-VN" sz="2400" b="1"/>
          </a:p>
        </p:txBody>
      </p:sp>
      <p:sp>
        <p:nvSpPr>
          <p:cNvPr id="3" name="Rectangle: Rounded Corners 2">
            <a:extLst>
              <a:ext uri="{FF2B5EF4-FFF2-40B4-BE49-F238E27FC236}">
                <a16:creationId xmlns:a16="http://schemas.microsoft.com/office/drawing/2014/main" id="{06FEB196-B502-5981-B2BD-4F3FE6F130CC}"/>
              </a:ext>
            </a:extLst>
          </p:cNvPr>
          <p:cNvSpPr/>
          <p:nvPr/>
        </p:nvSpPr>
        <p:spPr>
          <a:xfrm>
            <a:off x="-4704151" y="278214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DESIGN</a:t>
            </a:r>
            <a:endParaRPr lang="vi-VN" sz="2400" b="1"/>
          </a:p>
        </p:txBody>
      </p:sp>
      <p:sp>
        <p:nvSpPr>
          <p:cNvPr id="5" name="Rectangle: Rounded Corners 4">
            <a:extLst>
              <a:ext uri="{FF2B5EF4-FFF2-40B4-BE49-F238E27FC236}">
                <a16:creationId xmlns:a16="http://schemas.microsoft.com/office/drawing/2014/main" id="{43A52A58-C561-9917-062F-9D652BD6A2B4}"/>
              </a:ext>
            </a:extLst>
          </p:cNvPr>
          <p:cNvSpPr/>
          <p:nvPr/>
        </p:nvSpPr>
        <p:spPr>
          <a:xfrm>
            <a:off x="13485044" y="278214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MECHANISM</a:t>
            </a:r>
            <a:endParaRPr lang="vi-VN" sz="2400" b="1"/>
          </a:p>
        </p:txBody>
      </p:sp>
      <p:sp>
        <p:nvSpPr>
          <p:cNvPr id="6" name="Rectangle: Rounded Corners 5">
            <a:extLst>
              <a:ext uri="{FF2B5EF4-FFF2-40B4-BE49-F238E27FC236}">
                <a16:creationId xmlns:a16="http://schemas.microsoft.com/office/drawing/2014/main" id="{807127C9-296D-C2C1-57A2-3502C6487EDB}"/>
              </a:ext>
            </a:extLst>
          </p:cNvPr>
          <p:cNvSpPr/>
          <p:nvPr/>
        </p:nvSpPr>
        <p:spPr>
          <a:xfrm>
            <a:off x="-5902047" y="4591064"/>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HIT &amp; MISS LOGIC</a:t>
            </a:r>
            <a:endParaRPr lang="vi-VN" sz="2400" b="1"/>
          </a:p>
        </p:txBody>
      </p:sp>
      <p:sp>
        <p:nvSpPr>
          <p:cNvPr id="7" name="Rectangle: Rounded Corners 6">
            <a:extLst>
              <a:ext uri="{FF2B5EF4-FFF2-40B4-BE49-F238E27FC236}">
                <a16:creationId xmlns:a16="http://schemas.microsoft.com/office/drawing/2014/main" id="{3ED2E76E-DF2F-2792-4D62-E4B0736E118C}"/>
              </a:ext>
            </a:extLst>
          </p:cNvPr>
          <p:cNvSpPr/>
          <p:nvPr/>
        </p:nvSpPr>
        <p:spPr>
          <a:xfrm>
            <a:off x="14598225" y="4591064"/>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ADVANTAGES &amp; DRAWBACKS</a:t>
            </a:r>
            <a:endParaRPr lang="vi-VN" sz="2400" b="1"/>
          </a:p>
        </p:txBody>
      </p:sp>
      <p:sp>
        <p:nvSpPr>
          <p:cNvPr id="10" name="TextBox 9">
            <a:extLst>
              <a:ext uri="{FF2B5EF4-FFF2-40B4-BE49-F238E27FC236}">
                <a16:creationId xmlns:a16="http://schemas.microsoft.com/office/drawing/2014/main" id="{976A84F2-9818-AF2A-94EF-EE1047A3DDE4}"/>
              </a:ext>
            </a:extLst>
          </p:cNvPr>
          <p:cNvSpPr txBox="1"/>
          <p:nvPr/>
        </p:nvSpPr>
        <p:spPr>
          <a:xfrm>
            <a:off x="1364972" y="-1456030"/>
            <a:ext cx="11749314" cy="584775"/>
          </a:xfrm>
          <a:prstGeom prst="rect">
            <a:avLst/>
          </a:prstGeom>
          <a:noFill/>
        </p:spPr>
        <p:txBody>
          <a:bodyPr wrap="square">
            <a:spAutoFit/>
          </a:bodyPr>
          <a:lstStyle/>
          <a:p>
            <a:pPr algn="ctr"/>
            <a:r>
              <a:rPr lang="en-US" sz="3200" b="1" u="sng">
                <a:solidFill>
                  <a:schemeClr val="lt1"/>
                </a:solidFill>
              </a:rPr>
              <a:t>Hiểu về bộ nhớ cache dấu vết trong bộ vi xử lý</a:t>
            </a:r>
          </a:p>
        </p:txBody>
      </p:sp>
      <p:sp>
        <p:nvSpPr>
          <p:cNvPr id="12" name="TextBox 11">
            <a:extLst>
              <a:ext uri="{FF2B5EF4-FFF2-40B4-BE49-F238E27FC236}">
                <a16:creationId xmlns:a16="http://schemas.microsoft.com/office/drawing/2014/main" id="{05E5334C-5D7A-FE8E-43E8-B24E3CA75600}"/>
              </a:ext>
            </a:extLst>
          </p:cNvPr>
          <p:cNvSpPr txBox="1"/>
          <p:nvPr/>
        </p:nvSpPr>
        <p:spPr>
          <a:xfrm>
            <a:off x="-4979607" y="1987826"/>
            <a:ext cx="4311945" cy="2862322"/>
          </a:xfrm>
          <a:prstGeom prst="rect">
            <a:avLst/>
          </a:prstGeom>
          <a:noFill/>
        </p:spPr>
        <p:txBody>
          <a:bodyPr wrap="square">
            <a:spAutoFit/>
          </a:bodyPr>
          <a:lstStyle/>
          <a:p>
            <a:pPr rtl="0">
              <a:spcBef>
                <a:spcPts val="0"/>
              </a:spcBef>
              <a:spcAft>
                <a:spcPts val="1200"/>
              </a:spcAft>
            </a:pPr>
            <a:r>
              <a:rPr lang="vi-VN" sz="2000" b="1">
                <a:solidFill>
                  <a:schemeClr val="lt1"/>
                </a:solidFill>
              </a:rPr>
              <a:t>Bản trình bày này cung cấp tổng quan về bộ nhớ cache dấu vết, bộ đệm được sử dụng trong bộ vi xử lý để lưu trữ chuỗi các lệnh liên tiếp được thực thi trong một chương trình. Nó bao gồm khái niệm, cách hoạt động, cách phân loại và lịch sử phát triển của Trace Cache</a:t>
            </a:r>
            <a:endParaRPr lang="vi-VN"/>
          </a:p>
        </p:txBody>
      </p:sp>
      <p:sp>
        <p:nvSpPr>
          <p:cNvPr id="8" name="TextBox 7">
            <a:extLst>
              <a:ext uri="{FF2B5EF4-FFF2-40B4-BE49-F238E27FC236}">
                <a16:creationId xmlns:a16="http://schemas.microsoft.com/office/drawing/2014/main" id="{BC5524C8-80EF-8557-BFC2-E1628CEEFFD7}"/>
              </a:ext>
            </a:extLst>
          </p:cNvPr>
          <p:cNvSpPr txBox="1"/>
          <p:nvPr/>
        </p:nvSpPr>
        <p:spPr>
          <a:xfrm>
            <a:off x="6633658" y="885809"/>
            <a:ext cx="4571371" cy="584775"/>
          </a:xfrm>
          <a:prstGeom prst="rect">
            <a:avLst/>
          </a:prstGeom>
          <a:noFill/>
        </p:spPr>
        <p:txBody>
          <a:bodyPr wrap="square">
            <a:spAutoFit/>
          </a:bodyPr>
          <a:lstStyle/>
          <a:p>
            <a:pPr algn="ctr"/>
            <a:r>
              <a:rPr lang="en-US" sz="3200" b="1" u="sng">
                <a:solidFill>
                  <a:schemeClr val="lt1"/>
                </a:solidFill>
              </a:rPr>
              <a:t>Trace Cache là gì?</a:t>
            </a:r>
          </a:p>
        </p:txBody>
      </p:sp>
      <p:sp>
        <p:nvSpPr>
          <p:cNvPr id="11" name="TextBox 10">
            <a:extLst>
              <a:ext uri="{FF2B5EF4-FFF2-40B4-BE49-F238E27FC236}">
                <a16:creationId xmlns:a16="http://schemas.microsoft.com/office/drawing/2014/main" id="{11476F8A-C122-3608-3262-1A16385BB178}"/>
              </a:ext>
            </a:extLst>
          </p:cNvPr>
          <p:cNvSpPr txBox="1"/>
          <p:nvPr/>
        </p:nvSpPr>
        <p:spPr>
          <a:xfrm>
            <a:off x="1364972" y="2245984"/>
            <a:ext cx="4810427" cy="2862322"/>
          </a:xfrm>
          <a:prstGeom prst="rect">
            <a:avLst/>
          </a:prstGeom>
          <a:noFill/>
        </p:spPr>
        <p:txBody>
          <a:bodyPr wrap="square">
            <a:spAutoFit/>
          </a:bodyPr>
          <a:lstStyle/>
          <a:p>
            <a:pPr marL="342900" indent="-342900" rtl="0" fontAlgn="base">
              <a:spcBef>
                <a:spcPts val="0"/>
              </a:spcBef>
              <a:spcAft>
                <a:spcPts val="0"/>
              </a:spcAft>
              <a:buFont typeface="Arial" panose="020B0604020202020204" pitchFamily="34" charset="0"/>
              <a:buChar char="•"/>
            </a:pPr>
            <a:r>
              <a:rPr lang="en-US" sz="2000" b="1">
                <a:solidFill>
                  <a:schemeClr val="lt1"/>
                </a:solidFill>
              </a:rPr>
              <a:t>T</a:t>
            </a:r>
            <a:r>
              <a:rPr lang="vi-VN" sz="2000" b="1">
                <a:solidFill>
                  <a:schemeClr val="lt1"/>
                </a:solidFill>
              </a:rPr>
              <a:t>race Cache là một bộ nhớ cache đặc biệt được sử dụng trong các bộ vi xử lý để lưu trữ các chuỗi các lệnh liên tiếp được thực thi trong chương trình.</a:t>
            </a:r>
          </a:p>
          <a:p>
            <a:pPr marL="342900" indent="-342900" rtl="0" fontAlgn="base">
              <a:spcBef>
                <a:spcPts val="0"/>
              </a:spcBef>
              <a:spcAft>
                <a:spcPts val="0"/>
              </a:spcAft>
              <a:buFont typeface="Arial" panose="020B0604020202020204" pitchFamily="34" charset="0"/>
              <a:buChar char="•"/>
            </a:pPr>
            <a:r>
              <a:rPr lang="vi-VN" sz="2000" b="1">
                <a:solidFill>
                  <a:schemeClr val="lt1"/>
                </a:solidFill>
              </a:rPr>
              <a:t>Trace Cache sử dụng một kỹ thuật gọi là “tracing” để xác định các chuỗi lệnh liên tiếp và lưu trữ chúng trong bộ nhớ cache.</a:t>
            </a:r>
          </a:p>
        </p:txBody>
      </p:sp>
      <p:sp>
        <p:nvSpPr>
          <p:cNvPr id="13" name="TextBox 12">
            <a:extLst>
              <a:ext uri="{FF2B5EF4-FFF2-40B4-BE49-F238E27FC236}">
                <a16:creationId xmlns:a16="http://schemas.microsoft.com/office/drawing/2014/main" id="{BF1AE6DA-0D2B-59DA-08B8-C423BCF6F6D0}"/>
              </a:ext>
            </a:extLst>
          </p:cNvPr>
          <p:cNvSpPr txBox="1"/>
          <p:nvPr/>
        </p:nvSpPr>
        <p:spPr>
          <a:xfrm>
            <a:off x="1409517" y="7888645"/>
            <a:ext cx="9100458" cy="2246769"/>
          </a:xfrm>
          <a:prstGeom prst="rect">
            <a:avLst/>
          </a:prstGeom>
          <a:noFill/>
        </p:spPr>
        <p:txBody>
          <a:bodyPr wrap="square">
            <a:spAutoFit/>
          </a:bodyPr>
          <a:lstStyle/>
          <a:p>
            <a:pPr marL="342900" indent="-342900" rtl="0" fontAlgn="base">
              <a:spcBef>
                <a:spcPts val="0"/>
              </a:spcBef>
              <a:spcAft>
                <a:spcPts val="0"/>
              </a:spcAft>
              <a:buFont typeface="Arial" panose="020B0604020202020204" pitchFamily="34" charset="0"/>
              <a:buChar char="•"/>
            </a:pPr>
            <a:r>
              <a:rPr lang="vi-VN" sz="2000" b="1">
                <a:solidFill>
                  <a:schemeClr val="lt1"/>
                </a:solidFill>
              </a:rPr>
              <a:t>Khi một chuỗi lệnh được thực thi, Trace Cache sẽ lưu trữ nó vào bộ nhớ cache để sử dụng lại trong tương lai nếu cần thiết.</a:t>
            </a:r>
          </a:p>
          <a:p>
            <a:pPr marL="342900" indent="-342900" rtl="0" fontAlgn="base">
              <a:spcBef>
                <a:spcPts val="0"/>
              </a:spcBef>
              <a:spcAft>
                <a:spcPts val="0"/>
              </a:spcAft>
              <a:buFont typeface="Arial" panose="020B0604020202020204" pitchFamily="34" charset="0"/>
              <a:buChar char="•"/>
            </a:pPr>
            <a:r>
              <a:rPr lang="vi-VN" sz="2000" b="1">
                <a:solidFill>
                  <a:schemeClr val="lt1"/>
                </a:solidFill>
              </a:rPr>
              <a:t>Khi một chuỗi lệnh mới được thực thi, Trace Cache sẽ kiểm tra xem nó có trùng với một chuỗi lệnh đã được lưu trữ trong cache hay không.</a:t>
            </a:r>
          </a:p>
          <a:p>
            <a:pPr marL="342900" indent="-342900" rtl="0" fontAlgn="base">
              <a:spcBef>
                <a:spcPts val="0"/>
              </a:spcBef>
              <a:spcAft>
                <a:spcPts val="0"/>
              </a:spcAft>
              <a:buFont typeface="Arial" panose="020B0604020202020204" pitchFamily="34" charset="0"/>
              <a:buChar char="•"/>
            </a:pPr>
            <a:r>
              <a:rPr lang="vi-VN" sz="2000" b="1">
                <a:solidFill>
                  <a:schemeClr val="lt1"/>
                </a:solidFill>
              </a:rPr>
              <a:t>Nếu có, nó sẽ sử dụng lại chuỗi lệnh đó từ cache thay vì truy cập bộ nhớ chính. Điều này giúp tăng tốc độ thực thi chương trình và giảm thời gian truy cập bộ nhớ chính.</a:t>
            </a:r>
          </a:p>
        </p:txBody>
      </p:sp>
      <p:sp>
        <p:nvSpPr>
          <p:cNvPr id="14" name="TextBox 13">
            <a:extLst>
              <a:ext uri="{FF2B5EF4-FFF2-40B4-BE49-F238E27FC236}">
                <a16:creationId xmlns:a16="http://schemas.microsoft.com/office/drawing/2014/main" id="{5B6E6F8B-32F7-D5E7-4C34-202DA2EC9C67}"/>
              </a:ext>
            </a:extLst>
          </p:cNvPr>
          <p:cNvSpPr txBox="1"/>
          <p:nvPr/>
        </p:nvSpPr>
        <p:spPr>
          <a:xfrm>
            <a:off x="1409517" y="10727179"/>
            <a:ext cx="9100458" cy="1015663"/>
          </a:xfrm>
          <a:prstGeom prst="rect">
            <a:avLst/>
          </a:prstGeom>
          <a:noFill/>
        </p:spPr>
        <p:txBody>
          <a:bodyPr wrap="square">
            <a:spAutoFit/>
          </a:bodyPr>
          <a:lstStyle/>
          <a:p>
            <a:pPr rtl="0" fontAlgn="base">
              <a:spcBef>
                <a:spcPts val="0"/>
              </a:spcBef>
              <a:spcAft>
                <a:spcPts val="0"/>
              </a:spcAft>
            </a:pPr>
            <a:r>
              <a:rPr lang="en-US" sz="2000" b="1">
                <a:solidFill>
                  <a:schemeClr val="lt1"/>
                </a:solidFill>
                <a:sym typeface="Wingdings" panose="05000000000000000000" pitchFamily="2" charset="2"/>
              </a:rPr>
              <a:t> </a:t>
            </a:r>
            <a:r>
              <a:rPr lang="vi-VN" sz="2000" b="1">
                <a:solidFill>
                  <a:schemeClr val="lt1"/>
                </a:solidFill>
              </a:rPr>
              <a:t>Trace Cache là một cấu trúc bộ nhớ cache đặc biệt được sử dụng trong vi xử lý để tăng hiệu suất thực thi chương trình. Nó giúp giảm thời gian truy cập bộ nhớ và tăng tốc độ thực thi chương trình</a:t>
            </a:r>
          </a:p>
        </p:txBody>
      </p:sp>
    </p:spTree>
    <p:extLst>
      <p:ext uri="{BB962C8B-B14F-4D97-AF65-F5344CB8AC3E}">
        <p14:creationId xmlns:p14="http://schemas.microsoft.com/office/powerpoint/2010/main" val="290842066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C5524C8-80EF-8557-BFC2-E1628CEEFFD7}"/>
              </a:ext>
            </a:extLst>
          </p:cNvPr>
          <p:cNvSpPr txBox="1"/>
          <p:nvPr/>
        </p:nvSpPr>
        <p:spPr>
          <a:xfrm>
            <a:off x="6633658" y="-2166881"/>
            <a:ext cx="4571371" cy="584775"/>
          </a:xfrm>
          <a:prstGeom prst="rect">
            <a:avLst/>
          </a:prstGeom>
          <a:noFill/>
        </p:spPr>
        <p:txBody>
          <a:bodyPr wrap="square">
            <a:spAutoFit/>
          </a:bodyPr>
          <a:lstStyle/>
          <a:p>
            <a:pPr algn="ctr"/>
            <a:r>
              <a:rPr lang="en-US" sz="3200" b="1" u="sng">
                <a:solidFill>
                  <a:schemeClr val="lt1"/>
                </a:solidFill>
              </a:rPr>
              <a:t>Trace Cache là gì?</a:t>
            </a:r>
          </a:p>
        </p:txBody>
      </p:sp>
      <p:sp>
        <p:nvSpPr>
          <p:cNvPr id="11" name="TextBox 10">
            <a:extLst>
              <a:ext uri="{FF2B5EF4-FFF2-40B4-BE49-F238E27FC236}">
                <a16:creationId xmlns:a16="http://schemas.microsoft.com/office/drawing/2014/main" id="{11476F8A-C122-3608-3262-1A16385BB178}"/>
              </a:ext>
            </a:extLst>
          </p:cNvPr>
          <p:cNvSpPr txBox="1"/>
          <p:nvPr/>
        </p:nvSpPr>
        <p:spPr>
          <a:xfrm>
            <a:off x="-5375912" y="2245984"/>
            <a:ext cx="4810427" cy="2862322"/>
          </a:xfrm>
          <a:prstGeom prst="rect">
            <a:avLst/>
          </a:prstGeom>
          <a:noFill/>
        </p:spPr>
        <p:txBody>
          <a:bodyPr wrap="square">
            <a:spAutoFit/>
          </a:bodyPr>
          <a:lstStyle/>
          <a:p>
            <a:pPr marL="342900" indent="-342900" rtl="0" fontAlgn="base">
              <a:spcBef>
                <a:spcPts val="0"/>
              </a:spcBef>
              <a:spcAft>
                <a:spcPts val="0"/>
              </a:spcAft>
              <a:buFont typeface="Arial" panose="020B0604020202020204" pitchFamily="34" charset="0"/>
              <a:buChar char="•"/>
            </a:pPr>
            <a:r>
              <a:rPr lang="en-US" sz="2000" b="1">
                <a:solidFill>
                  <a:schemeClr val="lt1"/>
                </a:solidFill>
              </a:rPr>
              <a:t>T</a:t>
            </a:r>
            <a:r>
              <a:rPr lang="vi-VN" sz="2000" b="1">
                <a:solidFill>
                  <a:schemeClr val="lt1"/>
                </a:solidFill>
              </a:rPr>
              <a:t>race Cache là một bộ nhớ cache đặc biệt được sử dụng trong các bộ vi xử lý để lưu trữ các chuỗi các lệnh liên tiếp được thực thi trong chương trình.</a:t>
            </a:r>
          </a:p>
          <a:p>
            <a:pPr marL="342900" indent="-342900" rtl="0" fontAlgn="base">
              <a:spcBef>
                <a:spcPts val="0"/>
              </a:spcBef>
              <a:spcAft>
                <a:spcPts val="0"/>
              </a:spcAft>
              <a:buFont typeface="Arial" panose="020B0604020202020204" pitchFamily="34" charset="0"/>
              <a:buChar char="•"/>
            </a:pPr>
            <a:r>
              <a:rPr lang="vi-VN" sz="2000" b="1">
                <a:solidFill>
                  <a:schemeClr val="lt1"/>
                </a:solidFill>
              </a:rPr>
              <a:t>Trace Cache sử dụng một kỹ thuật gọi là “tracing” để xác định các chuỗi lệnh liên tiếp và lưu trữ chúng trong bộ nhớ cache.</a:t>
            </a:r>
          </a:p>
        </p:txBody>
      </p:sp>
      <p:sp>
        <p:nvSpPr>
          <p:cNvPr id="9" name="TextBox 8">
            <a:extLst>
              <a:ext uri="{FF2B5EF4-FFF2-40B4-BE49-F238E27FC236}">
                <a16:creationId xmlns:a16="http://schemas.microsoft.com/office/drawing/2014/main" id="{17405843-C927-1643-B3AC-155C529799BB}"/>
              </a:ext>
            </a:extLst>
          </p:cNvPr>
          <p:cNvSpPr txBox="1"/>
          <p:nvPr/>
        </p:nvSpPr>
        <p:spPr>
          <a:xfrm>
            <a:off x="1409517" y="1938207"/>
            <a:ext cx="9100458" cy="2246769"/>
          </a:xfrm>
          <a:prstGeom prst="rect">
            <a:avLst/>
          </a:prstGeom>
          <a:noFill/>
        </p:spPr>
        <p:txBody>
          <a:bodyPr wrap="square">
            <a:spAutoFit/>
          </a:bodyPr>
          <a:lstStyle/>
          <a:p>
            <a:pPr marL="342900" indent="-342900" rtl="0" fontAlgn="base">
              <a:spcBef>
                <a:spcPts val="0"/>
              </a:spcBef>
              <a:spcAft>
                <a:spcPts val="0"/>
              </a:spcAft>
              <a:buFont typeface="Arial" panose="020B0604020202020204" pitchFamily="34" charset="0"/>
              <a:buChar char="•"/>
            </a:pPr>
            <a:r>
              <a:rPr lang="vi-VN" sz="2000" b="1">
                <a:solidFill>
                  <a:schemeClr val="lt1"/>
                </a:solidFill>
              </a:rPr>
              <a:t>Khi một chuỗi lệnh được thực thi, Trace Cache sẽ lưu trữ nó vào bộ nhớ cache để sử dụng lại trong tương lai nếu cần thiết.</a:t>
            </a:r>
          </a:p>
          <a:p>
            <a:pPr marL="342900" indent="-342900" rtl="0" fontAlgn="base">
              <a:spcBef>
                <a:spcPts val="0"/>
              </a:spcBef>
              <a:spcAft>
                <a:spcPts val="0"/>
              </a:spcAft>
              <a:buFont typeface="Arial" panose="020B0604020202020204" pitchFamily="34" charset="0"/>
              <a:buChar char="•"/>
            </a:pPr>
            <a:r>
              <a:rPr lang="vi-VN" sz="2000" b="1">
                <a:solidFill>
                  <a:schemeClr val="lt1"/>
                </a:solidFill>
              </a:rPr>
              <a:t>Khi một chuỗi lệnh mới được thực thi, Trace Cache sẽ kiểm tra xem nó có trùng với một chuỗi lệnh đã được lưu trữ trong cache hay không.</a:t>
            </a:r>
          </a:p>
          <a:p>
            <a:pPr marL="342900" indent="-342900" rtl="0" fontAlgn="base">
              <a:spcBef>
                <a:spcPts val="0"/>
              </a:spcBef>
              <a:spcAft>
                <a:spcPts val="0"/>
              </a:spcAft>
              <a:buFont typeface="Arial" panose="020B0604020202020204" pitchFamily="34" charset="0"/>
              <a:buChar char="•"/>
            </a:pPr>
            <a:r>
              <a:rPr lang="vi-VN" sz="2000" b="1">
                <a:solidFill>
                  <a:schemeClr val="lt1"/>
                </a:solidFill>
              </a:rPr>
              <a:t>Nếu có, nó sẽ sử dụng lại chuỗi lệnh đó từ cache thay vì truy cập bộ nhớ chính. Điều này giúp tăng tốc độ thực thi chương trình và giảm thời gian truy cập bộ nhớ chính.</a:t>
            </a:r>
          </a:p>
        </p:txBody>
      </p:sp>
      <p:sp>
        <p:nvSpPr>
          <p:cNvPr id="13" name="TextBox 12">
            <a:extLst>
              <a:ext uri="{FF2B5EF4-FFF2-40B4-BE49-F238E27FC236}">
                <a16:creationId xmlns:a16="http://schemas.microsoft.com/office/drawing/2014/main" id="{1E037938-E54E-3B94-5D40-17FE6D5431CB}"/>
              </a:ext>
            </a:extLst>
          </p:cNvPr>
          <p:cNvSpPr txBox="1"/>
          <p:nvPr/>
        </p:nvSpPr>
        <p:spPr>
          <a:xfrm>
            <a:off x="2997200" y="682609"/>
            <a:ext cx="9100458" cy="584775"/>
          </a:xfrm>
          <a:prstGeom prst="rect">
            <a:avLst/>
          </a:prstGeom>
          <a:noFill/>
        </p:spPr>
        <p:txBody>
          <a:bodyPr wrap="square">
            <a:spAutoFit/>
          </a:bodyPr>
          <a:lstStyle/>
          <a:p>
            <a:pPr algn="ctr"/>
            <a:r>
              <a:rPr lang="en-US" sz="3200" b="1" u="sng">
                <a:solidFill>
                  <a:schemeClr val="lt1"/>
                </a:solidFill>
              </a:rPr>
              <a:t>Cách hoạt động của bộ nhớ cache theo dõi</a:t>
            </a:r>
          </a:p>
        </p:txBody>
      </p:sp>
      <p:sp>
        <p:nvSpPr>
          <p:cNvPr id="14" name="TextBox 13">
            <a:extLst>
              <a:ext uri="{FF2B5EF4-FFF2-40B4-BE49-F238E27FC236}">
                <a16:creationId xmlns:a16="http://schemas.microsoft.com/office/drawing/2014/main" id="{F46A18E3-40D4-85DF-C1C3-30B4A93B517E}"/>
              </a:ext>
            </a:extLst>
          </p:cNvPr>
          <p:cNvSpPr txBox="1"/>
          <p:nvPr/>
        </p:nvSpPr>
        <p:spPr>
          <a:xfrm>
            <a:off x="1409517" y="4776741"/>
            <a:ext cx="9100458" cy="1015663"/>
          </a:xfrm>
          <a:prstGeom prst="rect">
            <a:avLst/>
          </a:prstGeom>
          <a:noFill/>
        </p:spPr>
        <p:txBody>
          <a:bodyPr wrap="square">
            <a:spAutoFit/>
          </a:bodyPr>
          <a:lstStyle/>
          <a:p>
            <a:pPr rtl="0" fontAlgn="base">
              <a:spcBef>
                <a:spcPts val="0"/>
              </a:spcBef>
              <a:spcAft>
                <a:spcPts val="0"/>
              </a:spcAft>
            </a:pPr>
            <a:r>
              <a:rPr lang="en-US" sz="2000" b="1">
                <a:solidFill>
                  <a:schemeClr val="lt1"/>
                </a:solidFill>
                <a:sym typeface="Wingdings" panose="05000000000000000000" pitchFamily="2" charset="2"/>
              </a:rPr>
              <a:t> </a:t>
            </a:r>
            <a:r>
              <a:rPr lang="vi-VN" sz="2000" b="1">
                <a:solidFill>
                  <a:schemeClr val="lt1"/>
                </a:solidFill>
              </a:rPr>
              <a:t>Trace Cache là một cấu trúc bộ nhớ cache đặc biệt được sử dụng trong vi xử lý để tăng hiệu suất thực thi chương trình. Nó giúp giảm thời gian truy cập bộ nhớ và tăng tốc độ thực thi chương trình</a:t>
            </a:r>
          </a:p>
        </p:txBody>
      </p:sp>
      <p:sp>
        <p:nvSpPr>
          <p:cNvPr id="2" name="TextBox 1">
            <a:extLst>
              <a:ext uri="{FF2B5EF4-FFF2-40B4-BE49-F238E27FC236}">
                <a16:creationId xmlns:a16="http://schemas.microsoft.com/office/drawing/2014/main" id="{17A40EE9-89F7-5768-DF9C-6EB2FAFE11D9}"/>
              </a:ext>
            </a:extLst>
          </p:cNvPr>
          <p:cNvSpPr txBox="1"/>
          <p:nvPr/>
        </p:nvSpPr>
        <p:spPr>
          <a:xfrm>
            <a:off x="1545771" y="8298078"/>
            <a:ext cx="4390572" cy="3170099"/>
          </a:xfrm>
          <a:prstGeom prst="rect">
            <a:avLst/>
          </a:prstGeom>
          <a:noFill/>
        </p:spPr>
        <p:txBody>
          <a:bodyPr wrap="square">
            <a:spAutoFit/>
          </a:bodyPr>
          <a:lstStyle/>
          <a:p>
            <a:pPr marL="342900" indent="-342900" rtl="0" fontAlgn="base">
              <a:spcBef>
                <a:spcPts val="0"/>
              </a:spcBef>
              <a:spcAft>
                <a:spcPts val="0"/>
              </a:spcAft>
              <a:buFont typeface="Arial" panose="020B0604020202020204" pitchFamily="34" charset="0"/>
              <a:buChar char="•"/>
            </a:pPr>
            <a:r>
              <a:rPr lang="vi-VN" sz="2000" b="1">
                <a:solidFill>
                  <a:schemeClr val="lt1"/>
                </a:solidFill>
              </a:rPr>
              <a:t>Software Trace Cache (STC) là Trace Cache thông thường được sử dụng trong nhiều bộ xử lý có kiến trúc RISC hoặc VLIW.</a:t>
            </a:r>
          </a:p>
          <a:p>
            <a:pPr marL="342900" indent="-342900" rtl="0" fontAlgn="base">
              <a:spcBef>
                <a:spcPts val="0"/>
              </a:spcBef>
              <a:spcAft>
                <a:spcPts val="0"/>
              </a:spcAft>
              <a:buFont typeface="Arial" panose="020B0604020202020204" pitchFamily="34" charset="0"/>
              <a:buChar char="•"/>
            </a:pPr>
            <a:r>
              <a:rPr lang="vi-VN" sz="2000" b="1">
                <a:solidFill>
                  <a:schemeClr val="lt1"/>
                </a:solidFill>
              </a:rPr>
              <a:t> Hardware Trace Cache là sự tương tác giữa kỹ thuật phần mềm và phần cứng nhằm mục đích tăng hướng dẫn tìm nạp băng thông.</a:t>
            </a:r>
          </a:p>
        </p:txBody>
      </p:sp>
    </p:spTree>
    <p:extLst>
      <p:ext uri="{BB962C8B-B14F-4D97-AF65-F5344CB8AC3E}">
        <p14:creationId xmlns:p14="http://schemas.microsoft.com/office/powerpoint/2010/main" val="8474577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7405843-C927-1643-B3AC-155C529799BB}"/>
              </a:ext>
            </a:extLst>
          </p:cNvPr>
          <p:cNvSpPr txBox="1"/>
          <p:nvPr/>
        </p:nvSpPr>
        <p:spPr>
          <a:xfrm>
            <a:off x="-10121086" y="1938207"/>
            <a:ext cx="9100458" cy="2246769"/>
          </a:xfrm>
          <a:prstGeom prst="rect">
            <a:avLst/>
          </a:prstGeom>
          <a:noFill/>
        </p:spPr>
        <p:txBody>
          <a:bodyPr wrap="square">
            <a:spAutoFit/>
          </a:bodyPr>
          <a:lstStyle/>
          <a:p>
            <a:pPr marL="342900" indent="-342900" rtl="0" fontAlgn="base">
              <a:spcBef>
                <a:spcPts val="0"/>
              </a:spcBef>
              <a:spcAft>
                <a:spcPts val="0"/>
              </a:spcAft>
              <a:buFont typeface="Arial" panose="020B0604020202020204" pitchFamily="34" charset="0"/>
              <a:buChar char="•"/>
            </a:pPr>
            <a:r>
              <a:rPr lang="vi-VN" sz="2000" b="1">
                <a:solidFill>
                  <a:schemeClr val="lt1"/>
                </a:solidFill>
              </a:rPr>
              <a:t>Khi một chuỗi lệnh được thực thi, Trace Cache sẽ lưu trữ nó vào bộ nhớ cache để sử dụng lại trong tương lai nếu cần thiết.</a:t>
            </a:r>
          </a:p>
          <a:p>
            <a:pPr marL="342900" indent="-342900" rtl="0" fontAlgn="base">
              <a:spcBef>
                <a:spcPts val="0"/>
              </a:spcBef>
              <a:spcAft>
                <a:spcPts val="0"/>
              </a:spcAft>
              <a:buFont typeface="Arial" panose="020B0604020202020204" pitchFamily="34" charset="0"/>
              <a:buChar char="•"/>
            </a:pPr>
            <a:r>
              <a:rPr lang="vi-VN" sz="2000" b="1">
                <a:solidFill>
                  <a:schemeClr val="lt1"/>
                </a:solidFill>
              </a:rPr>
              <a:t>Khi một chuỗi lệnh mới được thực thi, Trace Cache sẽ kiểm tra xem nó có trùng với một chuỗi lệnh đã được lưu trữ trong cache hay không.</a:t>
            </a:r>
          </a:p>
          <a:p>
            <a:pPr marL="342900" indent="-342900" rtl="0" fontAlgn="base">
              <a:spcBef>
                <a:spcPts val="0"/>
              </a:spcBef>
              <a:spcAft>
                <a:spcPts val="0"/>
              </a:spcAft>
              <a:buFont typeface="Arial" panose="020B0604020202020204" pitchFamily="34" charset="0"/>
              <a:buChar char="•"/>
            </a:pPr>
            <a:r>
              <a:rPr lang="vi-VN" sz="2000" b="1">
                <a:solidFill>
                  <a:schemeClr val="lt1"/>
                </a:solidFill>
              </a:rPr>
              <a:t>Nếu có, nó sẽ sử dụng lại chuỗi lệnh đó từ cache thay vì truy cập bộ nhớ chính. Điều này giúp tăng tốc độ thực thi chương trình và giảm thời gian truy cập bộ nhớ chính.</a:t>
            </a:r>
          </a:p>
        </p:txBody>
      </p:sp>
      <p:sp>
        <p:nvSpPr>
          <p:cNvPr id="13" name="TextBox 12">
            <a:extLst>
              <a:ext uri="{FF2B5EF4-FFF2-40B4-BE49-F238E27FC236}">
                <a16:creationId xmlns:a16="http://schemas.microsoft.com/office/drawing/2014/main" id="{1E037938-E54E-3B94-5D40-17FE6D5431CB}"/>
              </a:ext>
            </a:extLst>
          </p:cNvPr>
          <p:cNvSpPr txBox="1"/>
          <p:nvPr/>
        </p:nvSpPr>
        <p:spPr>
          <a:xfrm>
            <a:off x="2997200" y="-1511951"/>
            <a:ext cx="9100458" cy="584775"/>
          </a:xfrm>
          <a:prstGeom prst="rect">
            <a:avLst/>
          </a:prstGeom>
          <a:noFill/>
        </p:spPr>
        <p:txBody>
          <a:bodyPr wrap="square">
            <a:spAutoFit/>
          </a:bodyPr>
          <a:lstStyle/>
          <a:p>
            <a:pPr algn="ctr"/>
            <a:r>
              <a:rPr lang="en-US" sz="3200" b="1" u="sng">
                <a:solidFill>
                  <a:schemeClr val="lt1"/>
                </a:solidFill>
              </a:rPr>
              <a:t>Cách hoạt động của bộ nhớ cache theo dõi</a:t>
            </a:r>
          </a:p>
        </p:txBody>
      </p:sp>
      <p:sp>
        <p:nvSpPr>
          <p:cNvPr id="14" name="TextBox 13">
            <a:extLst>
              <a:ext uri="{FF2B5EF4-FFF2-40B4-BE49-F238E27FC236}">
                <a16:creationId xmlns:a16="http://schemas.microsoft.com/office/drawing/2014/main" id="{F46A18E3-40D4-85DF-C1C3-30B4A93B517E}"/>
              </a:ext>
            </a:extLst>
          </p:cNvPr>
          <p:cNvSpPr txBox="1"/>
          <p:nvPr/>
        </p:nvSpPr>
        <p:spPr>
          <a:xfrm>
            <a:off x="-9708435" y="4776741"/>
            <a:ext cx="9100458" cy="1015663"/>
          </a:xfrm>
          <a:prstGeom prst="rect">
            <a:avLst/>
          </a:prstGeom>
          <a:noFill/>
        </p:spPr>
        <p:txBody>
          <a:bodyPr wrap="square">
            <a:spAutoFit/>
          </a:bodyPr>
          <a:lstStyle/>
          <a:p>
            <a:pPr rtl="0" fontAlgn="base">
              <a:spcBef>
                <a:spcPts val="0"/>
              </a:spcBef>
              <a:spcAft>
                <a:spcPts val="0"/>
              </a:spcAft>
            </a:pPr>
            <a:r>
              <a:rPr lang="en-US" sz="2000" b="1">
                <a:solidFill>
                  <a:schemeClr val="lt1"/>
                </a:solidFill>
                <a:sym typeface="Wingdings" panose="05000000000000000000" pitchFamily="2" charset="2"/>
              </a:rPr>
              <a:t> </a:t>
            </a:r>
            <a:r>
              <a:rPr lang="vi-VN" sz="2000" b="1">
                <a:solidFill>
                  <a:schemeClr val="lt1"/>
                </a:solidFill>
              </a:rPr>
              <a:t>Trace Cache là một cấu trúc bộ nhớ cache đặc biệt được sử dụng trong vi xử lý để tăng hiệu suất thực thi chương trình. Nó giúp giảm thời gian truy cập bộ nhớ và tăng tốc độ thực thi chương trình</a:t>
            </a:r>
          </a:p>
        </p:txBody>
      </p:sp>
      <p:sp>
        <p:nvSpPr>
          <p:cNvPr id="2" name="TextBox 1">
            <a:extLst>
              <a:ext uri="{FF2B5EF4-FFF2-40B4-BE49-F238E27FC236}">
                <a16:creationId xmlns:a16="http://schemas.microsoft.com/office/drawing/2014/main" id="{B95EC1BF-66FA-7CA0-2E5A-3EDEE7CE91AC}"/>
              </a:ext>
            </a:extLst>
          </p:cNvPr>
          <p:cNvSpPr txBox="1"/>
          <p:nvPr/>
        </p:nvSpPr>
        <p:spPr>
          <a:xfrm>
            <a:off x="5529943" y="537466"/>
            <a:ext cx="5900058" cy="584775"/>
          </a:xfrm>
          <a:prstGeom prst="rect">
            <a:avLst/>
          </a:prstGeom>
          <a:noFill/>
        </p:spPr>
        <p:txBody>
          <a:bodyPr wrap="square">
            <a:spAutoFit/>
          </a:bodyPr>
          <a:lstStyle/>
          <a:p>
            <a:pPr algn="ctr"/>
            <a:r>
              <a:rPr lang="en-US" sz="3200" b="1" u="sng">
                <a:solidFill>
                  <a:schemeClr val="lt1"/>
                </a:solidFill>
              </a:rPr>
              <a:t>Phân loại bộ nhớ cache theo dõi</a:t>
            </a:r>
          </a:p>
        </p:txBody>
      </p:sp>
      <p:sp>
        <p:nvSpPr>
          <p:cNvPr id="3" name="TextBox 2">
            <a:extLst>
              <a:ext uri="{FF2B5EF4-FFF2-40B4-BE49-F238E27FC236}">
                <a16:creationId xmlns:a16="http://schemas.microsoft.com/office/drawing/2014/main" id="{0375D247-97EB-8CC3-10AA-C77D7569AA42}"/>
              </a:ext>
            </a:extLst>
          </p:cNvPr>
          <p:cNvSpPr txBox="1"/>
          <p:nvPr/>
        </p:nvSpPr>
        <p:spPr>
          <a:xfrm>
            <a:off x="1545771" y="1938206"/>
            <a:ext cx="4390572" cy="3170099"/>
          </a:xfrm>
          <a:prstGeom prst="rect">
            <a:avLst/>
          </a:prstGeom>
          <a:noFill/>
        </p:spPr>
        <p:txBody>
          <a:bodyPr wrap="square">
            <a:spAutoFit/>
          </a:bodyPr>
          <a:lstStyle/>
          <a:p>
            <a:pPr marL="342900" indent="-342900" rtl="0" fontAlgn="base">
              <a:spcBef>
                <a:spcPts val="0"/>
              </a:spcBef>
              <a:spcAft>
                <a:spcPts val="0"/>
              </a:spcAft>
              <a:buFont typeface="Arial" panose="020B0604020202020204" pitchFamily="34" charset="0"/>
              <a:buChar char="•"/>
            </a:pPr>
            <a:r>
              <a:rPr lang="vi-VN" sz="2000" b="1">
                <a:solidFill>
                  <a:schemeClr val="lt1"/>
                </a:solidFill>
              </a:rPr>
              <a:t>Software Trace Cache (STC) là Trace Cache thông thường được sử dụng trong nhiều bộ xử lý có kiến trúc RISC hoặc VLIW.</a:t>
            </a:r>
          </a:p>
          <a:p>
            <a:pPr marL="342900" indent="-342900" rtl="0" fontAlgn="base">
              <a:spcBef>
                <a:spcPts val="0"/>
              </a:spcBef>
              <a:spcAft>
                <a:spcPts val="0"/>
              </a:spcAft>
              <a:buFont typeface="Arial" panose="020B0604020202020204" pitchFamily="34" charset="0"/>
              <a:buChar char="•"/>
            </a:pPr>
            <a:r>
              <a:rPr lang="vi-VN" sz="2000" b="1">
                <a:solidFill>
                  <a:schemeClr val="lt1"/>
                </a:solidFill>
              </a:rPr>
              <a:t> Hardware Trace Cache là sự tương tác giữa kỹ thuật phần mềm và phần cứng nhằm mục đích tăng hướng dẫn tìm nạp băng thông.</a:t>
            </a:r>
          </a:p>
        </p:txBody>
      </p:sp>
      <p:sp>
        <p:nvSpPr>
          <p:cNvPr id="4" name="TextBox 3">
            <a:extLst>
              <a:ext uri="{FF2B5EF4-FFF2-40B4-BE49-F238E27FC236}">
                <a16:creationId xmlns:a16="http://schemas.microsoft.com/office/drawing/2014/main" id="{7C4A3C5D-B442-0FAF-5E5D-6B8BD6896EC5}"/>
              </a:ext>
            </a:extLst>
          </p:cNvPr>
          <p:cNvSpPr txBox="1"/>
          <p:nvPr/>
        </p:nvSpPr>
        <p:spPr>
          <a:xfrm>
            <a:off x="3145971" y="8038555"/>
            <a:ext cx="5900058"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Software Trace Cache (STC)</a:t>
            </a:r>
          </a:p>
        </p:txBody>
      </p:sp>
      <p:pic>
        <p:nvPicPr>
          <p:cNvPr id="5" name="Picture 2">
            <a:extLst>
              <a:ext uri="{FF2B5EF4-FFF2-40B4-BE49-F238E27FC236}">
                <a16:creationId xmlns:a16="http://schemas.microsoft.com/office/drawing/2014/main" id="{6327ADCA-A263-2575-6B70-527A2F2BE5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8275" y="8781133"/>
            <a:ext cx="6335449" cy="447208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F543085-3C74-9C1A-A276-15096F28AD36}"/>
              </a:ext>
            </a:extLst>
          </p:cNvPr>
          <p:cNvSpPr txBox="1"/>
          <p:nvPr/>
        </p:nvSpPr>
        <p:spPr>
          <a:xfrm>
            <a:off x="4295333" y="13411017"/>
            <a:ext cx="3601332" cy="400110"/>
          </a:xfrm>
          <a:prstGeom prst="rect">
            <a:avLst/>
          </a:prstGeom>
          <a:noFill/>
        </p:spPr>
        <p:txBody>
          <a:bodyPr wrap="square">
            <a:spAutoFit/>
          </a:bodyPr>
          <a:lstStyle/>
          <a:p>
            <a:pPr algn="ctr" rtl="0">
              <a:spcBef>
                <a:spcPts val="0"/>
              </a:spcBef>
              <a:spcAft>
                <a:spcPts val="800"/>
              </a:spcAft>
            </a:pPr>
            <a:r>
              <a:rPr lang="vi-VN" sz="2000" b="1">
                <a:solidFill>
                  <a:schemeClr val="lt1"/>
                </a:solidFill>
              </a:rPr>
              <a:t>Sơ đồ Software </a:t>
            </a:r>
            <a:r>
              <a:rPr lang="en-US" sz="2000" b="1">
                <a:solidFill>
                  <a:schemeClr val="lt1"/>
                </a:solidFill>
                <a:latin typeface="Arial" panose="020B0604020202020204" pitchFamily="34" charset="0"/>
                <a:cs typeface="Arial" panose="020B0604020202020204" pitchFamily="34" charset="0"/>
              </a:rPr>
              <a:t>T</a:t>
            </a:r>
            <a:r>
              <a:rPr lang="vi-VN" sz="2000" b="1">
                <a:solidFill>
                  <a:schemeClr val="lt1"/>
                </a:solidFill>
                <a:latin typeface="Arial" panose="020B0604020202020204" pitchFamily="34" charset="0"/>
                <a:cs typeface="Arial" panose="020B0604020202020204" pitchFamily="34" charset="0"/>
              </a:rPr>
              <a:t>race </a:t>
            </a:r>
            <a:r>
              <a:rPr lang="en-US" sz="2000" b="1">
                <a:solidFill>
                  <a:schemeClr val="lt1"/>
                </a:solidFill>
              </a:rPr>
              <a:t>C</a:t>
            </a:r>
            <a:r>
              <a:rPr lang="vi-VN" sz="2000" b="1">
                <a:solidFill>
                  <a:schemeClr val="lt1"/>
                </a:solidFill>
              </a:rPr>
              <a:t>ache</a:t>
            </a:r>
          </a:p>
        </p:txBody>
      </p:sp>
    </p:spTree>
    <p:extLst>
      <p:ext uri="{BB962C8B-B14F-4D97-AF65-F5344CB8AC3E}">
        <p14:creationId xmlns:p14="http://schemas.microsoft.com/office/powerpoint/2010/main" val="3355228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5EC1BF-66FA-7CA0-2E5A-3EDEE7CE91AC}"/>
              </a:ext>
            </a:extLst>
          </p:cNvPr>
          <p:cNvSpPr txBox="1"/>
          <p:nvPr/>
        </p:nvSpPr>
        <p:spPr>
          <a:xfrm>
            <a:off x="5529943" y="-1249131"/>
            <a:ext cx="5900058" cy="584775"/>
          </a:xfrm>
          <a:prstGeom prst="rect">
            <a:avLst/>
          </a:prstGeom>
          <a:noFill/>
        </p:spPr>
        <p:txBody>
          <a:bodyPr wrap="square">
            <a:spAutoFit/>
          </a:bodyPr>
          <a:lstStyle/>
          <a:p>
            <a:pPr algn="ctr"/>
            <a:r>
              <a:rPr lang="en-US" sz="3200" b="1" u="sng">
                <a:solidFill>
                  <a:schemeClr val="lt1"/>
                </a:solidFill>
              </a:rPr>
              <a:t>Phân loại bộ nhớ cache theo dõi</a:t>
            </a:r>
          </a:p>
        </p:txBody>
      </p:sp>
      <p:sp>
        <p:nvSpPr>
          <p:cNvPr id="3" name="TextBox 2">
            <a:extLst>
              <a:ext uri="{FF2B5EF4-FFF2-40B4-BE49-F238E27FC236}">
                <a16:creationId xmlns:a16="http://schemas.microsoft.com/office/drawing/2014/main" id="{0375D247-97EB-8CC3-10AA-C77D7569AA42}"/>
              </a:ext>
            </a:extLst>
          </p:cNvPr>
          <p:cNvSpPr txBox="1"/>
          <p:nvPr/>
        </p:nvSpPr>
        <p:spPr>
          <a:xfrm>
            <a:off x="-5480933" y="1938206"/>
            <a:ext cx="4390572" cy="3170099"/>
          </a:xfrm>
          <a:prstGeom prst="rect">
            <a:avLst/>
          </a:prstGeom>
          <a:noFill/>
        </p:spPr>
        <p:txBody>
          <a:bodyPr wrap="square">
            <a:spAutoFit/>
          </a:bodyPr>
          <a:lstStyle/>
          <a:p>
            <a:pPr marL="342900" indent="-342900" rtl="0" fontAlgn="base">
              <a:spcBef>
                <a:spcPts val="0"/>
              </a:spcBef>
              <a:spcAft>
                <a:spcPts val="0"/>
              </a:spcAft>
              <a:buFont typeface="Arial" panose="020B0604020202020204" pitchFamily="34" charset="0"/>
              <a:buChar char="•"/>
            </a:pPr>
            <a:r>
              <a:rPr lang="vi-VN" sz="2000" b="1">
                <a:solidFill>
                  <a:schemeClr val="lt1"/>
                </a:solidFill>
              </a:rPr>
              <a:t>Software Trace Cache (STC) là Trace Cache thông thường được sử dụng trong nhiều bộ xử lý có kiến trúc RISC hoặc VLIW.</a:t>
            </a:r>
          </a:p>
          <a:p>
            <a:pPr marL="342900" indent="-342900" rtl="0" fontAlgn="base">
              <a:spcBef>
                <a:spcPts val="0"/>
              </a:spcBef>
              <a:spcAft>
                <a:spcPts val="0"/>
              </a:spcAft>
              <a:buFont typeface="Arial" panose="020B0604020202020204" pitchFamily="34" charset="0"/>
              <a:buChar char="•"/>
            </a:pPr>
            <a:r>
              <a:rPr lang="vi-VN" sz="2000" b="1">
                <a:solidFill>
                  <a:schemeClr val="lt1"/>
                </a:solidFill>
              </a:rPr>
              <a:t> Hardware Trace Cache là sự tương tác giữa kỹ thuật phần mềm và phần cứng nhằm mục đích tăng hướng dẫn tìm nạp băng thông.</a:t>
            </a:r>
          </a:p>
        </p:txBody>
      </p:sp>
      <p:sp>
        <p:nvSpPr>
          <p:cNvPr id="4" name="TextBox 3">
            <a:extLst>
              <a:ext uri="{FF2B5EF4-FFF2-40B4-BE49-F238E27FC236}">
                <a16:creationId xmlns:a16="http://schemas.microsoft.com/office/drawing/2014/main" id="{FBDF9043-CD4A-FD52-616F-7379EC349F19}"/>
              </a:ext>
            </a:extLst>
          </p:cNvPr>
          <p:cNvSpPr txBox="1"/>
          <p:nvPr/>
        </p:nvSpPr>
        <p:spPr>
          <a:xfrm>
            <a:off x="3145971" y="450381"/>
            <a:ext cx="5900058"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Software Trace Cache (STC)</a:t>
            </a:r>
          </a:p>
        </p:txBody>
      </p:sp>
      <p:pic>
        <p:nvPicPr>
          <p:cNvPr id="1026" name="Picture 2">
            <a:extLst>
              <a:ext uri="{FF2B5EF4-FFF2-40B4-BE49-F238E27FC236}">
                <a16:creationId xmlns:a16="http://schemas.microsoft.com/office/drawing/2014/main" id="{186641A6-41D9-E240-EE7B-8F9581DAD7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8275" y="1192959"/>
            <a:ext cx="6335449" cy="447208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937A2C3-3BEE-D66B-B233-B67B41C798D1}"/>
              </a:ext>
            </a:extLst>
          </p:cNvPr>
          <p:cNvSpPr txBox="1"/>
          <p:nvPr/>
        </p:nvSpPr>
        <p:spPr>
          <a:xfrm>
            <a:off x="4295333" y="5822843"/>
            <a:ext cx="3601332" cy="400110"/>
          </a:xfrm>
          <a:prstGeom prst="rect">
            <a:avLst/>
          </a:prstGeom>
          <a:noFill/>
        </p:spPr>
        <p:txBody>
          <a:bodyPr wrap="square">
            <a:spAutoFit/>
          </a:bodyPr>
          <a:lstStyle/>
          <a:p>
            <a:pPr algn="ctr" rtl="0">
              <a:spcBef>
                <a:spcPts val="0"/>
              </a:spcBef>
              <a:spcAft>
                <a:spcPts val="800"/>
              </a:spcAft>
            </a:pPr>
            <a:r>
              <a:rPr lang="vi-VN" sz="2000" b="1">
                <a:solidFill>
                  <a:schemeClr val="lt1"/>
                </a:solidFill>
              </a:rPr>
              <a:t>Sơ đồ Software </a:t>
            </a:r>
            <a:r>
              <a:rPr lang="en-US" sz="2000" b="1">
                <a:solidFill>
                  <a:schemeClr val="lt1"/>
                </a:solidFill>
                <a:latin typeface="Arial" panose="020B0604020202020204" pitchFamily="34" charset="0"/>
                <a:cs typeface="Arial" panose="020B0604020202020204" pitchFamily="34" charset="0"/>
              </a:rPr>
              <a:t>T</a:t>
            </a:r>
            <a:r>
              <a:rPr lang="vi-VN" sz="2000" b="1">
                <a:solidFill>
                  <a:schemeClr val="lt1"/>
                </a:solidFill>
                <a:latin typeface="Arial" panose="020B0604020202020204" pitchFamily="34" charset="0"/>
                <a:cs typeface="Arial" panose="020B0604020202020204" pitchFamily="34" charset="0"/>
              </a:rPr>
              <a:t>race </a:t>
            </a:r>
            <a:r>
              <a:rPr lang="en-US" sz="2000" b="1">
                <a:solidFill>
                  <a:schemeClr val="lt1"/>
                </a:solidFill>
              </a:rPr>
              <a:t>C</a:t>
            </a:r>
            <a:r>
              <a:rPr lang="vi-VN" sz="2000" b="1">
                <a:solidFill>
                  <a:schemeClr val="lt1"/>
                </a:solidFill>
              </a:rPr>
              <a:t>ache</a:t>
            </a:r>
          </a:p>
        </p:txBody>
      </p:sp>
      <p:sp>
        <p:nvSpPr>
          <p:cNvPr id="5" name="TextBox 4">
            <a:extLst>
              <a:ext uri="{FF2B5EF4-FFF2-40B4-BE49-F238E27FC236}">
                <a16:creationId xmlns:a16="http://schemas.microsoft.com/office/drawing/2014/main" id="{E6AB1ACC-C1A7-3FB8-C49A-F07D531322F7}"/>
              </a:ext>
            </a:extLst>
          </p:cNvPr>
          <p:cNvSpPr txBox="1"/>
          <p:nvPr/>
        </p:nvSpPr>
        <p:spPr>
          <a:xfrm>
            <a:off x="3145971" y="8175033"/>
            <a:ext cx="5900058"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 Hardware Trace Cache (HTC)</a:t>
            </a:r>
          </a:p>
        </p:txBody>
      </p:sp>
      <p:sp>
        <p:nvSpPr>
          <p:cNvPr id="7" name="TextBox 6">
            <a:extLst>
              <a:ext uri="{FF2B5EF4-FFF2-40B4-BE49-F238E27FC236}">
                <a16:creationId xmlns:a16="http://schemas.microsoft.com/office/drawing/2014/main" id="{1642E389-72F0-A78B-71DE-B7AC6194AB4C}"/>
              </a:ext>
            </a:extLst>
          </p:cNvPr>
          <p:cNvSpPr txBox="1"/>
          <p:nvPr/>
        </p:nvSpPr>
        <p:spPr>
          <a:xfrm>
            <a:off x="4219132" y="13547495"/>
            <a:ext cx="3753732" cy="400110"/>
          </a:xfrm>
          <a:prstGeom prst="rect">
            <a:avLst/>
          </a:prstGeom>
          <a:noFill/>
        </p:spPr>
        <p:txBody>
          <a:bodyPr wrap="square">
            <a:spAutoFit/>
          </a:bodyPr>
          <a:lstStyle/>
          <a:p>
            <a:pPr algn="ctr" rtl="0">
              <a:spcBef>
                <a:spcPts val="0"/>
              </a:spcBef>
              <a:spcAft>
                <a:spcPts val="800"/>
              </a:spcAft>
            </a:pPr>
            <a:r>
              <a:rPr lang="vi-VN" sz="2000" b="1">
                <a:solidFill>
                  <a:schemeClr val="lt1"/>
                </a:solidFill>
              </a:rPr>
              <a:t>Sơ đồ Hardware </a:t>
            </a:r>
            <a:r>
              <a:rPr lang="en-US" sz="2000" b="1">
                <a:solidFill>
                  <a:schemeClr val="lt1"/>
                </a:solidFill>
                <a:latin typeface="Arial" panose="020B0604020202020204" pitchFamily="34" charset="0"/>
                <a:cs typeface="Arial" panose="020B0604020202020204" pitchFamily="34" charset="0"/>
              </a:rPr>
              <a:t>T</a:t>
            </a:r>
            <a:r>
              <a:rPr lang="vi-VN" sz="2000" b="1">
                <a:solidFill>
                  <a:schemeClr val="lt1"/>
                </a:solidFill>
                <a:latin typeface="Arial" panose="020B0604020202020204" pitchFamily="34" charset="0"/>
                <a:cs typeface="Arial" panose="020B0604020202020204" pitchFamily="34" charset="0"/>
              </a:rPr>
              <a:t>race </a:t>
            </a:r>
            <a:r>
              <a:rPr lang="en-US" sz="2000" b="1">
                <a:solidFill>
                  <a:schemeClr val="lt1"/>
                </a:solidFill>
              </a:rPr>
              <a:t>C</a:t>
            </a:r>
            <a:r>
              <a:rPr lang="vi-VN" sz="2000" b="1">
                <a:solidFill>
                  <a:schemeClr val="lt1"/>
                </a:solidFill>
              </a:rPr>
              <a:t>ache</a:t>
            </a:r>
          </a:p>
        </p:txBody>
      </p:sp>
      <p:pic>
        <p:nvPicPr>
          <p:cNvPr id="8" name="Picture 2">
            <a:extLst>
              <a:ext uri="{FF2B5EF4-FFF2-40B4-BE49-F238E27FC236}">
                <a16:creationId xmlns:a16="http://schemas.microsoft.com/office/drawing/2014/main" id="{E2717ED5-FC24-AB09-FFCD-7A4F797403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0956" y="9008585"/>
            <a:ext cx="8210085" cy="4290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78807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BDF9043-CD4A-FD52-616F-7379EC349F19}"/>
              </a:ext>
            </a:extLst>
          </p:cNvPr>
          <p:cNvSpPr txBox="1"/>
          <p:nvPr/>
        </p:nvSpPr>
        <p:spPr>
          <a:xfrm>
            <a:off x="3145971" y="450381"/>
            <a:ext cx="5900058"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 Hardware Trace Cache (HTC)</a:t>
            </a:r>
          </a:p>
        </p:txBody>
      </p:sp>
      <p:sp>
        <p:nvSpPr>
          <p:cNvPr id="6" name="TextBox 5">
            <a:extLst>
              <a:ext uri="{FF2B5EF4-FFF2-40B4-BE49-F238E27FC236}">
                <a16:creationId xmlns:a16="http://schemas.microsoft.com/office/drawing/2014/main" id="{1937A2C3-3BEE-D66B-B233-B67B41C798D1}"/>
              </a:ext>
            </a:extLst>
          </p:cNvPr>
          <p:cNvSpPr txBox="1"/>
          <p:nvPr/>
        </p:nvSpPr>
        <p:spPr>
          <a:xfrm>
            <a:off x="4219132" y="5822843"/>
            <a:ext cx="3753732" cy="400110"/>
          </a:xfrm>
          <a:prstGeom prst="rect">
            <a:avLst/>
          </a:prstGeom>
          <a:noFill/>
        </p:spPr>
        <p:txBody>
          <a:bodyPr wrap="square">
            <a:spAutoFit/>
          </a:bodyPr>
          <a:lstStyle/>
          <a:p>
            <a:pPr algn="ctr" rtl="0">
              <a:spcBef>
                <a:spcPts val="0"/>
              </a:spcBef>
              <a:spcAft>
                <a:spcPts val="800"/>
              </a:spcAft>
            </a:pPr>
            <a:r>
              <a:rPr lang="vi-VN" sz="2000" b="1">
                <a:solidFill>
                  <a:schemeClr val="lt1"/>
                </a:solidFill>
              </a:rPr>
              <a:t>Sơ đồ Hardware </a:t>
            </a:r>
            <a:r>
              <a:rPr lang="en-US" sz="2000" b="1">
                <a:solidFill>
                  <a:schemeClr val="lt1"/>
                </a:solidFill>
                <a:latin typeface="Arial" panose="020B0604020202020204" pitchFamily="34" charset="0"/>
                <a:cs typeface="Arial" panose="020B0604020202020204" pitchFamily="34" charset="0"/>
              </a:rPr>
              <a:t>T</a:t>
            </a:r>
            <a:r>
              <a:rPr lang="vi-VN" sz="2000" b="1">
                <a:solidFill>
                  <a:schemeClr val="lt1"/>
                </a:solidFill>
                <a:latin typeface="Arial" panose="020B0604020202020204" pitchFamily="34" charset="0"/>
                <a:cs typeface="Arial" panose="020B0604020202020204" pitchFamily="34" charset="0"/>
              </a:rPr>
              <a:t>race </a:t>
            </a:r>
            <a:r>
              <a:rPr lang="en-US" sz="2000" b="1">
                <a:solidFill>
                  <a:schemeClr val="lt1"/>
                </a:solidFill>
              </a:rPr>
              <a:t>C</a:t>
            </a:r>
            <a:r>
              <a:rPr lang="vi-VN" sz="2000" b="1">
                <a:solidFill>
                  <a:schemeClr val="lt1"/>
                </a:solidFill>
              </a:rPr>
              <a:t>ache</a:t>
            </a:r>
          </a:p>
        </p:txBody>
      </p:sp>
      <p:sp>
        <p:nvSpPr>
          <p:cNvPr id="5" name="TextBox 4">
            <a:extLst>
              <a:ext uri="{FF2B5EF4-FFF2-40B4-BE49-F238E27FC236}">
                <a16:creationId xmlns:a16="http://schemas.microsoft.com/office/drawing/2014/main" id="{E13B310D-D4E5-AA03-88D6-BE2FB7BFC14F}"/>
              </a:ext>
            </a:extLst>
          </p:cNvPr>
          <p:cNvSpPr txBox="1"/>
          <p:nvPr/>
        </p:nvSpPr>
        <p:spPr>
          <a:xfrm>
            <a:off x="3298371" y="-7781567"/>
            <a:ext cx="5900058" cy="584775"/>
          </a:xfrm>
          <a:prstGeom prst="rect">
            <a:avLst/>
          </a:prstGeom>
          <a:noFill/>
        </p:spPr>
        <p:txBody>
          <a:bodyPr wrap="square">
            <a:spAutoFit/>
          </a:bodyPr>
          <a:lstStyle/>
          <a:p>
            <a:pPr algn="ctr"/>
            <a:r>
              <a:rPr lang="en-US" sz="3200" b="1" u="sng">
                <a:solidFill>
                  <a:schemeClr val="lt1"/>
                </a:solidFill>
              </a:rPr>
              <a:t>Software Trace Cache (STC)</a:t>
            </a:r>
          </a:p>
        </p:txBody>
      </p:sp>
      <p:pic>
        <p:nvPicPr>
          <p:cNvPr id="7" name="Picture 2">
            <a:extLst>
              <a:ext uri="{FF2B5EF4-FFF2-40B4-BE49-F238E27FC236}">
                <a16:creationId xmlns:a16="http://schemas.microsoft.com/office/drawing/2014/main" id="{492849BD-9CD4-D7F9-B1A8-FC4E11AB33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0675" y="-7038989"/>
            <a:ext cx="6335449" cy="447208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1077A8A-906B-CEF7-4249-5F5D0D3B0483}"/>
              </a:ext>
            </a:extLst>
          </p:cNvPr>
          <p:cNvSpPr txBox="1"/>
          <p:nvPr/>
        </p:nvSpPr>
        <p:spPr>
          <a:xfrm>
            <a:off x="4447733" y="-2409105"/>
            <a:ext cx="3601332" cy="400110"/>
          </a:xfrm>
          <a:prstGeom prst="rect">
            <a:avLst/>
          </a:prstGeom>
          <a:noFill/>
        </p:spPr>
        <p:txBody>
          <a:bodyPr wrap="square">
            <a:spAutoFit/>
          </a:bodyPr>
          <a:lstStyle/>
          <a:p>
            <a:pPr algn="ctr" rtl="0">
              <a:spcBef>
                <a:spcPts val="0"/>
              </a:spcBef>
              <a:spcAft>
                <a:spcPts val="800"/>
              </a:spcAft>
            </a:pPr>
            <a:r>
              <a:rPr lang="vi-VN" sz="2000" b="1">
                <a:solidFill>
                  <a:schemeClr val="lt1"/>
                </a:solidFill>
              </a:rPr>
              <a:t>Sơ đồ Software trace cache</a:t>
            </a:r>
          </a:p>
        </p:txBody>
      </p:sp>
      <p:pic>
        <p:nvPicPr>
          <p:cNvPr id="2050" name="Picture 2">
            <a:extLst>
              <a:ext uri="{FF2B5EF4-FFF2-40B4-BE49-F238E27FC236}">
                <a16:creationId xmlns:a16="http://schemas.microsoft.com/office/drawing/2014/main" id="{067F9FD7-783B-0530-4714-1A820BF091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0956" y="1283933"/>
            <a:ext cx="8210085" cy="429013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9BA695B-892A-5FE7-E2A7-E358BCD6FF59}"/>
              </a:ext>
            </a:extLst>
          </p:cNvPr>
          <p:cNvSpPr txBox="1"/>
          <p:nvPr/>
        </p:nvSpPr>
        <p:spPr>
          <a:xfrm>
            <a:off x="1710230" y="8592357"/>
            <a:ext cx="8104666" cy="4939814"/>
          </a:xfrm>
          <a:prstGeom prst="rect">
            <a:avLst/>
          </a:prstGeom>
          <a:noFill/>
        </p:spPr>
        <p:txBody>
          <a:bodyPr wrap="square">
            <a:spAutoFit/>
          </a:bodyPr>
          <a:lstStyle/>
          <a:p>
            <a:pPr rtl="0" fontAlgn="base">
              <a:lnSpc>
                <a:spcPct val="150000"/>
              </a:lnSpc>
              <a:spcBef>
                <a:spcPts val="0"/>
              </a:spcBef>
              <a:spcAft>
                <a:spcPts val="0"/>
              </a:spcAft>
            </a:pPr>
            <a:r>
              <a:rPr lang="vi-VN" b="1" i="1" u="sng">
                <a:solidFill>
                  <a:schemeClr val="lt1"/>
                </a:solidFill>
              </a:rPr>
              <a:t>Lịch sử:</a:t>
            </a:r>
          </a:p>
          <a:p>
            <a:pPr marL="285750" indent="-285750" rtl="0" fontAlgn="base">
              <a:spcBef>
                <a:spcPts val="0"/>
              </a:spcBef>
              <a:spcAft>
                <a:spcPts val="0"/>
              </a:spcAft>
              <a:buFont typeface="Arial" panose="020B0604020202020204" pitchFamily="34" charset="0"/>
              <a:buChar char="•"/>
            </a:pPr>
            <a:r>
              <a:rPr lang="vi-VN" b="1">
                <a:solidFill>
                  <a:schemeClr val="lt1"/>
                </a:solidFill>
              </a:rPr>
              <a:t>Trace Cache được giới thiệu lần đầu tiên vào năm 2000 bởi Intel trong bộ vi xử lý Pentium 4.</a:t>
            </a:r>
          </a:p>
          <a:p>
            <a:pPr marL="285750" indent="-285750" rtl="0" fontAlgn="base">
              <a:spcBef>
                <a:spcPts val="0"/>
              </a:spcBef>
              <a:spcAft>
                <a:spcPts val="0"/>
              </a:spcAft>
              <a:buFont typeface="Arial" panose="020B0604020202020204" pitchFamily="34" charset="0"/>
              <a:buChar char="•"/>
            </a:pPr>
            <a:r>
              <a:rPr lang="vi-VN" b="1">
                <a:solidFill>
                  <a:schemeClr val="lt1"/>
                </a:solidFill>
              </a:rPr>
              <a:t>Nó đã được sử dụng trong các bộ vi xử lý của Intel và AMD, và đã trở thành một phần quan trọng của kiến trúc bộ nhớ cache hiện đại.</a:t>
            </a:r>
          </a:p>
          <a:p>
            <a:pPr fontAlgn="base">
              <a:lnSpc>
                <a:spcPct val="150000"/>
              </a:lnSpc>
            </a:pPr>
            <a:r>
              <a:rPr lang="vi-VN" b="1" i="1" u="sng">
                <a:solidFill>
                  <a:schemeClr val="lt1"/>
                </a:solidFill>
              </a:rPr>
              <a:t>Công dụng:</a:t>
            </a:r>
          </a:p>
          <a:p>
            <a:pPr marL="285750" indent="-285750" rtl="0" fontAlgn="base">
              <a:spcBef>
                <a:spcPts val="0"/>
              </a:spcBef>
              <a:spcAft>
                <a:spcPts val="0"/>
              </a:spcAft>
              <a:buFont typeface="Arial" panose="020B0604020202020204" pitchFamily="34" charset="0"/>
              <a:buChar char="•"/>
            </a:pPr>
            <a:r>
              <a:rPr lang="vi-VN" b="1">
                <a:solidFill>
                  <a:schemeClr val="lt1"/>
                </a:solidFill>
              </a:rPr>
              <a:t>Trace Cache đã được sử dụng để tăng tốc độ thực thi chương trình và giảm thời gian truy cập bộ nhớ chính.</a:t>
            </a:r>
          </a:p>
          <a:p>
            <a:pPr marL="285750" indent="-285750" rtl="0" fontAlgn="base">
              <a:spcBef>
                <a:spcPts val="0"/>
              </a:spcBef>
              <a:spcAft>
                <a:spcPts val="0"/>
              </a:spcAft>
              <a:buFont typeface="Arial" panose="020B0604020202020204" pitchFamily="34" charset="0"/>
              <a:buChar char="•"/>
            </a:pPr>
            <a:r>
              <a:rPr lang="vi-VN" b="1">
                <a:solidFill>
                  <a:schemeClr val="lt1"/>
                </a:solidFill>
              </a:rPr>
              <a:t>Nó đã được sử dụng trong các ứng dụng như máy tính để bàn, máy chủ, điện thoại thông minh và các thiết bị di động khác.</a:t>
            </a:r>
          </a:p>
          <a:p>
            <a:pPr fontAlgn="base">
              <a:lnSpc>
                <a:spcPct val="150000"/>
              </a:lnSpc>
            </a:pPr>
            <a:r>
              <a:rPr lang="vi-VN" b="1" i="1" u="sng">
                <a:solidFill>
                  <a:schemeClr val="lt1"/>
                </a:solidFill>
              </a:rPr>
              <a:t>Kết hợp với công nghệ khác:</a:t>
            </a:r>
          </a:p>
          <a:p>
            <a:pPr marL="285750" indent="-285750" rtl="0" fontAlgn="base">
              <a:spcBef>
                <a:spcPts val="0"/>
              </a:spcBef>
              <a:spcAft>
                <a:spcPts val="0"/>
              </a:spcAft>
              <a:buFont typeface="Arial" panose="020B0604020202020204" pitchFamily="34" charset="0"/>
              <a:buChar char="•"/>
            </a:pPr>
            <a:r>
              <a:rPr lang="vi-VN" b="1">
                <a:solidFill>
                  <a:schemeClr val="lt1"/>
                </a:solidFill>
              </a:rPr>
              <a:t>Trong các bộ vi xử lý hiện đại, Trace Cache đã được kết hợp với các công nghệ khác như bộ nhớ cache cấp 2 và bộ nhớ cache cấp 3 để tăng hiệu suất và giảm thời gian truy cập bộ nhớ chính.</a:t>
            </a:r>
          </a:p>
          <a:p>
            <a:pPr marL="285750" indent="-285750" rtl="0" fontAlgn="base">
              <a:spcBef>
                <a:spcPts val="0"/>
              </a:spcBef>
              <a:spcAft>
                <a:spcPts val="0"/>
              </a:spcAft>
              <a:buFont typeface="Arial" panose="020B0604020202020204" pitchFamily="34" charset="0"/>
              <a:buChar char="•"/>
            </a:pPr>
            <a:r>
              <a:rPr lang="vi-VN" b="1">
                <a:solidFill>
                  <a:schemeClr val="lt1"/>
                </a:solidFill>
              </a:rPr>
              <a:t>Trace Cache cũng đã được sử dụng trong các bộ vi xử lý đa nhân để tăng hiệu suất và tối ưu hóa sử dụng tài nguyên.</a:t>
            </a:r>
          </a:p>
        </p:txBody>
      </p:sp>
    </p:spTree>
    <p:extLst>
      <p:ext uri="{BB962C8B-B14F-4D97-AF65-F5344CB8AC3E}">
        <p14:creationId xmlns:p14="http://schemas.microsoft.com/office/powerpoint/2010/main" val="326129817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BDF9043-CD4A-FD52-616F-7379EC349F19}"/>
              </a:ext>
            </a:extLst>
          </p:cNvPr>
          <p:cNvSpPr txBox="1"/>
          <p:nvPr/>
        </p:nvSpPr>
        <p:spPr>
          <a:xfrm>
            <a:off x="3145971" y="-7089905"/>
            <a:ext cx="5900058"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 Hardware Trace Cache (HTC)</a:t>
            </a:r>
          </a:p>
        </p:txBody>
      </p:sp>
      <p:sp>
        <p:nvSpPr>
          <p:cNvPr id="6" name="TextBox 5">
            <a:extLst>
              <a:ext uri="{FF2B5EF4-FFF2-40B4-BE49-F238E27FC236}">
                <a16:creationId xmlns:a16="http://schemas.microsoft.com/office/drawing/2014/main" id="{1937A2C3-3BEE-D66B-B233-B67B41C798D1}"/>
              </a:ext>
            </a:extLst>
          </p:cNvPr>
          <p:cNvSpPr txBox="1"/>
          <p:nvPr/>
        </p:nvSpPr>
        <p:spPr>
          <a:xfrm>
            <a:off x="4219132" y="-1717443"/>
            <a:ext cx="3753732" cy="400110"/>
          </a:xfrm>
          <a:prstGeom prst="rect">
            <a:avLst/>
          </a:prstGeom>
          <a:noFill/>
        </p:spPr>
        <p:txBody>
          <a:bodyPr wrap="square">
            <a:spAutoFit/>
          </a:bodyPr>
          <a:lstStyle/>
          <a:p>
            <a:pPr algn="ctr" rtl="0">
              <a:spcBef>
                <a:spcPts val="0"/>
              </a:spcBef>
              <a:spcAft>
                <a:spcPts val="800"/>
              </a:spcAft>
            </a:pPr>
            <a:r>
              <a:rPr lang="vi-VN" sz="2000" b="1">
                <a:solidFill>
                  <a:schemeClr val="lt1"/>
                </a:solidFill>
              </a:rPr>
              <a:t>Sơ đồ Hardware </a:t>
            </a:r>
            <a:r>
              <a:rPr lang="en-US" sz="2000" b="1">
                <a:solidFill>
                  <a:schemeClr val="lt1"/>
                </a:solidFill>
                <a:latin typeface="Arial" panose="020B0604020202020204" pitchFamily="34" charset="0"/>
                <a:cs typeface="Arial" panose="020B0604020202020204" pitchFamily="34" charset="0"/>
              </a:rPr>
              <a:t>T</a:t>
            </a:r>
            <a:r>
              <a:rPr lang="vi-VN" sz="2000" b="1">
                <a:solidFill>
                  <a:schemeClr val="lt1"/>
                </a:solidFill>
                <a:latin typeface="Arial" panose="020B0604020202020204" pitchFamily="34" charset="0"/>
                <a:cs typeface="Arial" panose="020B0604020202020204" pitchFamily="34" charset="0"/>
              </a:rPr>
              <a:t>race </a:t>
            </a:r>
            <a:r>
              <a:rPr lang="en-US" sz="2000" b="1">
                <a:solidFill>
                  <a:schemeClr val="lt1"/>
                </a:solidFill>
              </a:rPr>
              <a:t>C</a:t>
            </a:r>
            <a:r>
              <a:rPr lang="vi-VN" sz="2000" b="1">
                <a:solidFill>
                  <a:schemeClr val="lt1"/>
                </a:solidFill>
              </a:rPr>
              <a:t>ache</a:t>
            </a:r>
          </a:p>
        </p:txBody>
      </p:sp>
      <p:pic>
        <p:nvPicPr>
          <p:cNvPr id="2050" name="Picture 2">
            <a:extLst>
              <a:ext uri="{FF2B5EF4-FFF2-40B4-BE49-F238E27FC236}">
                <a16:creationId xmlns:a16="http://schemas.microsoft.com/office/drawing/2014/main" id="{067F9FD7-783B-0530-4714-1A820BF091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0956" y="-6256353"/>
            <a:ext cx="8210085" cy="429013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733E117-A460-950F-8E89-378639C5708A}"/>
              </a:ext>
            </a:extLst>
          </p:cNvPr>
          <p:cNvSpPr txBox="1"/>
          <p:nvPr/>
        </p:nvSpPr>
        <p:spPr>
          <a:xfrm>
            <a:off x="5509344" y="605126"/>
            <a:ext cx="5900058"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Lịch sử của Trace Cache</a:t>
            </a:r>
          </a:p>
        </p:txBody>
      </p:sp>
      <p:sp>
        <p:nvSpPr>
          <p:cNvPr id="3" name="TextBox 2">
            <a:extLst>
              <a:ext uri="{FF2B5EF4-FFF2-40B4-BE49-F238E27FC236}">
                <a16:creationId xmlns:a16="http://schemas.microsoft.com/office/drawing/2014/main" id="{F6A8F1E9-7AC0-DD50-FA79-61DEBCE459C3}"/>
              </a:ext>
            </a:extLst>
          </p:cNvPr>
          <p:cNvSpPr txBox="1"/>
          <p:nvPr/>
        </p:nvSpPr>
        <p:spPr>
          <a:xfrm>
            <a:off x="1710230" y="959093"/>
            <a:ext cx="8104666" cy="4939814"/>
          </a:xfrm>
          <a:prstGeom prst="rect">
            <a:avLst/>
          </a:prstGeom>
          <a:noFill/>
        </p:spPr>
        <p:txBody>
          <a:bodyPr wrap="square">
            <a:spAutoFit/>
          </a:bodyPr>
          <a:lstStyle/>
          <a:p>
            <a:pPr rtl="0" fontAlgn="base">
              <a:lnSpc>
                <a:spcPct val="150000"/>
              </a:lnSpc>
              <a:spcBef>
                <a:spcPts val="0"/>
              </a:spcBef>
              <a:spcAft>
                <a:spcPts val="0"/>
              </a:spcAft>
            </a:pPr>
            <a:r>
              <a:rPr lang="vi-VN" b="1" i="1" u="sng">
                <a:solidFill>
                  <a:schemeClr val="lt1"/>
                </a:solidFill>
              </a:rPr>
              <a:t>Lịch sử:</a:t>
            </a:r>
          </a:p>
          <a:p>
            <a:pPr marL="285750" indent="-285750" rtl="0" fontAlgn="base">
              <a:spcBef>
                <a:spcPts val="0"/>
              </a:spcBef>
              <a:spcAft>
                <a:spcPts val="0"/>
              </a:spcAft>
              <a:buFont typeface="Arial" panose="020B0604020202020204" pitchFamily="34" charset="0"/>
              <a:buChar char="•"/>
            </a:pPr>
            <a:r>
              <a:rPr lang="vi-VN" b="1">
                <a:solidFill>
                  <a:schemeClr val="lt1"/>
                </a:solidFill>
              </a:rPr>
              <a:t>Trace Cache được giới thiệu lần đầu tiên vào năm 2000 bởi Intel trong bộ vi xử lý Pentium 4.</a:t>
            </a:r>
          </a:p>
          <a:p>
            <a:pPr marL="285750" indent="-285750" rtl="0" fontAlgn="base">
              <a:spcBef>
                <a:spcPts val="0"/>
              </a:spcBef>
              <a:spcAft>
                <a:spcPts val="0"/>
              </a:spcAft>
              <a:buFont typeface="Arial" panose="020B0604020202020204" pitchFamily="34" charset="0"/>
              <a:buChar char="•"/>
            </a:pPr>
            <a:r>
              <a:rPr lang="vi-VN" b="1">
                <a:solidFill>
                  <a:schemeClr val="lt1"/>
                </a:solidFill>
              </a:rPr>
              <a:t>Nó đã được sử dụng trong các bộ vi xử lý của Intel và AMD, và đã trở thành một phần quan trọng của kiến trúc bộ nhớ cache hiện đại.</a:t>
            </a:r>
          </a:p>
          <a:p>
            <a:pPr fontAlgn="base">
              <a:lnSpc>
                <a:spcPct val="150000"/>
              </a:lnSpc>
            </a:pPr>
            <a:r>
              <a:rPr lang="vi-VN" b="1" i="1" u="sng">
                <a:solidFill>
                  <a:schemeClr val="lt1"/>
                </a:solidFill>
              </a:rPr>
              <a:t>Công dụng:</a:t>
            </a:r>
          </a:p>
          <a:p>
            <a:pPr marL="285750" indent="-285750" rtl="0" fontAlgn="base">
              <a:spcBef>
                <a:spcPts val="0"/>
              </a:spcBef>
              <a:spcAft>
                <a:spcPts val="0"/>
              </a:spcAft>
              <a:buFont typeface="Arial" panose="020B0604020202020204" pitchFamily="34" charset="0"/>
              <a:buChar char="•"/>
            </a:pPr>
            <a:r>
              <a:rPr lang="vi-VN" b="1">
                <a:solidFill>
                  <a:schemeClr val="lt1"/>
                </a:solidFill>
              </a:rPr>
              <a:t>Trace Cache đã được sử dụng để tăng tốc độ thực thi chương trình và giảm thời gian truy cập bộ nhớ chính.</a:t>
            </a:r>
          </a:p>
          <a:p>
            <a:pPr marL="285750" indent="-285750" rtl="0" fontAlgn="base">
              <a:spcBef>
                <a:spcPts val="0"/>
              </a:spcBef>
              <a:spcAft>
                <a:spcPts val="0"/>
              </a:spcAft>
              <a:buFont typeface="Arial" panose="020B0604020202020204" pitchFamily="34" charset="0"/>
              <a:buChar char="•"/>
            </a:pPr>
            <a:r>
              <a:rPr lang="vi-VN" b="1">
                <a:solidFill>
                  <a:schemeClr val="lt1"/>
                </a:solidFill>
              </a:rPr>
              <a:t>Nó đã được sử dụng trong các ứng dụng như máy tính để bàn, máy chủ, điện thoại thông minh và các thiết bị di động khác.</a:t>
            </a:r>
          </a:p>
          <a:p>
            <a:pPr fontAlgn="base">
              <a:lnSpc>
                <a:spcPct val="150000"/>
              </a:lnSpc>
            </a:pPr>
            <a:r>
              <a:rPr lang="vi-VN" b="1" i="1" u="sng">
                <a:solidFill>
                  <a:schemeClr val="lt1"/>
                </a:solidFill>
              </a:rPr>
              <a:t>Kết hợp với công nghệ khác:</a:t>
            </a:r>
          </a:p>
          <a:p>
            <a:pPr marL="285750" indent="-285750" rtl="0" fontAlgn="base">
              <a:spcBef>
                <a:spcPts val="0"/>
              </a:spcBef>
              <a:spcAft>
                <a:spcPts val="0"/>
              </a:spcAft>
              <a:buFont typeface="Arial" panose="020B0604020202020204" pitchFamily="34" charset="0"/>
              <a:buChar char="•"/>
            </a:pPr>
            <a:r>
              <a:rPr lang="vi-VN" b="1">
                <a:solidFill>
                  <a:schemeClr val="lt1"/>
                </a:solidFill>
              </a:rPr>
              <a:t>Trong các bộ vi xử lý hiện đại, Trace Cache đã được kết hợp với các công nghệ khác như bộ nhớ cache cấp 2 và bộ nhớ cache cấp 3 để tăng hiệu suất và giảm thời gian truy cập bộ nhớ chính.</a:t>
            </a:r>
          </a:p>
          <a:p>
            <a:pPr marL="285750" indent="-285750" rtl="0" fontAlgn="base">
              <a:spcBef>
                <a:spcPts val="0"/>
              </a:spcBef>
              <a:spcAft>
                <a:spcPts val="0"/>
              </a:spcAft>
              <a:buFont typeface="Arial" panose="020B0604020202020204" pitchFamily="34" charset="0"/>
              <a:buChar char="•"/>
            </a:pPr>
            <a:r>
              <a:rPr lang="vi-VN" b="1">
                <a:solidFill>
                  <a:schemeClr val="lt1"/>
                </a:solidFill>
              </a:rPr>
              <a:t>Trace Cache cũng đã được sử dụng trong các bộ vi xử lý đa nhân để tăng hiệu suất và tối ưu hóa sử dụng tài nguyên.</a:t>
            </a:r>
          </a:p>
        </p:txBody>
      </p:sp>
    </p:spTree>
    <p:extLst>
      <p:ext uri="{BB962C8B-B14F-4D97-AF65-F5344CB8AC3E}">
        <p14:creationId xmlns:p14="http://schemas.microsoft.com/office/powerpoint/2010/main" val="41147067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B6299E5-04CD-4E85-9AAA-46CA611002E5}"/>
              </a:ext>
            </a:extLst>
          </p:cNvPr>
          <p:cNvSpPr/>
          <p:nvPr/>
        </p:nvSpPr>
        <p:spPr>
          <a:xfrm>
            <a:off x="1785577" y="-1891459"/>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a:t>
            </a:r>
            <a:endParaRPr lang="vi-VN" sz="2400" b="1"/>
          </a:p>
        </p:txBody>
      </p:sp>
      <p:sp>
        <p:nvSpPr>
          <p:cNvPr id="2" name="Rectangle: Rounded Corners 1">
            <a:extLst>
              <a:ext uri="{FF2B5EF4-FFF2-40B4-BE49-F238E27FC236}">
                <a16:creationId xmlns:a16="http://schemas.microsoft.com/office/drawing/2014/main" id="{23CB5B98-8FD0-CB62-DA4B-860E7422D192}"/>
              </a:ext>
            </a:extLst>
          </p:cNvPr>
          <p:cNvSpPr/>
          <p:nvPr/>
        </p:nvSpPr>
        <p:spPr>
          <a:xfrm>
            <a:off x="13488213" y="95334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a:t>
            </a:r>
            <a:endParaRPr lang="vi-VN" sz="2400" b="1"/>
          </a:p>
        </p:txBody>
      </p:sp>
      <p:sp>
        <p:nvSpPr>
          <p:cNvPr id="3" name="Rectangle: Rounded Corners 2">
            <a:extLst>
              <a:ext uri="{FF2B5EF4-FFF2-40B4-BE49-F238E27FC236}">
                <a16:creationId xmlns:a16="http://schemas.microsoft.com/office/drawing/2014/main" id="{06FEB196-B502-5981-B2BD-4F3FE6F130CC}"/>
              </a:ext>
            </a:extLst>
          </p:cNvPr>
          <p:cNvSpPr/>
          <p:nvPr/>
        </p:nvSpPr>
        <p:spPr>
          <a:xfrm>
            <a:off x="-96867" y="-77170"/>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DESIGN</a:t>
            </a:r>
            <a:endParaRPr lang="vi-VN" sz="2400" b="1"/>
          </a:p>
        </p:txBody>
      </p:sp>
      <p:sp>
        <p:nvSpPr>
          <p:cNvPr id="5" name="Rectangle: Rounded Corners 4">
            <a:extLst>
              <a:ext uri="{FF2B5EF4-FFF2-40B4-BE49-F238E27FC236}">
                <a16:creationId xmlns:a16="http://schemas.microsoft.com/office/drawing/2014/main" id="{43A52A58-C561-9917-062F-9D652BD6A2B4}"/>
              </a:ext>
            </a:extLst>
          </p:cNvPr>
          <p:cNvSpPr/>
          <p:nvPr/>
        </p:nvSpPr>
        <p:spPr>
          <a:xfrm>
            <a:off x="12375032" y="278214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MECHANISM</a:t>
            </a:r>
            <a:endParaRPr lang="vi-VN" sz="2400" b="1"/>
          </a:p>
        </p:txBody>
      </p:sp>
      <p:sp>
        <p:nvSpPr>
          <p:cNvPr id="6" name="Rectangle: Rounded Corners 5">
            <a:extLst>
              <a:ext uri="{FF2B5EF4-FFF2-40B4-BE49-F238E27FC236}">
                <a16:creationId xmlns:a16="http://schemas.microsoft.com/office/drawing/2014/main" id="{807127C9-296D-C2C1-57A2-3502C6487EDB}"/>
              </a:ext>
            </a:extLst>
          </p:cNvPr>
          <p:cNvSpPr/>
          <p:nvPr/>
        </p:nvSpPr>
        <p:spPr>
          <a:xfrm>
            <a:off x="1419409" y="8161580"/>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HIT &amp; MISS LOGIC</a:t>
            </a:r>
            <a:endParaRPr lang="vi-VN" sz="2400" b="1"/>
          </a:p>
        </p:txBody>
      </p:sp>
      <p:sp>
        <p:nvSpPr>
          <p:cNvPr id="7" name="Rectangle: Rounded Corners 6">
            <a:extLst>
              <a:ext uri="{FF2B5EF4-FFF2-40B4-BE49-F238E27FC236}">
                <a16:creationId xmlns:a16="http://schemas.microsoft.com/office/drawing/2014/main" id="{3ED2E76E-DF2F-2792-4D62-E4B0736E118C}"/>
              </a:ext>
            </a:extLst>
          </p:cNvPr>
          <p:cNvSpPr/>
          <p:nvPr/>
        </p:nvSpPr>
        <p:spPr>
          <a:xfrm>
            <a:off x="13488213" y="4591064"/>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ADVANTAGES &amp; DRAWBACKS</a:t>
            </a:r>
            <a:endParaRPr lang="vi-VN" sz="2400" b="1"/>
          </a:p>
        </p:txBody>
      </p:sp>
      <p:sp>
        <p:nvSpPr>
          <p:cNvPr id="8" name="Rectangle: Rounded Corners 7">
            <a:extLst>
              <a:ext uri="{FF2B5EF4-FFF2-40B4-BE49-F238E27FC236}">
                <a16:creationId xmlns:a16="http://schemas.microsoft.com/office/drawing/2014/main" id="{8285547D-1176-155F-2A89-9E38F0FF3C38}"/>
              </a:ext>
            </a:extLst>
          </p:cNvPr>
          <p:cNvSpPr/>
          <p:nvPr/>
        </p:nvSpPr>
        <p:spPr>
          <a:xfrm>
            <a:off x="2124767" y="1987826"/>
            <a:ext cx="7566991" cy="254441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400" b="1"/>
              <a:t>Trace Cache là một thành phần quan trọng trong kiến ​​trúc bộ vi xử lý (CPU) hiện đại. Thiết kế của Trace Cache bao gồm một bộ đệm lịch sử các lệnh mà CPU đang thực thi, giúp tăng tốc độ và độ chính xác của CPU.</a:t>
            </a:r>
          </a:p>
        </p:txBody>
      </p:sp>
      <p:pic>
        <p:nvPicPr>
          <p:cNvPr id="9" name="Picture 2">
            <a:extLst>
              <a:ext uri="{FF2B5EF4-FFF2-40B4-BE49-F238E27FC236}">
                <a16:creationId xmlns:a16="http://schemas.microsoft.com/office/drawing/2014/main" id="{C45447E4-7EDA-E965-814F-823DE5BB26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9805" y="8002845"/>
            <a:ext cx="6516914" cy="48113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99279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6FEB196-B502-5981-B2BD-4F3FE6F130CC}"/>
              </a:ext>
            </a:extLst>
          </p:cNvPr>
          <p:cNvSpPr/>
          <p:nvPr/>
        </p:nvSpPr>
        <p:spPr>
          <a:xfrm>
            <a:off x="-3838874" y="-1441513"/>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DESIGN</a:t>
            </a:r>
            <a:endParaRPr lang="vi-VN" sz="2400" b="1"/>
          </a:p>
        </p:txBody>
      </p:sp>
      <p:sp>
        <p:nvSpPr>
          <p:cNvPr id="8" name="Rectangle: Rounded Corners 7">
            <a:extLst>
              <a:ext uri="{FF2B5EF4-FFF2-40B4-BE49-F238E27FC236}">
                <a16:creationId xmlns:a16="http://schemas.microsoft.com/office/drawing/2014/main" id="{8285547D-1176-155F-2A89-9E38F0FF3C38}"/>
              </a:ext>
            </a:extLst>
          </p:cNvPr>
          <p:cNvSpPr/>
          <p:nvPr/>
        </p:nvSpPr>
        <p:spPr>
          <a:xfrm>
            <a:off x="2124767" y="-3324406"/>
            <a:ext cx="7566991" cy="254441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400" b="1"/>
              <a:t>Trace Cache là một thành phần quan trọng trong kiến ​​trúc bộ vi xử lý (CPU) hiện đại. Thiết kế của Trace Cache bao gồm một bộ đệm lịch sử các lệnh mà CPU đang thực thi, giúp tăng tốc độ và độ chính xác của CPU.</a:t>
            </a:r>
          </a:p>
        </p:txBody>
      </p:sp>
      <p:pic>
        <p:nvPicPr>
          <p:cNvPr id="1026" name="Picture 2">
            <a:extLst>
              <a:ext uri="{FF2B5EF4-FFF2-40B4-BE49-F238E27FC236}">
                <a16:creationId xmlns:a16="http://schemas.microsoft.com/office/drawing/2014/main" id="{EAF22D4F-5902-B158-0FA2-17C27C4AC0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9805" y="824105"/>
            <a:ext cx="6516914" cy="481131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Rounded Corners 8">
            <a:extLst>
              <a:ext uri="{FF2B5EF4-FFF2-40B4-BE49-F238E27FC236}">
                <a16:creationId xmlns:a16="http://schemas.microsoft.com/office/drawing/2014/main" id="{86DACA58-0241-FED8-46F1-D634821F0BA1}"/>
              </a:ext>
            </a:extLst>
          </p:cNvPr>
          <p:cNvSpPr/>
          <p:nvPr/>
        </p:nvSpPr>
        <p:spPr>
          <a:xfrm>
            <a:off x="7081035" y="7820461"/>
            <a:ext cx="4910036" cy="1271651"/>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Tag ở đây có tác dụng xác định địa chỉ bắt đầu của vết, tức là các bit bậc cao hơn của địa chỉ cho chỉ dẫn đầu tiên của vết.</a:t>
            </a:r>
          </a:p>
        </p:txBody>
      </p:sp>
      <p:sp>
        <p:nvSpPr>
          <p:cNvPr id="10" name="Rectangle: Rounded Corners 9">
            <a:extLst>
              <a:ext uri="{FF2B5EF4-FFF2-40B4-BE49-F238E27FC236}">
                <a16:creationId xmlns:a16="http://schemas.microsoft.com/office/drawing/2014/main" id="{E98EC9FC-B349-829F-9996-084C05E0D909}"/>
              </a:ext>
            </a:extLst>
          </p:cNvPr>
          <p:cNvSpPr/>
          <p:nvPr/>
        </p:nvSpPr>
        <p:spPr>
          <a:xfrm>
            <a:off x="7081035" y="9404858"/>
            <a:ext cx="4910036" cy="151566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Branch Flags là một bit duy nhất cho mỗi nhánh trong vết để cho biết có hay không nhánh đã được thực hiện hoặc không được thực hiện.</a:t>
            </a:r>
          </a:p>
        </p:txBody>
      </p:sp>
      <p:sp>
        <p:nvSpPr>
          <p:cNvPr id="11" name="Rectangle: Rounded Corners 10">
            <a:extLst>
              <a:ext uri="{FF2B5EF4-FFF2-40B4-BE49-F238E27FC236}">
                <a16:creationId xmlns:a16="http://schemas.microsoft.com/office/drawing/2014/main" id="{DCA83714-A873-51D9-7641-2C98A978B831}"/>
              </a:ext>
            </a:extLst>
          </p:cNvPr>
          <p:cNvSpPr/>
          <p:nvPr/>
        </p:nvSpPr>
        <p:spPr>
          <a:xfrm>
            <a:off x="7081035" y="11233271"/>
            <a:ext cx="4910036" cy="2944389"/>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Branch Mask: Cần có một số trạng thái để chỉ ra số lượng nhánh trong dấu vết và điều này cần Branch Mask quyết định. Thông tin này được cả bộ đệm theo dõi sử dụng để xác định có bao nhiêu cờ nhánh cần kiểm tra và bởi bộ dự đoán nhánh để cập nhật.</a:t>
            </a:r>
          </a:p>
        </p:txBody>
      </p:sp>
    </p:spTree>
    <p:extLst>
      <p:ext uri="{BB962C8B-B14F-4D97-AF65-F5344CB8AC3E}">
        <p14:creationId xmlns:p14="http://schemas.microsoft.com/office/powerpoint/2010/main" val="23251293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ED64A29-CAE4-387C-3ABA-7F8054584C64}"/>
              </a:ext>
            </a:extLst>
          </p:cNvPr>
          <p:cNvSpPr/>
          <p:nvPr/>
        </p:nvSpPr>
        <p:spPr>
          <a:xfrm>
            <a:off x="7081035" y="232287"/>
            <a:ext cx="4910036" cy="1271651"/>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Tag ở đây có tác dụng xác định địa chỉ bắt đầu của vết, tức là các bit bậc cao hơn của địa chỉ cho chỉ dẫn đầu tiên của vết.</a:t>
            </a:r>
          </a:p>
        </p:txBody>
      </p:sp>
      <p:sp>
        <p:nvSpPr>
          <p:cNvPr id="6" name="Rectangle: Rounded Corners 5">
            <a:extLst>
              <a:ext uri="{FF2B5EF4-FFF2-40B4-BE49-F238E27FC236}">
                <a16:creationId xmlns:a16="http://schemas.microsoft.com/office/drawing/2014/main" id="{4D4E2D22-A423-6019-88F5-EE29EEAC0A22}"/>
              </a:ext>
            </a:extLst>
          </p:cNvPr>
          <p:cNvSpPr/>
          <p:nvPr/>
        </p:nvSpPr>
        <p:spPr>
          <a:xfrm>
            <a:off x="7081035" y="1816684"/>
            <a:ext cx="4910036" cy="151566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Branch Flags là một bit duy nhất cho mỗi nhánh trong vết để cho biết có hay không nhánh đã được thực hiện hoặc không được thực hiện.</a:t>
            </a:r>
          </a:p>
        </p:txBody>
      </p:sp>
      <p:sp>
        <p:nvSpPr>
          <p:cNvPr id="7" name="Rectangle: Rounded Corners 6">
            <a:extLst>
              <a:ext uri="{FF2B5EF4-FFF2-40B4-BE49-F238E27FC236}">
                <a16:creationId xmlns:a16="http://schemas.microsoft.com/office/drawing/2014/main" id="{F236A023-C0DF-74DE-BED1-24DD21CDA364}"/>
              </a:ext>
            </a:extLst>
          </p:cNvPr>
          <p:cNvSpPr/>
          <p:nvPr/>
        </p:nvSpPr>
        <p:spPr>
          <a:xfrm>
            <a:off x="7081035" y="3645097"/>
            <a:ext cx="4910036" cy="2944389"/>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Branch Mask: Cần có một số trạng thái để chỉ ra số lượng nhánh trong dấu vết và điều này cần Branch Mask quyết định. Thông tin này được cả bộ đệm theo dõi sử dụng để xác định có bao nhiêu cờ nhánh cần kiểm tra và bởi bộ dự đoán nhánh để cập nhật.</a:t>
            </a:r>
          </a:p>
        </p:txBody>
      </p:sp>
      <p:pic>
        <p:nvPicPr>
          <p:cNvPr id="2052" name="Picture 4">
            <a:extLst>
              <a:ext uri="{FF2B5EF4-FFF2-40B4-BE49-F238E27FC236}">
                <a16:creationId xmlns:a16="http://schemas.microsoft.com/office/drawing/2014/main" id="{D8048541-E1A0-E8A1-197A-429048DD6A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013" y="1072293"/>
            <a:ext cx="6167395" cy="4553272"/>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Rounded Corners 11">
            <a:extLst>
              <a:ext uri="{FF2B5EF4-FFF2-40B4-BE49-F238E27FC236}">
                <a16:creationId xmlns:a16="http://schemas.microsoft.com/office/drawing/2014/main" id="{8FA026A1-4E50-2F5C-4BB3-C6D12DF4EB38}"/>
              </a:ext>
            </a:extLst>
          </p:cNvPr>
          <p:cNvSpPr/>
          <p:nvPr/>
        </p:nvSpPr>
        <p:spPr>
          <a:xfrm>
            <a:off x="7081035" y="7013969"/>
            <a:ext cx="4910036" cy="139265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Phần Control Information lại bao gồm Control Logic và địa chỉ của ô nhớ sẽ được tìm nạp tiếp theo hay còn gọi là Next Fetch Address</a:t>
            </a:r>
          </a:p>
        </p:txBody>
      </p:sp>
      <p:sp>
        <p:nvSpPr>
          <p:cNvPr id="13" name="Rectangle: Rounded Corners 12">
            <a:extLst>
              <a:ext uri="{FF2B5EF4-FFF2-40B4-BE49-F238E27FC236}">
                <a16:creationId xmlns:a16="http://schemas.microsoft.com/office/drawing/2014/main" id="{FCE881F0-FA4E-E2E1-0BC1-BCBABC31374A}"/>
              </a:ext>
            </a:extLst>
          </p:cNvPr>
          <p:cNvSpPr/>
          <p:nvPr/>
        </p:nvSpPr>
        <p:spPr>
          <a:xfrm>
            <a:off x="7081035" y="9419204"/>
            <a:ext cx="4910036" cy="2649989"/>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Trong phần Control Logic, Trace Cache sẽ nhận địa chỉ tìm nạp và thông qua tag, branch flags, branch mask để biết được trace hit hay là trace miss. Nếu là trace miss thì trace cache này phải đợi. Còn là trace hit thì sẽ chuyển đến Fetch Address tiếp theo.</a:t>
            </a:r>
          </a:p>
        </p:txBody>
      </p:sp>
    </p:spTree>
    <p:extLst>
      <p:ext uri="{BB962C8B-B14F-4D97-AF65-F5344CB8AC3E}">
        <p14:creationId xmlns:p14="http://schemas.microsoft.com/office/powerpoint/2010/main" val="29609807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ED64A29-CAE4-387C-3ABA-7F8054584C64}"/>
              </a:ext>
            </a:extLst>
          </p:cNvPr>
          <p:cNvSpPr/>
          <p:nvPr/>
        </p:nvSpPr>
        <p:spPr>
          <a:xfrm>
            <a:off x="7081035" y="-7167322"/>
            <a:ext cx="4910036" cy="1271651"/>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Tag ở đây có tác dụng xác định địa chỉ bắt đầu của vết, tức là các bit bậc cao hơn của địa chỉ cho chỉ dẫn đầu tiên của vết.</a:t>
            </a:r>
          </a:p>
        </p:txBody>
      </p:sp>
      <p:sp>
        <p:nvSpPr>
          <p:cNvPr id="6" name="Rectangle: Rounded Corners 5">
            <a:extLst>
              <a:ext uri="{FF2B5EF4-FFF2-40B4-BE49-F238E27FC236}">
                <a16:creationId xmlns:a16="http://schemas.microsoft.com/office/drawing/2014/main" id="{4D4E2D22-A423-6019-88F5-EE29EEAC0A22}"/>
              </a:ext>
            </a:extLst>
          </p:cNvPr>
          <p:cNvSpPr/>
          <p:nvPr/>
        </p:nvSpPr>
        <p:spPr>
          <a:xfrm>
            <a:off x="7081035" y="-5582925"/>
            <a:ext cx="4910036" cy="151566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Branch Flags là một bit duy nhất cho mỗi nhánh trong vết để cho biết có hay không nhánh đã được thực hiện hoặc không được thực hiện.</a:t>
            </a:r>
          </a:p>
        </p:txBody>
      </p:sp>
      <p:pic>
        <p:nvPicPr>
          <p:cNvPr id="2052" name="Picture 4">
            <a:extLst>
              <a:ext uri="{FF2B5EF4-FFF2-40B4-BE49-F238E27FC236}">
                <a16:creationId xmlns:a16="http://schemas.microsoft.com/office/drawing/2014/main" id="{D8048541-E1A0-E8A1-197A-429048DD6A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013" y="1072293"/>
            <a:ext cx="6167395" cy="455327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D5C9CE38-CA47-E0F4-4DB9-7ECFDF9A5D83}"/>
              </a:ext>
            </a:extLst>
          </p:cNvPr>
          <p:cNvSpPr/>
          <p:nvPr/>
        </p:nvSpPr>
        <p:spPr>
          <a:xfrm>
            <a:off x="7081035" y="838447"/>
            <a:ext cx="4910036" cy="139265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Phần Control Information lại bao gồm Control Logic và địa chỉ của ô nhớ sẽ được tìm nạp tiếp theo hay còn gọi là Next Fetch Address</a:t>
            </a:r>
          </a:p>
        </p:txBody>
      </p:sp>
      <p:sp>
        <p:nvSpPr>
          <p:cNvPr id="9" name="Rectangle: Rounded Corners 8">
            <a:extLst>
              <a:ext uri="{FF2B5EF4-FFF2-40B4-BE49-F238E27FC236}">
                <a16:creationId xmlns:a16="http://schemas.microsoft.com/office/drawing/2014/main" id="{CC157D1C-1A45-CAED-6287-16EBA0AEE4DD}"/>
              </a:ext>
            </a:extLst>
          </p:cNvPr>
          <p:cNvSpPr/>
          <p:nvPr/>
        </p:nvSpPr>
        <p:spPr>
          <a:xfrm>
            <a:off x="7081035" y="3243682"/>
            <a:ext cx="4910036" cy="2649989"/>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Trong phần Control Logic, Trace Cache sẽ nhận địa chỉ tìm nạp và thông qua tag, branch flags, branch mask để biết được trace hit hay là trace miss. Nếu là trace miss thì trace cache này phải đợi. Còn là trace hit thì sẽ chuyển đến Fetch Address tiếp theo.</a:t>
            </a:r>
          </a:p>
        </p:txBody>
      </p:sp>
      <p:sp>
        <p:nvSpPr>
          <p:cNvPr id="11" name="Rectangle: Rounded Corners 10">
            <a:extLst>
              <a:ext uri="{FF2B5EF4-FFF2-40B4-BE49-F238E27FC236}">
                <a16:creationId xmlns:a16="http://schemas.microsoft.com/office/drawing/2014/main" id="{D5604B60-0BE6-B2EA-318A-140AFB58AD0B}"/>
              </a:ext>
            </a:extLst>
          </p:cNvPr>
          <p:cNvSpPr/>
          <p:nvPr/>
        </p:nvSpPr>
        <p:spPr>
          <a:xfrm>
            <a:off x="7233435" y="-6597851"/>
            <a:ext cx="4910036" cy="139265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Target Address sẽ là địa chỉ tìm nạp tiếp theo nếu lệnh cuối cùng là một nhánh và được dự đoán là đã thực hiện.</a:t>
            </a:r>
          </a:p>
        </p:txBody>
      </p:sp>
      <p:sp>
        <p:nvSpPr>
          <p:cNvPr id="12" name="Rectangle: Rounded Corners 11">
            <a:extLst>
              <a:ext uri="{FF2B5EF4-FFF2-40B4-BE49-F238E27FC236}">
                <a16:creationId xmlns:a16="http://schemas.microsoft.com/office/drawing/2014/main" id="{451ECBD6-3682-4A09-E1E0-DF1A598BF543}"/>
              </a:ext>
            </a:extLst>
          </p:cNvPr>
          <p:cNvSpPr/>
          <p:nvPr/>
        </p:nvSpPr>
        <p:spPr>
          <a:xfrm>
            <a:off x="7233435" y="-4892452"/>
            <a:ext cx="4910036" cy="151566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Fall-through Address sẽ là địa chỉ tìm nạp tiếp theo nếu lệnh cuối cùng của vết là một nhánh và được dự đoán là không được thực hiện.</a:t>
            </a:r>
          </a:p>
        </p:txBody>
      </p:sp>
      <p:sp>
        <p:nvSpPr>
          <p:cNvPr id="13" name="Rectangle: Rounded Corners 12">
            <a:extLst>
              <a:ext uri="{FF2B5EF4-FFF2-40B4-BE49-F238E27FC236}">
                <a16:creationId xmlns:a16="http://schemas.microsoft.com/office/drawing/2014/main" id="{A3D83C8F-E9C7-F09E-D0B0-9019DFEF8C6E}"/>
              </a:ext>
            </a:extLst>
          </p:cNvPr>
          <p:cNvSpPr/>
          <p:nvPr/>
        </p:nvSpPr>
        <p:spPr>
          <a:xfrm>
            <a:off x="7233435" y="-3064039"/>
            <a:ext cx="4910036" cy="1728761"/>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I</a:t>
            </a:r>
            <a:r>
              <a:rPr lang="vi-VN" sz="2000" b="1">
                <a:latin typeface="Arial" panose="020B0604020202020204" pitchFamily="34" charset="0"/>
                <a:cs typeface="Arial" panose="020B0604020202020204" pitchFamily="34" charset="0"/>
              </a:rPr>
              <a:t>nstruction cache được tạo ra bởi Line-Fill Buffer / Logic hay còn gọi là bộ đệm điền dòng hoặc logic điền dòng.</a:t>
            </a:r>
          </a:p>
        </p:txBody>
      </p:sp>
      <p:sp>
        <p:nvSpPr>
          <p:cNvPr id="14" name="Rectangle: Rounded Corners 13">
            <a:extLst>
              <a:ext uri="{FF2B5EF4-FFF2-40B4-BE49-F238E27FC236}">
                <a16:creationId xmlns:a16="http://schemas.microsoft.com/office/drawing/2014/main" id="{488BF3F3-0CEC-0032-D13C-4B6632B888B3}"/>
              </a:ext>
            </a:extLst>
          </p:cNvPr>
          <p:cNvSpPr/>
          <p:nvPr/>
        </p:nvSpPr>
        <p:spPr>
          <a:xfrm>
            <a:off x="7081035" y="7432115"/>
            <a:ext cx="4910036" cy="139265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Target Address sẽ là địa chỉ tìm nạp tiếp theo nếu lệnh cuối cùng là một nhánh và được dự đoán là đã thực hiện.</a:t>
            </a:r>
          </a:p>
        </p:txBody>
      </p:sp>
      <p:sp>
        <p:nvSpPr>
          <p:cNvPr id="15" name="Rectangle: Rounded Corners 14">
            <a:extLst>
              <a:ext uri="{FF2B5EF4-FFF2-40B4-BE49-F238E27FC236}">
                <a16:creationId xmlns:a16="http://schemas.microsoft.com/office/drawing/2014/main" id="{C327D31B-E847-F63A-8013-697EC9CFE18F}"/>
              </a:ext>
            </a:extLst>
          </p:cNvPr>
          <p:cNvSpPr/>
          <p:nvPr/>
        </p:nvSpPr>
        <p:spPr>
          <a:xfrm>
            <a:off x="7081035" y="9137514"/>
            <a:ext cx="4910036" cy="151566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Fall-through Address sẽ là địa chỉ tìm nạp tiếp theo nếu lệnh cuối cùng của vết là một nhánh và được dự đoán là không được thực hiện.</a:t>
            </a:r>
          </a:p>
        </p:txBody>
      </p:sp>
      <p:sp>
        <p:nvSpPr>
          <p:cNvPr id="16" name="Rectangle: Rounded Corners 15">
            <a:extLst>
              <a:ext uri="{FF2B5EF4-FFF2-40B4-BE49-F238E27FC236}">
                <a16:creationId xmlns:a16="http://schemas.microsoft.com/office/drawing/2014/main" id="{9473657E-B940-5885-2B99-C1F0651C2F51}"/>
              </a:ext>
            </a:extLst>
          </p:cNvPr>
          <p:cNvSpPr/>
          <p:nvPr/>
        </p:nvSpPr>
        <p:spPr>
          <a:xfrm>
            <a:off x="7081035" y="10965927"/>
            <a:ext cx="4910036" cy="1728761"/>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I</a:t>
            </a:r>
            <a:r>
              <a:rPr lang="vi-VN" sz="2000" b="1">
                <a:latin typeface="Arial" panose="020B0604020202020204" pitchFamily="34" charset="0"/>
                <a:cs typeface="Arial" panose="020B0604020202020204" pitchFamily="34" charset="0"/>
              </a:rPr>
              <a:t>nstruction cache được tạo ra bởi Line-Fill Buffer / Logic hay còn gọi là bộ đệm điền dòng hoặc logic điền dòng.</a:t>
            </a:r>
          </a:p>
        </p:txBody>
      </p:sp>
    </p:spTree>
    <p:extLst>
      <p:ext uri="{BB962C8B-B14F-4D97-AF65-F5344CB8AC3E}">
        <p14:creationId xmlns:p14="http://schemas.microsoft.com/office/powerpoint/2010/main" val="6898249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B6299E5-04CD-4E85-9AAA-46CA611002E5}"/>
              </a:ext>
            </a:extLst>
          </p:cNvPr>
          <p:cNvSpPr/>
          <p:nvPr/>
        </p:nvSpPr>
        <p:spPr>
          <a:xfrm>
            <a:off x="1785577" y="-2174174"/>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a:t>
            </a:r>
            <a:endParaRPr lang="vi-VN" sz="2400" b="1"/>
          </a:p>
        </p:txBody>
      </p:sp>
      <p:sp>
        <p:nvSpPr>
          <p:cNvPr id="5" name="Rectangle: Rounded Corners 4">
            <a:extLst>
              <a:ext uri="{FF2B5EF4-FFF2-40B4-BE49-F238E27FC236}">
                <a16:creationId xmlns:a16="http://schemas.microsoft.com/office/drawing/2014/main" id="{43A52A58-C561-9917-062F-9D652BD6A2B4}"/>
              </a:ext>
            </a:extLst>
          </p:cNvPr>
          <p:cNvSpPr/>
          <p:nvPr/>
        </p:nvSpPr>
        <p:spPr>
          <a:xfrm>
            <a:off x="4406242" y="-182943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MECHANISM</a:t>
            </a:r>
            <a:endParaRPr lang="vi-VN" sz="2400" b="1"/>
          </a:p>
        </p:txBody>
      </p:sp>
      <p:sp>
        <p:nvSpPr>
          <p:cNvPr id="8" name="Rectangle: Rounded Corners 7">
            <a:extLst>
              <a:ext uri="{FF2B5EF4-FFF2-40B4-BE49-F238E27FC236}">
                <a16:creationId xmlns:a16="http://schemas.microsoft.com/office/drawing/2014/main" id="{351592F8-4384-3F0B-EE9C-845F35C5F0D6}"/>
              </a:ext>
            </a:extLst>
          </p:cNvPr>
          <p:cNvSpPr/>
          <p:nvPr/>
        </p:nvSpPr>
        <p:spPr>
          <a:xfrm>
            <a:off x="2531166" y="-3233537"/>
            <a:ext cx="7566991" cy="254441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400" b="1"/>
              <a:t>Fetch mechanism </a:t>
            </a:r>
            <a:r>
              <a:rPr lang="en-US" sz="2400" b="1"/>
              <a:t>(</a:t>
            </a:r>
            <a:r>
              <a:rPr lang="vi-VN" sz="2400" b="1"/>
              <a:t>cơ chế tìm nạp,</a:t>
            </a:r>
            <a:r>
              <a:rPr lang="en-US" sz="2400" b="1"/>
              <a:t>)</a:t>
            </a:r>
            <a:r>
              <a:rPr lang="vi-VN" sz="2400" b="1"/>
              <a:t> là một </a:t>
            </a:r>
            <a:r>
              <a:rPr lang="vi-VN" sz="2400" b="1">
                <a:highlight>
                  <a:srgbClr val="808000"/>
                </a:highlight>
              </a:rPr>
              <a:t>kỹ thuật</a:t>
            </a:r>
            <a:r>
              <a:rPr lang="vi-VN" sz="2400" b="1"/>
              <a:t> </a:t>
            </a:r>
            <a:r>
              <a:rPr lang="vi-VN" sz="2400" b="1">
                <a:highlight>
                  <a:srgbClr val="808000"/>
                </a:highlight>
              </a:rPr>
              <a:t>tối ưu hóa bộ nhớ cache </a:t>
            </a:r>
            <a:r>
              <a:rPr lang="vi-VN" sz="2400" b="1"/>
              <a:t>trên bộ xử lý để </a:t>
            </a:r>
            <a:r>
              <a:rPr lang="vi-VN" sz="2400" b="1">
                <a:highlight>
                  <a:srgbClr val="808000"/>
                </a:highlight>
              </a:rPr>
              <a:t>cải thiện hiệu suất</a:t>
            </a:r>
            <a:r>
              <a:rPr lang="vi-VN" sz="2400" b="1"/>
              <a:t> của hệ thống. Đây là một kỹ thuật đặc biệt được sử dụng trong bộ xử lý của các máy tính có </a:t>
            </a:r>
            <a:r>
              <a:rPr lang="vi-VN" sz="2400" b="1">
                <a:highlight>
                  <a:srgbClr val="808000"/>
                </a:highlight>
              </a:rPr>
              <a:t>kiến trúc x86</a:t>
            </a:r>
            <a:r>
              <a:rPr lang="vi-VN" sz="2400" b="1"/>
              <a:t>.</a:t>
            </a:r>
          </a:p>
        </p:txBody>
      </p:sp>
      <p:sp>
        <p:nvSpPr>
          <p:cNvPr id="3" name="Rectangle: Rounded Corners 2">
            <a:extLst>
              <a:ext uri="{FF2B5EF4-FFF2-40B4-BE49-F238E27FC236}">
                <a16:creationId xmlns:a16="http://schemas.microsoft.com/office/drawing/2014/main" id="{BED64A29-CAE4-387C-3ABA-7F8054584C64}"/>
              </a:ext>
            </a:extLst>
          </p:cNvPr>
          <p:cNvSpPr/>
          <p:nvPr/>
        </p:nvSpPr>
        <p:spPr>
          <a:xfrm>
            <a:off x="7081035" y="-7167322"/>
            <a:ext cx="4910036" cy="1271651"/>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Tag ở đây có tác dụng xác định địa chỉ bắt đầu của vết, tức là các bit bậc cao hơn của địa chỉ cho chỉ dẫn đầu tiên của vết.</a:t>
            </a:r>
          </a:p>
        </p:txBody>
      </p:sp>
      <p:sp>
        <p:nvSpPr>
          <p:cNvPr id="6" name="Rectangle: Rounded Corners 5">
            <a:extLst>
              <a:ext uri="{FF2B5EF4-FFF2-40B4-BE49-F238E27FC236}">
                <a16:creationId xmlns:a16="http://schemas.microsoft.com/office/drawing/2014/main" id="{4D4E2D22-A423-6019-88F5-EE29EEAC0A22}"/>
              </a:ext>
            </a:extLst>
          </p:cNvPr>
          <p:cNvSpPr/>
          <p:nvPr/>
        </p:nvSpPr>
        <p:spPr>
          <a:xfrm>
            <a:off x="7081035" y="-5582925"/>
            <a:ext cx="4910036" cy="151566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Branch Flags là một bit duy nhất cho mỗi nhánh trong vết để cho biết có hay không nhánh đã được thực hiện hoặc không được thực hiện.</a:t>
            </a:r>
          </a:p>
        </p:txBody>
      </p:sp>
      <p:sp>
        <p:nvSpPr>
          <p:cNvPr id="7" name="Rectangle: Rounded Corners 6">
            <a:extLst>
              <a:ext uri="{FF2B5EF4-FFF2-40B4-BE49-F238E27FC236}">
                <a16:creationId xmlns:a16="http://schemas.microsoft.com/office/drawing/2014/main" id="{F236A023-C0DF-74DE-BED1-24DD21CDA364}"/>
              </a:ext>
            </a:extLst>
          </p:cNvPr>
          <p:cNvSpPr/>
          <p:nvPr/>
        </p:nvSpPr>
        <p:spPr>
          <a:xfrm>
            <a:off x="7081035" y="-3754512"/>
            <a:ext cx="4910036" cy="2944389"/>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Branch Mask: Cần có một số trạng thái để chỉ ra số lượng nhánh trong dấu vết và điều này cần Branch Mask quyết định. Thông tin này được cả bộ đệm theo dõi sử dụng để xác định có bao nhiêu cờ nhánh cần kiểm tra và bởi bộ dự đoán nhánh để cập nhật.</a:t>
            </a:r>
          </a:p>
        </p:txBody>
      </p:sp>
      <p:pic>
        <p:nvPicPr>
          <p:cNvPr id="2052" name="Picture 4">
            <a:extLst>
              <a:ext uri="{FF2B5EF4-FFF2-40B4-BE49-F238E27FC236}">
                <a16:creationId xmlns:a16="http://schemas.microsoft.com/office/drawing/2014/main" id="{D8048541-E1A0-E8A1-197A-429048DD6A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013" y="1072293"/>
            <a:ext cx="6167395" cy="455327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D5C9CE38-CA47-E0F4-4DB9-7ECFDF9A5D83}"/>
              </a:ext>
            </a:extLst>
          </p:cNvPr>
          <p:cNvSpPr/>
          <p:nvPr/>
        </p:nvSpPr>
        <p:spPr>
          <a:xfrm>
            <a:off x="7081035" y="593983"/>
            <a:ext cx="4910036" cy="139265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Target Address sẽ là địa chỉ tìm nạp tiếp theo nếu lệnh cuối cùng là một nhánh và được dự đoán là đã thực hiện.</a:t>
            </a:r>
          </a:p>
        </p:txBody>
      </p:sp>
      <p:sp>
        <p:nvSpPr>
          <p:cNvPr id="9" name="Rectangle: Rounded Corners 8">
            <a:extLst>
              <a:ext uri="{FF2B5EF4-FFF2-40B4-BE49-F238E27FC236}">
                <a16:creationId xmlns:a16="http://schemas.microsoft.com/office/drawing/2014/main" id="{CC157D1C-1A45-CAED-6287-16EBA0AEE4DD}"/>
              </a:ext>
            </a:extLst>
          </p:cNvPr>
          <p:cNvSpPr/>
          <p:nvPr/>
        </p:nvSpPr>
        <p:spPr>
          <a:xfrm>
            <a:off x="7081035" y="2299382"/>
            <a:ext cx="4910036" cy="151566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Fall-through Address sẽ là địa chỉ tìm nạp tiếp theo nếu lệnh cuối cùng của vết là một nhánh và được dự đoán là không được thực hiện.</a:t>
            </a:r>
          </a:p>
        </p:txBody>
      </p:sp>
      <p:sp>
        <p:nvSpPr>
          <p:cNvPr id="10" name="Rectangle: Rounded Corners 9">
            <a:extLst>
              <a:ext uri="{FF2B5EF4-FFF2-40B4-BE49-F238E27FC236}">
                <a16:creationId xmlns:a16="http://schemas.microsoft.com/office/drawing/2014/main" id="{EA0F906C-A819-B4B6-E60B-0C7ABD957026}"/>
              </a:ext>
            </a:extLst>
          </p:cNvPr>
          <p:cNvSpPr/>
          <p:nvPr/>
        </p:nvSpPr>
        <p:spPr>
          <a:xfrm>
            <a:off x="7081035" y="4127795"/>
            <a:ext cx="4910036" cy="1728761"/>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I</a:t>
            </a:r>
            <a:r>
              <a:rPr lang="vi-VN" sz="2000" b="1">
                <a:latin typeface="Arial" panose="020B0604020202020204" pitchFamily="34" charset="0"/>
                <a:cs typeface="Arial" panose="020B0604020202020204" pitchFamily="34" charset="0"/>
              </a:rPr>
              <a:t>nstruction cache được tạo ra bởi Line-Fill Buffer / Logic hay còn gọi là bộ đệm điền dòng hoặc logic điền dòng.</a:t>
            </a:r>
          </a:p>
        </p:txBody>
      </p:sp>
      <p:sp>
        <p:nvSpPr>
          <p:cNvPr id="11" name="Rectangle: Rounded Corners 10">
            <a:extLst>
              <a:ext uri="{FF2B5EF4-FFF2-40B4-BE49-F238E27FC236}">
                <a16:creationId xmlns:a16="http://schemas.microsoft.com/office/drawing/2014/main" id="{08F20160-81F5-F191-7E04-3C0E352D4255}"/>
              </a:ext>
            </a:extLst>
          </p:cNvPr>
          <p:cNvSpPr/>
          <p:nvPr/>
        </p:nvSpPr>
        <p:spPr>
          <a:xfrm>
            <a:off x="7081035" y="8009464"/>
            <a:ext cx="4910036" cy="5415369"/>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Bộ đệm điền dòng được sử dụng để chốt các khối cơ bản lại với nhau để tạo thành các vết được ghi vào trace cache. Các khối cơ bản được chốt từng cái một vào bộ đệm điền khi tiến hành tìm nạp lệnh. Logic điền (Fill logic) sẽ hợp nhất từng khối cơ bản mới với các hướng dẫn đã có trong bộ đệm điền vào dòng. Quá trình điền hoàn tất khi đạt được độ dài vết tối đa n hoặc số lượng nhánh tối đa trong vết m.</a:t>
            </a:r>
          </a:p>
        </p:txBody>
      </p:sp>
    </p:spTree>
    <p:extLst>
      <p:ext uri="{BB962C8B-B14F-4D97-AF65-F5344CB8AC3E}">
        <p14:creationId xmlns:p14="http://schemas.microsoft.com/office/powerpoint/2010/main" val="6394488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D8048541-E1A0-E8A1-197A-429048DD6A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013" y="1072293"/>
            <a:ext cx="6167395" cy="455327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D5C9CE38-CA47-E0F4-4DB9-7ECFDF9A5D83}"/>
              </a:ext>
            </a:extLst>
          </p:cNvPr>
          <p:cNvSpPr/>
          <p:nvPr/>
        </p:nvSpPr>
        <p:spPr>
          <a:xfrm>
            <a:off x="7081035" y="-6561162"/>
            <a:ext cx="4910036" cy="139265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Phần Control Information lại bao gồm Control Logic và địa chỉ của ô nhớ sẽ được tìm nạp tiếp theo hay còn gọi là Next Fetch Address</a:t>
            </a:r>
          </a:p>
        </p:txBody>
      </p:sp>
      <p:sp>
        <p:nvSpPr>
          <p:cNvPr id="9" name="Rectangle: Rounded Corners 8">
            <a:extLst>
              <a:ext uri="{FF2B5EF4-FFF2-40B4-BE49-F238E27FC236}">
                <a16:creationId xmlns:a16="http://schemas.microsoft.com/office/drawing/2014/main" id="{CC157D1C-1A45-CAED-6287-16EBA0AEE4DD}"/>
              </a:ext>
            </a:extLst>
          </p:cNvPr>
          <p:cNvSpPr/>
          <p:nvPr/>
        </p:nvSpPr>
        <p:spPr>
          <a:xfrm>
            <a:off x="7081035" y="-4155927"/>
            <a:ext cx="4910036" cy="2649989"/>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Trong phần Control Logic, Trace Cache sẽ nhận địa chỉ tìm nạp và thông qua tag, branch flags, branch mask để biết được trace hit hay là trace miss. Nếu là trace miss thì trace cache này phải đợi. Còn là trace hit thì sẽ chuyển đến Fetch Address tiếp theo.</a:t>
            </a:r>
          </a:p>
        </p:txBody>
      </p:sp>
      <p:sp>
        <p:nvSpPr>
          <p:cNvPr id="4" name="Rectangle: Rounded Corners 3">
            <a:extLst>
              <a:ext uri="{FF2B5EF4-FFF2-40B4-BE49-F238E27FC236}">
                <a16:creationId xmlns:a16="http://schemas.microsoft.com/office/drawing/2014/main" id="{717E44B1-1F8A-0C87-B410-A57BCD5E8A87}"/>
              </a:ext>
            </a:extLst>
          </p:cNvPr>
          <p:cNvSpPr/>
          <p:nvPr/>
        </p:nvSpPr>
        <p:spPr>
          <a:xfrm>
            <a:off x="7081035" y="641244"/>
            <a:ext cx="4910036" cy="5415369"/>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Bộ đệm điền dòng được sử dụng để chốt các khối cơ bản lại với nhau để tạo thành các vết được ghi vào trace cache. Các khối cơ bản được chốt từng cái một vào bộ đệm điền khi tiến hành tìm nạp lệnh. Logic điền (Fill logic) sẽ hợp nhất từng khối cơ bản mới với các hướng dẫn đã có trong bộ đệm điền vào dòng. Quá trình điền hoàn tất khi đạt được độ dài vết tối đa n hoặc số lượng nhánh tối đa trong vết m.</a:t>
            </a:r>
          </a:p>
        </p:txBody>
      </p:sp>
    </p:spTree>
    <p:extLst>
      <p:ext uri="{BB962C8B-B14F-4D97-AF65-F5344CB8AC3E}">
        <p14:creationId xmlns:p14="http://schemas.microsoft.com/office/powerpoint/2010/main" val="271543205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B6299E5-04CD-4E85-9AAA-46CA611002E5}"/>
              </a:ext>
            </a:extLst>
          </p:cNvPr>
          <p:cNvSpPr/>
          <p:nvPr/>
        </p:nvSpPr>
        <p:spPr>
          <a:xfrm>
            <a:off x="1785577" y="-2174174"/>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a:t>
            </a:r>
            <a:endParaRPr lang="vi-VN" sz="2400" b="1"/>
          </a:p>
        </p:txBody>
      </p:sp>
      <p:sp>
        <p:nvSpPr>
          <p:cNvPr id="2" name="Rectangle: Rounded Corners 1">
            <a:extLst>
              <a:ext uri="{FF2B5EF4-FFF2-40B4-BE49-F238E27FC236}">
                <a16:creationId xmlns:a16="http://schemas.microsoft.com/office/drawing/2014/main" id="{23CB5B98-8FD0-CB62-DA4B-860E7422D192}"/>
              </a:ext>
            </a:extLst>
          </p:cNvPr>
          <p:cNvSpPr/>
          <p:nvPr/>
        </p:nvSpPr>
        <p:spPr>
          <a:xfrm>
            <a:off x="12961024" y="95334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a:t>
            </a:r>
            <a:endParaRPr lang="vi-VN" sz="2400" b="1"/>
          </a:p>
        </p:txBody>
      </p:sp>
      <p:sp>
        <p:nvSpPr>
          <p:cNvPr id="3" name="Rectangle: Rounded Corners 2">
            <a:extLst>
              <a:ext uri="{FF2B5EF4-FFF2-40B4-BE49-F238E27FC236}">
                <a16:creationId xmlns:a16="http://schemas.microsoft.com/office/drawing/2014/main" id="{06FEB196-B502-5981-B2BD-4F3FE6F130CC}"/>
              </a:ext>
            </a:extLst>
          </p:cNvPr>
          <p:cNvSpPr/>
          <p:nvPr/>
        </p:nvSpPr>
        <p:spPr>
          <a:xfrm>
            <a:off x="-3879045" y="278214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DESIGN</a:t>
            </a:r>
            <a:endParaRPr lang="vi-VN" sz="2400" b="1"/>
          </a:p>
        </p:txBody>
      </p:sp>
      <p:sp>
        <p:nvSpPr>
          <p:cNvPr id="5" name="Rectangle: Rounded Corners 4">
            <a:extLst>
              <a:ext uri="{FF2B5EF4-FFF2-40B4-BE49-F238E27FC236}">
                <a16:creationId xmlns:a16="http://schemas.microsoft.com/office/drawing/2014/main" id="{43A52A58-C561-9917-062F-9D652BD6A2B4}"/>
              </a:ext>
            </a:extLst>
          </p:cNvPr>
          <p:cNvSpPr/>
          <p:nvPr/>
        </p:nvSpPr>
        <p:spPr>
          <a:xfrm>
            <a:off x="4406242" y="436100"/>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MECHANISM</a:t>
            </a:r>
            <a:endParaRPr lang="vi-VN" sz="2400" b="1"/>
          </a:p>
        </p:txBody>
      </p:sp>
      <p:sp>
        <p:nvSpPr>
          <p:cNvPr id="6" name="Rectangle: Rounded Corners 5">
            <a:extLst>
              <a:ext uri="{FF2B5EF4-FFF2-40B4-BE49-F238E27FC236}">
                <a16:creationId xmlns:a16="http://schemas.microsoft.com/office/drawing/2014/main" id="{807127C9-296D-C2C1-57A2-3502C6487EDB}"/>
              </a:ext>
            </a:extLst>
          </p:cNvPr>
          <p:cNvSpPr/>
          <p:nvPr/>
        </p:nvSpPr>
        <p:spPr>
          <a:xfrm>
            <a:off x="-3712161" y="4591064"/>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HIT &amp; MISS LOGIC</a:t>
            </a:r>
            <a:endParaRPr lang="vi-VN" sz="2400" b="1"/>
          </a:p>
        </p:txBody>
      </p:sp>
      <p:sp>
        <p:nvSpPr>
          <p:cNvPr id="7" name="Rectangle: Rounded Corners 6">
            <a:extLst>
              <a:ext uri="{FF2B5EF4-FFF2-40B4-BE49-F238E27FC236}">
                <a16:creationId xmlns:a16="http://schemas.microsoft.com/office/drawing/2014/main" id="{3ED2E76E-DF2F-2792-4D62-E4B0736E118C}"/>
              </a:ext>
            </a:extLst>
          </p:cNvPr>
          <p:cNvSpPr/>
          <p:nvPr/>
        </p:nvSpPr>
        <p:spPr>
          <a:xfrm>
            <a:off x="12684512" y="4591064"/>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ADVANTAGES &amp; DRAWBACKS</a:t>
            </a:r>
            <a:endParaRPr lang="vi-VN" sz="2400" b="1"/>
          </a:p>
        </p:txBody>
      </p:sp>
      <p:sp>
        <p:nvSpPr>
          <p:cNvPr id="8" name="Rectangle: Rounded Corners 7">
            <a:extLst>
              <a:ext uri="{FF2B5EF4-FFF2-40B4-BE49-F238E27FC236}">
                <a16:creationId xmlns:a16="http://schemas.microsoft.com/office/drawing/2014/main" id="{94985F5E-54CB-86FD-6F33-1BB7AA024409}"/>
              </a:ext>
            </a:extLst>
          </p:cNvPr>
          <p:cNvSpPr/>
          <p:nvPr/>
        </p:nvSpPr>
        <p:spPr>
          <a:xfrm>
            <a:off x="2531166" y="7426769"/>
            <a:ext cx="7566991" cy="254441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400" b="1"/>
              <a:t>Fetch mechanism </a:t>
            </a:r>
            <a:r>
              <a:rPr lang="en-US" sz="2400" b="1"/>
              <a:t>(</a:t>
            </a:r>
            <a:r>
              <a:rPr lang="vi-VN" sz="2400" b="1"/>
              <a:t>cơ chế tìm nạp,</a:t>
            </a:r>
            <a:r>
              <a:rPr lang="en-US" sz="2400" b="1"/>
              <a:t>)</a:t>
            </a:r>
            <a:r>
              <a:rPr lang="vi-VN" sz="2400" b="1"/>
              <a:t> là một </a:t>
            </a:r>
            <a:r>
              <a:rPr lang="vi-VN" sz="2400" b="1">
                <a:highlight>
                  <a:srgbClr val="808000"/>
                </a:highlight>
              </a:rPr>
              <a:t>kỹ thuật</a:t>
            </a:r>
            <a:r>
              <a:rPr lang="vi-VN" sz="2400" b="1"/>
              <a:t> </a:t>
            </a:r>
            <a:r>
              <a:rPr lang="vi-VN" sz="2400" b="1">
                <a:highlight>
                  <a:srgbClr val="808000"/>
                </a:highlight>
              </a:rPr>
              <a:t>tối ưu hóa bộ nhớ cache </a:t>
            </a:r>
            <a:r>
              <a:rPr lang="vi-VN" sz="2400" b="1"/>
              <a:t>trên bộ xử lý để </a:t>
            </a:r>
            <a:r>
              <a:rPr lang="vi-VN" sz="2400" b="1">
                <a:highlight>
                  <a:srgbClr val="808000"/>
                </a:highlight>
              </a:rPr>
              <a:t>cải thiện hiệu suất</a:t>
            </a:r>
            <a:r>
              <a:rPr lang="vi-VN" sz="2400" b="1"/>
              <a:t> của hệ thống. Đây là một kỹ thuật đặc biệt được sử dụng trong bộ xử lý của các máy tính có </a:t>
            </a:r>
            <a:r>
              <a:rPr lang="vi-VN" sz="2400" b="1">
                <a:highlight>
                  <a:srgbClr val="808000"/>
                </a:highlight>
              </a:rPr>
              <a:t>kiến trúc x86</a:t>
            </a:r>
            <a:r>
              <a:rPr lang="vi-VN" sz="2400" b="1"/>
              <a:t>.</a:t>
            </a:r>
          </a:p>
        </p:txBody>
      </p:sp>
    </p:spTree>
    <p:extLst>
      <p:ext uri="{BB962C8B-B14F-4D97-AF65-F5344CB8AC3E}">
        <p14:creationId xmlns:p14="http://schemas.microsoft.com/office/powerpoint/2010/main" val="40245425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B6299E5-04CD-4E85-9AAA-46CA611002E5}"/>
              </a:ext>
            </a:extLst>
          </p:cNvPr>
          <p:cNvSpPr/>
          <p:nvPr/>
        </p:nvSpPr>
        <p:spPr>
          <a:xfrm>
            <a:off x="1785577" y="-2174174"/>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a:t>
            </a:r>
            <a:endParaRPr lang="vi-VN" sz="2400" b="1"/>
          </a:p>
        </p:txBody>
      </p:sp>
      <p:sp>
        <p:nvSpPr>
          <p:cNvPr id="5" name="Rectangle: Rounded Corners 4">
            <a:extLst>
              <a:ext uri="{FF2B5EF4-FFF2-40B4-BE49-F238E27FC236}">
                <a16:creationId xmlns:a16="http://schemas.microsoft.com/office/drawing/2014/main" id="{43A52A58-C561-9917-062F-9D652BD6A2B4}"/>
              </a:ext>
            </a:extLst>
          </p:cNvPr>
          <p:cNvSpPr/>
          <p:nvPr/>
        </p:nvSpPr>
        <p:spPr>
          <a:xfrm>
            <a:off x="4406242" y="-182943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MECHANISM</a:t>
            </a:r>
            <a:endParaRPr lang="vi-VN" sz="2400" b="1"/>
          </a:p>
        </p:txBody>
      </p:sp>
      <p:sp>
        <p:nvSpPr>
          <p:cNvPr id="8" name="Rectangle: Rounded Corners 7">
            <a:extLst>
              <a:ext uri="{FF2B5EF4-FFF2-40B4-BE49-F238E27FC236}">
                <a16:creationId xmlns:a16="http://schemas.microsoft.com/office/drawing/2014/main" id="{351592F8-4384-3F0B-EE9C-845F35C5F0D6}"/>
              </a:ext>
            </a:extLst>
          </p:cNvPr>
          <p:cNvSpPr/>
          <p:nvPr/>
        </p:nvSpPr>
        <p:spPr>
          <a:xfrm>
            <a:off x="2531166" y="1749287"/>
            <a:ext cx="7566991" cy="254441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400" b="1"/>
              <a:t>Fetch mechanism </a:t>
            </a:r>
            <a:r>
              <a:rPr lang="en-US" sz="2400" b="1"/>
              <a:t>(</a:t>
            </a:r>
            <a:r>
              <a:rPr lang="vi-VN" sz="2400" b="1"/>
              <a:t>cơ chế tìm nạp,</a:t>
            </a:r>
            <a:r>
              <a:rPr lang="en-US" sz="2400" b="1"/>
              <a:t>)</a:t>
            </a:r>
            <a:r>
              <a:rPr lang="vi-VN" sz="2400" b="1"/>
              <a:t> là một </a:t>
            </a:r>
            <a:r>
              <a:rPr lang="vi-VN" sz="2400" b="1">
                <a:highlight>
                  <a:srgbClr val="808000"/>
                </a:highlight>
              </a:rPr>
              <a:t>kỹ thuật</a:t>
            </a:r>
            <a:r>
              <a:rPr lang="vi-VN" sz="2400" b="1"/>
              <a:t> </a:t>
            </a:r>
            <a:r>
              <a:rPr lang="vi-VN" sz="2400" b="1">
                <a:highlight>
                  <a:srgbClr val="808000"/>
                </a:highlight>
              </a:rPr>
              <a:t>tối ưu hóa bộ nhớ cache </a:t>
            </a:r>
            <a:r>
              <a:rPr lang="vi-VN" sz="2400" b="1"/>
              <a:t>trên bộ xử lý để </a:t>
            </a:r>
            <a:r>
              <a:rPr lang="vi-VN" sz="2400" b="1">
                <a:highlight>
                  <a:srgbClr val="808000"/>
                </a:highlight>
              </a:rPr>
              <a:t>cải thiện hiệu suất</a:t>
            </a:r>
            <a:r>
              <a:rPr lang="vi-VN" sz="2400" b="1"/>
              <a:t> của hệ thống. Đây là một kỹ thuật đặc biệt được sử dụng trong bộ xử lý của các máy tính có </a:t>
            </a:r>
            <a:r>
              <a:rPr lang="vi-VN" sz="2400" b="1">
                <a:highlight>
                  <a:srgbClr val="808000"/>
                </a:highlight>
              </a:rPr>
              <a:t>kiến trúc x86</a:t>
            </a:r>
            <a:r>
              <a:rPr lang="vi-VN" sz="2400" b="1"/>
              <a:t>.</a:t>
            </a:r>
          </a:p>
        </p:txBody>
      </p:sp>
      <p:pic>
        <p:nvPicPr>
          <p:cNvPr id="2" name="Picture 1" descr="Diagram&#10;&#10;Description automatically generated">
            <a:extLst>
              <a:ext uri="{FF2B5EF4-FFF2-40B4-BE49-F238E27FC236}">
                <a16:creationId xmlns:a16="http://schemas.microsoft.com/office/drawing/2014/main" id="{EE053A61-E0B1-717E-8EE3-1361A097B2D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09470" y="8099787"/>
            <a:ext cx="6810382" cy="406964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478662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B6299E5-04CD-4E85-9AAA-46CA611002E5}"/>
              </a:ext>
            </a:extLst>
          </p:cNvPr>
          <p:cNvSpPr/>
          <p:nvPr/>
        </p:nvSpPr>
        <p:spPr>
          <a:xfrm>
            <a:off x="1785577" y="-2174174"/>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a:t>
            </a:r>
            <a:endParaRPr lang="vi-VN" sz="2400" b="1"/>
          </a:p>
        </p:txBody>
      </p:sp>
      <p:sp>
        <p:nvSpPr>
          <p:cNvPr id="5" name="Rectangle: Rounded Corners 4">
            <a:extLst>
              <a:ext uri="{FF2B5EF4-FFF2-40B4-BE49-F238E27FC236}">
                <a16:creationId xmlns:a16="http://schemas.microsoft.com/office/drawing/2014/main" id="{43A52A58-C561-9917-062F-9D652BD6A2B4}"/>
              </a:ext>
            </a:extLst>
          </p:cNvPr>
          <p:cNvSpPr/>
          <p:nvPr/>
        </p:nvSpPr>
        <p:spPr>
          <a:xfrm>
            <a:off x="4406242" y="-182943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MECHANISM</a:t>
            </a:r>
            <a:endParaRPr lang="vi-VN" sz="2400" b="1"/>
          </a:p>
        </p:txBody>
      </p:sp>
      <p:sp>
        <p:nvSpPr>
          <p:cNvPr id="8" name="Rectangle: Rounded Corners 7">
            <a:extLst>
              <a:ext uri="{FF2B5EF4-FFF2-40B4-BE49-F238E27FC236}">
                <a16:creationId xmlns:a16="http://schemas.microsoft.com/office/drawing/2014/main" id="{351592F8-4384-3F0B-EE9C-845F35C5F0D6}"/>
              </a:ext>
            </a:extLst>
          </p:cNvPr>
          <p:cNvSpPr/>
          <p:nvPr/>
        </p:nvSpPr>
        <p:spPr>
          <a:xfrm>
            <a:off x="2531166" y="-3233537"/>
            <a:ext cx="7566991" cy="254441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400" b="1"/>
              <a:t>Fetch mechanism </a:t>
            </a:r>
            <a:r>
              <a:rPr lang="en-US" sz="2400" b="1"/>
              <a:t>(</a:t>
            </a:r>
            <a:r>
              <a:rPr lang="vi-VN" sz="2400" b="1"/>
              <a:t>cơ chế tìm nạp,</a:t>
            </a:r>
            <a:r>
              <a:rPr lang="en-US" sz="2400" b="1"/>
              <a:t>)</a:t>
            </a:r>
            <a:r>
              <a:rPr lang="vi-VN" sz="2400" b="1"/>
              <a:t> là một </a:t>
            </a:r>
            <a:r>
              <a:rPr lang="vi-VN" sz="2400" b="1">
                <a:highlight>
                  <a:srgbClr val="808000"/>
                </a:highlight>
              </a:rPr>
              <a:t>kỹ thuật</a:t>
            </a:r>
            <a:r>
              <a:rPr lang="vi-VN" sz="2400" b="1"/>
              <a:t> </a:t>
            </a:r>
            <a:r>
              <a:rPr lang="vi-VN" sz="2400" b="1">
                <a:highlight>
                  <a:srgbClr val="808000"/>
                </a:highlight>
              </a:rPr>
              <a:t>tối ưu hóa bộ nhớ cache </a:t>
            </a:r>
            <a:r>
              <a:rPr lang="vi-VN" sz="2400" b="1"/>
              <a:t>trên bộ xử lý để </a:t>
            </a:r>
            <a:r>
              <a:rPr lang="vi-VN" sz="2400" b="1">
                <a:highlight>
                  <a:srgbClr val="808000"/>
                </a:highlight>
              </a:rPr>
              <a:t>cải thiện hiệu suất</a:t>
            </a:r>
            <a:r>
              <a:rPr lang="vi-VN" sz="2400" b="1"/>
              <a:t> của hệ thống. Đây là một kỹ thuật đặc biệt được sử dụng trong bộ xử lý của các máy tính có </a:t>
            </a:r>
            <a:r>
              <a:rPr lang="vi-VN" sz="2400" b="1">
                <a:highlight>
                  <a:srgbClr val="808000"/>
                </a:highlight>
              </a:rPr>
              <a:t>kiến trúc x86</a:t>
            </a:r>
            <a:r>
              <a:rPr lang="vi-VN" sz="2400" b="1"/>
              <a:t>.</a:t>
            </a:r>
          </a:p>
        </p:txBody>
      </p:sp>
      <p:pic>
        <p:nvPicPr>
          <p:cNvPr id="2" name="Picture 1" descr="Diagram&#10;&#10;Description automatically generated">
            <a:extLst>
              <a:ext uri="{FF2B5EF4-FFF2-40B4-BE49-F238E27FC236}">
                <a16:creationId xmlns:a16="http://schemas.microsoft.com/office/drawing/2014/main" id="{71495DB5-C46A-5869-3DEB-C788C6D06AA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09470" y="1394177"/>
            <a:ext cx="6810382" cy="4069646"/>
          </a:xfrm>
          <a:prstGeom prst="rect">
            <a:avLst/>
          </a:prstGeom>
          <a:ln>
            <a:noFill/>
          </a:ln>
          <a:effectLst>
            <a:outerShdw blurRad="292100" dist="139700" dir="2700000" algn="tl" rotWithShape="0">
              <a:srgbClr val="333333">
                <a:alpha val="65000"/>
              </a:srgbClr>
            </a:outerShdw>
          </a:effectLst>
        </p:spPr>
      </p:pic>
      <p:sp>
        <p:nvSpPr>
          <p:cNvPr id="3" name="Rectangle: Rounded Corners 2">
            <a:extLst>
              <a:ext uri="{FF2B5EF4-FFF2-40B4-BE49-F238E27FC236}">
                <a16:creationId xmlns:a16="http://schemas.microsoft.com/office/drawing/2014/main" id="{0C93CD8F-8C67-8B3B-94FE-773FB2C3C0FE}"/>
              </a:ext>
            </a:extLst>
          </p:cNvPr>
          <p:cNvSpPr/>
          <p:nvPr/>
        </p:nvSpPr>
        <p:spPr>
          <a:xfrm>
            <a:off x="7081035" y="7422934"/>
            <a:ext cx="4910036" cy="1126435"/>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Trace Cache được truy cập song song với </a:t>
            </a:r>
            <a:r>
              <a:rPr lang="en-US" sz="2000" b="1"/>
              <a:t>T</a:t>
            </a:r>
            <a:r>
              <a:rPr lang="vi-VN" sz="2000" b="1"/>
              <a:t>race </a:t>
            </a:r>
            <a:r>
              <a:rPr lang="en-US" sz="2000" b="1"/>
              <a:t>I</a:t>
            </a:r>
            <a:r>
              <a:rPr lang="vi-VN" sz="2000" b="1"/>
              <a:t>nstruction dựa trên địa chỉ tìm nạp</a:t>
            </a:r>
          </a:p>
        </p:txBody>
      </p:sp>
      <p:sp>
        <p:nvSpPr>
          <p:cNvPr id="6" name="Rectangle: Rounded Corners 5">
            <a:extLst>
              <a:ext uri="{FF2B5EF4-FFF2-40B4-BE49-F238E27FC236}">
                <a16:creationId xmlns:a16="http://schemas.microsoft.com/office/drawing/2014/main" id="{FF4F0D1F-C167-067F-2707-0AA266A1A2D1}"/>
              </a:ext>
            </a:extLst>
          </p:cNvPr>
          <p:cNvSpPr/>
          <p:nvPr/>
        </p:nvSpPr>
        <p:spPr>
          <a:xfrm>
            <a:off x="7081035" y="8800413"/>
            <a:ext cx="4910036" cy="151566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Công cụ dự đoán nhiều nhánh</a:t>
            </a:r>
            <a:r>
              <a:rPr lang="en-US" sz="2000" b="1"/>
              <a:t> </a:t>
            </a:r>
            <a:r>
              <a:rPr lang="en-US" sz="2000" b="1">
                <a:sym typeface="Wingdings" panose="05000000000000000000" pitchFamily="2" charset="2"/>
              </a:rPr>
              <a:t> </a:t>
            </a:r>
            <a:r>
              <a:rPr lang="vi-VN" sz="2000" b="1"/>
              <a:t>tạo ra các kết quả nhánh cho một vài nhánh tiếp theo trong khi các bộ đệm đang được truy cập. </a:t>
            </a:r>
          </a:p>
        </p:txBody>
      </p:sp>
      <p:sp>
        <p:nvSpPr>
          <p:cNvPr id="7" name="Rectangle: Rounded Corners 6">
            <a:extLst>
              <a:ext uri="{FF2B5EF4-FFF2-40B4-BE49-F238E27FC236}">
                <a16:creationId xmlns:a16="http://schemas.microsoft.com/office/drawing/2014/main" id="{54AB4A50-CABE-FA2C-91DE-6ADCE87F1D12}"/>
              </a:ext>
            </a:extLst>
          </p:cNvPr>
          <p:cNvSpPr/>
          <p:nvPr/>
        </p:nvSpPr>
        <p:spPr>
          <a:xfrm>
            <a:off x="7081035" y="10533245"/>
            <a:ext cx="4910036" cy="87688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t>Hit </a:t>
            </a:r>
            <a:r>
              <a:rPr lang="en-US" sz="2000" b="1">
                <a:sym typeface="Wingdings" panose="05000000000000000000" pitchFamily="2" charset="2"/>
              </a:rPr>
              <a:t> Trace đọc từ Trace Cache  Instruction Issue Buffers  </a:t>
            </a:r>
            <a:endParaRPr lang="vi-VN" sz="2000" b="1"/>
          </a:p>
        </p:txBody>
      </p:sp>
      <p:sp>
        <p:nvSpPr>
          <p:cNvPr id="9" name="Rectangle: Rounded Corners 8">
            <a:extLst>
              <a:ext uri="{FF2B5EF4-FFF2-40B4-BE49-F238E27FC236}">
                <a16:creationId xmlns:a16="http://schemas.microsoft.com/office/drawing/2014/main" id="{44EA426A-FEA7-55C0-7127-E7029CFB63A0}"/>
              </a:ext>
            </a:extLst>
          </p:cNvPr>
          <p:cNvSpPr/>
          <p:nvPr/>
        </p:nvSpPr>
        <p:spPr>
          <a:xfrm>
            <a:off x="7081035" y="12813815"/>
            <a:ext cx="4910036" cy="87688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t>Miss </a:t>
            </a:r>
            <a:r>
              <a:rPr lang="en-US" sz="2000" b="1">
                <a:sym typeface="Wingdings" panose="05000000000000000000" pitchFamily="2" charset="2"/>
              </a:rPr>
              <a:t> Quá trình tìm nạp lệnh thông thường từ IC</a:t>
            </a:r>
            <a:endParaRPr lang="vi-VN" sz="2000" b="1"/>
          </a:p>
        </p:txBody>
      </p:sp>
      <p:sp>
        <p:nvSpPr>
          <p:cNvPr id="10" name="Rectangle: Rounded Corners 9">
            <a:extLst>
              <a:ext uri="{FF2B5EF4-FFF2-40B4-BE49-F238E27FC236}">
                <a16:creationId xmlns:a16="http://schemas.microsoft.com/office/drawing/2014/main" id="{A6A9C795-BEA2-F048-40D3-5610BC38C8D0}"/>
              </a:ext>
            </a:extLst>
          </p:cNvPr>
          <p:cNvSpPr/>
          <p:nvPr/>
        </p:nvSpPr>
        <p:spPr>
          <a:xfrm>
            <a:off x="7081035" y="11670479"/>
            <a:ext cx="4910036" cy="87688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t>Điều kiện hit: Fetch Address == Trace tag</a:t>
            </a:r>
          </a:p>
          <a:p>
            <a:pPr algn="ctr"/>
            <a:r>
              <a:rPr lang="en-US" sz="2000" b="1"/>
              <a:t>Hoặc Branch Prediction == Branch direction của Trace</a:t>
            </a:r>
            <a:endParaRPr lang="vi-VN" sz="2000" b="1"/>
          </a:p>
        </p:txBody>
      </p:sp>
    </p:spTree>
    <p:extLst>
      <p:ext uri="{BB962C8B-B14F-4D97-AF65-F5344CB8AC3E}">
        <p14:creationId xmlns:p14="http://schemas.microsoft.com/office/powerpoint/2010/main" val="37600849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B6299E5-04CD-4E85-9AAA-46CA611002E5}"/>
              </a:ext>
            </a:extLst>
          </p:cNvPr>
          <p:cNvSpPr/>
          <p:nvPr/>
        </p:nvSpPr>
        <p:spPr>
          <a:xfrm>
            <a:off x="1785577" y="-2174174"/>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a:t>
            </a:r>
            <a:endParaRPr lang="vi-VN" sz="2400" b="1"/>
          </a:p>
        </p:txBody>
      </p:sp>
      <p:sp>
        <p:nvSpPr>
          <p:cNvPr id="5" name="Rectangle: Rounded Corners 4">
            <a:extLst>
              <a:ext uri="{FF2B5EF4-FFF2-40B4-BE49-F238E27FC236}">
                <a16:creationId xmlns:a16="http://schemas.microsoft.com/office/drawing/2014/main" id="{43A52A58-C561-9917-062F-9D652BD6A2B4}"/>
              </a:ext>
            </a:extLst>
          </p:cNvPr>
          <p:cNvSpPr/>
          <p:nvPr/>
        </p:nvSpPr>
        <p:spPr>
          <a:xfrm>
            <a:off x="4406242" y="-182943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MECHANISM</a:t>
            </a:r>
            <a:endParaRPr lang="vi-VN" sz="2400" b="1"/>
          </a:p>
        </p:txBody>
      </p:sp>
      <p:sp>
        <p:nvSpPr>
          <p:cNvPr id="8" name="Rectangle: Rounded Corners 7">
            <a:extLst>
              <a:ext uri="{FF2B5EF4-FFF2-40B4-BE49-F238E27FC236}">
                <a16:creationId xmlns:a16="http://schemas.microsoft.com/office/drawing/2014/main" id="{351592F8-4384-3F0B-EE9C-845F35C5F0D6}"/>
              </a:ext>
            </a:extLst>
          </p:cNvPr>
          <p:cNvSpPr/>
          <p:nvPr/>
        </p:nvSpPr>
        <p:spPr>
          <a:xfrm>
            <a:off x="2531166" y="-3233537"/>
            <a:ext cx="7566991" cy="254441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400" b="1"/>
              <a:t>Fetch mechanism </a:t>
            </a:r>
            <a:r>
              <a:rPr lang="en-US" sz="2400" b="1"/>
              <a:t>(</a:t>
            </a:r>
            <a:r>
              <a:rPr lang="vi-VN" sz="2400" b="1"/>
              <a:t>cơ chế tìm nạp,</a:t>
            </a:r>
            <a:r>
              <a:rPr lang="en-US" sz="2400" b="1"/>
              <a:t>)</a:t>
            </a:r>
            <a:r>
              <a:rPr lang="vi-VN" sz="2400" b="1"/>
              <a:t> là một </a:t>
            </a:r>
            <a:r>
              <a:rPr lang="vi-VN" sz="2400" b="1">
                <a:highlight>
                  <a:srgbClr val="808000"/>
                </a:highlight>
              </a:rPr>
              <a:t>kỹ thuật</a:t>
            </a:r>
            <a:r>
              <a:rPr lang="vi-VN" sz="2400" b="1"/>
              <a:t> </a:t>
            </a:r>
            <a:r>
              <a:rPr lang="vi-VN" sz="2400" b="1">
                <a:highlight>
                  <a:srgbClr val="808000"/>
                </a:highlight>
              </a:rPr>
              <a:t>tối ưu hóa bộ nhớ cache </a:t>
            </a:r>
            <a:r>
              <a:rPr lang="vi-VN" sz="2400" b="1"/>
              <a:t>trên bộ xử lý để </a:t>
            </a:r>
            <a:r>
              <a:rPr lang="vi-VN" sz="2400" b="1">
                <a:highlight>
                  <a:srgbClr val="808000"/>
                </a:highlight>
              </a:rPr>
              <a:t>cải thiện hiệu suất</a:t>
            </a:r>
            <a:r>
              <a:rPr lang="vi-VN" sz="2400" b="1"/>
              <a:t> của hệ thống. Đây là một kỹ thuật đặc biệt được sử dụng trong bộ xử lý của các máy tính có </a:t>
            </a:r>
            <a:r>
              <a:rPr lang="vi-VN" sz="2400" b="1">
                <a:highlight>
                  <a:srgbClr val="808000"/>
                </a:highlight>
              </a:rPr>
              <a:t>kiến trúc x86</a:t>
            </a:r>
            <a:r>
              <a:rPr lang="vi-VN" sz="2400" b="1"/>
              <a:t>.</a:t>
            </a:r>
          </a:p>
        </p:txBody>
      </p:sp>
      <p:pic>
        <p:nvPicPr>
          <p:cNvPr id="2" name="Picture 1" descr="Diagram&#10;&#10;Description automatically generated">
            <a:extLst>
              <a:ext uri="{FF2B5EF4-FFF2-40B4-BE49-F238E27FC236}">
                <a16:creationId xmlns:a16="http://schemas.microsoft.com/office/drawing/2014/main" id="{71495DB5-C46A-5869-3DEB-C788C6D06AA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929" y="1446193"/>
            <a:ext cx="6636287" cy="3965613"/>
          </a:xfrm>
          <a:prstGeom prst="rect">
            <a:avLst/>
          </a:prstGeom>
          <a:ln>
            <a:noFill/>
          </a:ln>
          <a:effectLst>
            <a:outerShdw blurRad="292100" dist="139700" dir="2700000" algn="tl" rotWithShape="0">
              <a:srgbClr val="333333">
                <a:alpha val="65000"/>
              </a:srgbClr>
            </a:outerShdw>
          </a:effectLst>
        </p:spPr>
      </p:pic>
      <p:sp>
        <p:nvSpPr>
          <p:cNvPr id="3" name="Rectangle: Rounded Corners 2">
            <a:extLst>
              <a:ext uri="{FF2B5EF4-FFF2-40B4-BE49-F238E27FC236}">
                <a16:creationId xmlns:a16="http://schemas.microsoft.com/office/drawing/2014/main" id="{BED64A29-CAE4-387C-3ABA-7F8054584C64}"/>
              </a:ext>
            </a:extLst>
          </p:cNvPr>
          <p:cNvSpPr/>
          <p:nvPr/>
        </p:nvSpPr>
        <p:spPr>
          <a:xfrm>
            <a:off x="7081035" y="319758"/>
            <a:ext cx="4910036" cy="1126435"/>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Trace Cache được truy cập song song với </a:t>
            </a:r>
            <a:r>
              <a:rPr lang="en-US" sz="2000" b="1"/>
              <a:t>T</a:t>
            </a:r>
            <a:r>
              <a:rPr lang="vi-VN" sz="2000" b="1"/>
              <a:t>race </a:t>
            </a:r>
            <a:r>
              <a:rPr lang="en-US" sz="2000" b="1"/>
              <a:t>I</a:t>
            </a:r>
            <a:r>
              <a:rPr lang="vi-VN" sz="2000" b="1"/>
              <a:t>nstruction dựa trên địa chỉ tìm nạp</a:t>
            </a:r>
          </a:p>
        </p:txBody>
      </p:sp>
      <p:sp>
        <p:nvSpPr>
          <p:cNvPr id="6" name="Rectangle: Rounded Corners 5">
            <a:extLst>
              <a:ext uri="{FF2B5EF4-FFF2-40B4-BE49-F238E27FC236}">
                <a16:creationId xmlns:a16="http://schemas.microsoft.com/office/drawing/2014/main" id="{4D4E2D22-A423-6019-88F5-EE29EEAC0A22}"/>
              </a:ext>
            </a:extLst>
          </p:cNvPr>
          <p:cNvSpPr/>
          <p:nvPr/>
        </p:nvSpPr>
        <p:spPr>
          <a:xfrm>
            <a:off x="7081035" y="1697237"/>
            <a:ext cx="4910036" cy="151566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Công cụ dự đoán nhiều nhánh</a:t>
            </a:r>
            <a:r>
              <a:rPr lang="en-US" sz="2000" b="1"/>
              <a:t> </a:t>
            </a:r>
            <a:r>
              <a:rPr lang="en-US" sz="2000" b="1">
                <a:sym typeface="Wingdings" panose="05000000000000000000" pitchFamily="2" charset="2"/>
              </a:rPr>
              <a:t> </a:t>
            </a:r>
            <a:r>
              <a:rPr lang="vi-VN" sz="2000" b="1"/>
              <a:t>tạo ra các kết quả nhánh cho một vài nhánh tiếp theo trong khi các bộ đệm đang được truy cập. </a:t>
            </a:r>
          </a:p>
        </p:txBody>
      </p:sp>
      <p:sp>
        <p:nvSpPr>
          <p:cNvPr id="7" name="Rectangle: Rounded Corners 6">
            <a:extLst>
              <a:ext uri="{FF2B5EF4-FFF2-40B4-BE49-F238E27FC236}">
                <a16:creationId xmlns:a16="http://schemas.microsoft.com/office/drawing/2014/main" id="{F236A023-C0DF-74DE-BED1-24DD21CDA364}"/>
              </a:ext>
            </a:extLst>
          </p:cNvPr>
          <p:cNvSpPr/>
          <p:nvPr/>
        </p:nvSpPr>
        <p:spPr>
          <a:xfrm>
            <a:off x="7081035" y="3430069"/>
            <a:ext cx="4910036" cy="87688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t>Hit </a:t>
            </a:r>
            <a:r>
              <a:rPr lang="en-US" sz="2000" b="1">
                <a:sym typeface="Wingdings" panose="05000000000000000000" pitchFamily="2" charset="2"/>
              </a:rPr>
              <a:t> Trace đọc từ Trace Cache  Instruction Issue Buffers  </a:t>
            </a:r>
            <a:endParaRPr lang="vi-VN" sz="2000" b="1"/>
          </a:p>
        </p:txBody>
      </p:sp>
      <p:sp>
        <p:nvSpPr>
          <p:cNvPr id="9" name="Rectangle: Rounded Corners 8">
            <a:extLst>
              <a:ext uri="{FF2B5EF4-FFF2-40B4-BE49-F238E27FC236}">
                <a16:creationId xmlns:a16="http://schemas.microsoft.com/office/drawing/2014/main" id="{FA07D0DE-C84B-D4EA-E813-75F31D54275F}"/>
              </a:ext>
            </a:extLst>
          </p:cNvPr>
          <p:cNvSpPr/>
          <p:nvPr/>
        </p:nvSpPr>
        <p:spPr>
          <a:xfrm>
            <a:off x="7081035" y="5710639"/>
            <a:ext cx="4910036" cy="87688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t>Miss </a:t>
            </a:r>
            <a:r>
              <a:rPr lang="en-US" sz="2000" b="1">
                <a:sym typeface="Wingdings" panose="05000000000000000000" pitchFamily="2" charset="2"/>
              </a:rPr>
              <a:t> Quá trình tìm nạp lệnh thông thường từ IC</a:t>
            </a:r>
            <a:endParaRPr lang="vi-VN" sz="2000" b="1"/>
          </a:p>
        </p:txBody>
      </p:sp>
      <p:sp>
        <p:nvSpPr>
          <p:cNvPr id="10" name="Rectangle: Rounded Corners 9">
            <a:extLst>
              <a:ext uri="{FF2B5EF4-FFF2-40B4-BE49-F238E27FC236}">
                <a16:creationId xmlns:a16="http://schemas.microsoft.com/office/drawing/2014/main" id="{436C120F-BE15-0415-3792-F228EFF65820}"/>
              </a:ext>
            </a:extLst>
          </p:cNvPr>
          <p:cNvSpPr/>
          <p:nvPr/>
        </p:nvSpPr>
        <p:spPr>
          <a:xfrm>
            <a:off x="7081035" y="4567303"/>
            <a:ext cx="4910036" cy="87688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t>Điều kiện hit: Fetch Address == Trace tag</a:t>
            </a:r>
          </a:p>
          <a:p>
            <a:pPr algn="ctr"/>
            <a:r>
              <a:rPr lang="en-US" sz="2000" b="1"/>
              <a:t>Hoặc Branch Prediction == Branch direction của Trace</a:t>
            </a:r>
            <a:endParaRPr lang="vi-VN" sz="2000" b="1"/>
          </a:p>
        </p:txBody>
      </p:sp>
      <p:sp>
        <p:nvSpPr>
          <p:cNvPr id="11" name="Rectangle: Rounded Corners 10">
            <a:extLst>
              <a:ext uri="{FF2B5EF4-FFF2-40B4-BE49-F238E27FC236}">
                <a16:creationId xmlns:a16="http://schemas.microsoft.com/office/drawing/2014/main" id="{512DCE0E-61B5-2D3E-4E9A-AE3214B16FD5}"/>
              </a:ext>
            </a:extLst>
          </p:cNvPr>
          <p:cNvSpPr/>
          <p:nvPr/>
        </p:nvSpPr>
        <p:spPr>
          <a:xfrm>
            <a:off x="1144258" y="8365989"/>
            <a:ext cx="7065660" cy="1034485"/>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Giảm thiểu số lượng truy cập vào bộ nhớ chính, giúp giảm độ trễ và tăng tốc độ thực thi lệnh</a:t>
            </a:r>
          </a:p>
        </p:txBody>
      </p:sp>
      <p:sp>
        <p:nvSpPr>
          <p:cNvPr id="12" name="Rectangle: Rounded Corners 11">
            <a:extLst>
              <a:ext uri="{FF2B5EF4-FFF2-40B4-BE49-F238E27FC236}">
                <a16:creationId xmlns:a16="http://schemas.microsoft.com/office/drawing/2014/main" id="{CD732E60-F942-6F90-24C5-C66A76F3FA41}"/>
              </a:ext>
            </a:extLst>
          </p:cNvPr>
          <p:cNvSpPr/>
          <p:nvPr/>
        </p:nvSpPr>
        <p:spPr>
          <a:xfrm>
            <a:off x="3370997" y="9791729"/>
            <a:ext cx="8625385" cy="1132426"/>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Tăng khả năng dự đoán nhá</a:t>
            </a:r>
            <a:r>
              <a:rPr lang="en-US" sz="2000" b="1">
                <a:latin typeface="Arial" panose="020B0604020202020204" pitchFamily="34" charset="0"/>
                <a:cs typeface="Arial" panose="020B0604020202020204" pitchFamily="34" charset="0"/>
              </a:rPr>
              <a:t>nh</a:t>
            </a:r>
            <a:r>
              <a:rPr lang="vi-VN" sz="2000" b="1"/>
              <a:t> bằng cách lưu trữ các instruction đã được thực thi trước đó trong các đoạn mã có cấu trúc tương tự</a:t>
            </a:r>
          </a:p>
        </p:txBody>
      </p:sp>
      <p:sp>
        <p:nvSpPr>
          <p:cNvPr id="13" name="Rectangle: Rounded Corners 12">
            <a:extLst>
              <a:ext uri="{FF2B5EF4-FFF2-40B4-BE49-F238E27FC236}">
                <a16:creationId xmlns:a16="http://schemas.microsoft.com/office/drawing/2014/main" id="{826CCC11-80CC-EAFE-4C9E-8A2CA075C2E1}"/>
              </a:ext>
            </a:extLst>
          </p:cNvPr>
          <p:cNvSpPr/>
          <p:nvPr/>
        </p:nvSpPr>
        <p:spPr>
          <a:xfrm>
            <a:off x="217576" y="11771573"/>
            <a:ext cx="8284979" cy="1132426"/>
          </a:xfrm>
          <a:prstGeom prst="roundRect">
            <a:avLst/>
          </a:prstGeom>
          <a:solidFill>
            <a:schemeClr val="tx2">
              <a:lumMod val="60000"/>
              <a:lumOff val="40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N</a:t>
            </a:r>
            <a:r>
              <a:rPr lang="vi-VN" sz="2000" b="1">
                <a:latin typeface="Arial" panose="020B0604020202020204" pitchFamily="34" charset="0"/>
                <a:cs typeface="Arial" panose="020B0604020202020204" pitchFamily="34" charset="0"/>
              </a:rPr>
              <a:t>ó yêu cầu một lượng bộ nhớ đáng kể để lưu trữ các chuỗi lệnh</a:t>
            </a:r>
            <a:r>
              <a:rPr lang="en-US" sz="2000" b="1">
                <a:latin typeface="Arial" panose="020B0604020202020204" pitchFamily="34" charset="0"/>
                <a:cs typeface="Arial" panose="020B0604020202020204" pitchFamily="34" charset="0"/>
              </a:rPr>
              <a:t>     </a:t>
            </a:r>
            <a:r>
              <a:rPr lang="en-US" sz="2000" b="1">
                <a:latin typeface="Arial" panose="020B0604020202020204" pitchFamily="34" charset="0"/>
                <a:cs typeface="Arial" panose="020B0604020202020204" pitchFamily="34" charset="0"/>
                <a:sym typeface="Wingdings" panose="05000000000000000000" pitchFamily="2" charset="2"/>
              </a:rPr>
              <a:t> Ả</a:t>
            </a:r>
            <a:r>
              <a:rPr lang="vi-VN" sz="2000" b="1">
                <a:latin typeface="Arial" panose="020B0604020202020204" pitchFamily="34" charset="0"/>
                <a:cs typeface="Arial" panose="020B0604020202020204" pitchFamily="34" charset="0"/>
                <a:sym typeface="Wingdings" panose="05000000000000000000" pitchFamily="2" charset="2"/>
              </a:rPr>
              <a:t>nh hưởng đến kích thước của bộ nhớ cache</a:t>
            </a:r>
            <a:r>
              <a:rPr lang="en-US" sz="2000" b="1">
                <a:latin typeface="Arial" panose="020B0604020202020204" pitchFamily="34" charset="0"/>
                <a:cs typeface="Arial" panose="020B0604020202020204" pitchFamily="34" charset="0"/>
                <a:sym typeface="Wingdings" panose="05000000000000000000" pitchFamily="2" charset="2"/>
              </a:rPr>
              <a:t>, tăng chi phí sản xuất</a:t>
            </a:r>
            <a:endParaRPr lang="vi-VN" sz="2000" b="1">
              <a:latin typeface="Arial" panose="020B0604020202020204" pitchFamily="34" charset="0"/>
              <a:cs typeface="Arial" panose="020B0604020202020204" pitchFamily="34" charset="0"/>
            </a:endParaRPr>
          </a:p>
        </p:txBody>
      </p:sp>
      <p:sp>
        <p:nvSpPr>
          <p:cNvPr id="14" name="Rectangle: Rounded Corners 13">
            <a:extLst>
              <a:ext uri="{FF2B5EF4-FFF2-40B4-BE49-F238E27FC236}">
                <a16:creationId xmlns:a16="http://schemas.microsoft.com/office/drawing/2014/main" id="{A534BE98-5A95-5183-DBD2-24CD8D82B3CC}"/>
              </a:ext>
            </a:extLst>
          </p:cNvPr>
          <p:cNvSpPr/>
          <p:nvPr/>
        </p:nvSpPr>
        <p:spPr>
          <a:xfrm>
            <a:off x="2125996" y="13332508"/>
            <a:ext cx="8625384" cy="1132426"/>
          </a:xfrm>
          <a:prstGeom prst="roundRect">
            <a:avLst/>
          </a:prstGeom>
          <a:solidFill>
            <a:schemeClr val="tx2">
              <a:lumMod val="60000"/>
              <a:lumOff val="40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latin typeface="Arial" panose="020B0604020202020204" pitchFamily="34" charset="0"/>
                <a:cs typeface="Arial" panose="020B0604020202020204" pitchFamily="34" charset="0"/>
              </a:rPr>
              <a:t>Trace Cache có thể không hiệu quả khi các chuỗi lệnh không liên tục hoặc khi các lệnh được thực thi theo một cách không đồng nhất</a:t>
            </a:r>
          </a:p>
        </p:txBody>
      </p:sp>
    </p:spTree>
    <p:extLst>
      <p:ext uri="{BB962C8B-B14F-4D97-AF65-F5344CB8AC3E}">
        <p14:creationId xmlns:p14="http://schemas.microsoft.com/office/powerpoint/2010/main" val="12667665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B6299E5-04CD-4E85-9AAA-46CA611002E5}"/>
              </a:ext>
            </a:extLst>
          </p:cNvPr>
          <p:cNvSpPr/>
          <p:nvPr/>
        </p:nvSpPr>
        <p:spPr>
          <a:xfrm>
            <a:off x="1785577" y="-2174174"/>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a:t>
            </a:r>
            <a:endParaRPr lang="vi-VN" sz="2400" b="1"/>
          </a:p>
        </p:txBody>
      </p:sp>
      <p:sp>
        <p:nvSpPr>
          <p:cNvPr id="5" name="Rectangle: Rounded Corners 4">
            <a:extLst>
              <a:ext uri="{FF2B5EF4-FFF2-40B4-BE49-F238E27FC236}">
                <a16:creationId xmlns:a16="http://schemas.microsoft.com/office/drawing/2014/main" id="{43A52A58-C561-9917-062F-9D652BD6A2B4}"/>
              </a:ext>
            </a:extLst>
          </p:cNvPr>
          <p:cNvSpPr/>
          <p:nvPr/>
        </p:nvSpPr>
        <p:spPr>
          <a:xfrm>
            <a:off x="4406242" y="-182943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MECHANISM</a:t>
            </a:r>
            <a:endParaRPr lang="vi-VN" sz="2400" b="1"/>
          </a:p>
        </p:txBody>
      </p:sp>
      <p:sp>
        <p:nvSpPr>
          <p:cNvPr id="8" name="Rectangle: Rounded Corners 7">
            <a:extLst>
              <a:ext uri="{FF2B5EF4-FFF2-40B4-BE49-F238E27FC236}">
                <a16:creationId xmlns:a16="http://schemas.microsoft.com/office/drawing/2014/main" id="{351592F8-4384-3F0B-EE9C-845F35C5F0D6}"/>
              </a:ext>
            </a:extLst>
          </p:cNvPr>
          <p:cNvSpPr/>
          <p:nvPr/>
        </p:nvSpPr>
        <p:spPr>
          <a:xfrm>
            <a:off x="2531166" y="-3233537"/>
            <a:ext cx="7566991" cy="254441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400" b="1"/>
              <a:t>Fetch mechanism </a:t>
            </a:r>
            <a:r>
              <a:rPr lang="en-US" sz="2400" b="1"/>
              <a:t>(</a:t>
            </a:r>
            <a:r>
              <a:rPr lang="vi-VN" sz="2400" b="1"/>
              <a:t>cơ chế tìm nạp,</a:t>
            </a:r>
            <a:r>
              <a:rPr lang="en-US" sz="2400" b="1"/>
              <a:t>)</a:t>
            </a:r>
            <a:r>
              <a:rPr lang="vi-VN" sz="2400" b="1"/>
              <a:t> là một </a:t>
            </a:r>
            <a:r>
              <a:rPr lang="vi-VN" sz="2400" b="1">
                <a:highlight>
                  <a:srgbClr val="808000"/>
                </a:highlight>
              </a:rPr>
              <a:t>kỹ thuật</a:t>
            </a:r>
            <a:r>
              <a:rPr lang="vi-VN" sz="2400" b="1"/>
              <a:t> </a:t>
            </a:r>
            <a:r>
              <a:rPr lang="vi-VN" sz="2400" b="1">
                <a:highlight>
                  <a:srgbClr val="808000"/>
                </a:highlight>
              </a:rPr>
              <a:t>tối ưu hóa bộ nhớ cache </a:t>
            </a:r>
            <a:r>
              <a:rPr lang="vi-VN" sz="2400" b="1"/>
              <a:t>trên bộ xử lý để </a:t>
            </a:r>
            <a:r>
              <a:rPr lang="vi-VN" sz="2400" b="1">
                <a:highlight>
                  <a:srgbClr val="808000"/>
                </a:highlight>
              </a:rPr>
              <a:t>cải thiện hiệu suất</a:t>
            </a:r>
            <a:r>
              <a:rPr lang="vi-VN" sz="2400" b="1"/>
              <a:t> của hệ thống. Đây là một kỹ thuật đặc biệt được sử dụng trong bộ xử lý của các máy tính có </a:t>
            </a:r>
            <a:r>
              <a:rPr lang="vi-VN" sz="2400" b="1">
                <a:highlight>
                  <a:srgbClr val="808000"/>
                </a:highlight>
              </a:rPr>
              <a:t>kiến trúc x86</a:t>
            </a:r>
            <a:r>
              <a:rPr lang="vi-VN" sz="2400" b="1"/>
              <a:t>.</a:t>
            </a:r>
          </a:p>
        </p:txBody>
      </p:sp>
      <p:pic>
        <p:nvPicPr>
          <p:cNvPr id="2" name="Picture 1" descr="Diagram&#10;&#10;Description automatically generated">
            <a:extLst>
              <a:ext uri="{FF2B5EF4-FFF2-40B4-BE49-F238E27FC236}">
                <a16:creationId xmlns:a16="http://schemas.microsoft.com/office/drawing/2014/main" id="{71495DB5-C46A-5869-3DEB-C788C6D06AA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34317" y="1446193"/>
            <a:ext cx="6636287" cy="3965613"/>
          </a:xfrm>
          <a:prstGeom prst="rect">
            <a:avLst/>
          </a:prstGeom>
          <a:ln>
            <a:noFill/>
          </a:ln>
          <a:effectLst>
            <a:outerShdw blurRad="292100" dist="139700" dir="2700000" algn="tl" rotWithShape="0">
              <a:srgbClr val="333333">
                <a:alpha val="65000"/>
              </a:srgbClr>
            </a:outerShdw>
          </a:effectLst>
        </p:spPr>
      </p:pic>
      <p:sp>
        <p:nvSpPr>
          <p:cNvPr id="6" name="Rectangle: Rounded Corners 5">
            <a:extLst>
              <a:ext uri="{FF2B5EF4-FFF2-40B4-BE49-F238E27FC236}">
                <a16:creationId xmlns:a16="http://schemas.microsoft.com/office/drawing/2014/main" id="{4D4E2D22-A423-6019-88F5-EE29EEAC0A22}"/>
              </a:ext>
            </a:extLst>
          </p:cNvPr>
          <p:cNvSpPr/>
          <p:nvPr/>
        </p:nvSpPr>
        <p:spPr>
          <a:xfrm>
            <a:off x="12758517" y="1697237"/>
            <a:ext cx="4910036" cy="151566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Công cụ dự đoán nhiều nhánh</a:t>
            </a:r>
            <a:r>
              <a:rPr lang="en-US" sz="2000" b="1"/>
              <a:t> </a:t>
            </a:r>
            <a:r>
              <a:rPr lang="en-US" sz="2000" b="1">
                <a:sym typeface="Wingdings" panose="05000000000000000000" pitchFamily="2" charset="2"/>
              </a:rPr>
              <a:t> </a:t>
            </a:r>
            <a:r>
              <a:rPr lang="vi-VN" sz="2000" b="1"/>
              <a:t>tạo ra các kết quả nhánh cho một vài nhánh tiếp theo trong khi các bộ đệm đang được truy cập. </a:t>
            </a:r>
          </a:p>
        </p:txBody>
      </p:sp>
      <p:sp>
        <p:nvSpPr>
          <p:cNvPr id="7" name="Rectangle: Rounded Corners 6">
            <a:extLst>
              <a:ext uri="{FF2B5EF4-FFF2-40B4-BE49-F238E27FC236}">
                <a16:creationId xmlns:a16="http://schemas.microsoft.com/office/drawing/2014/main" id="{F236A023-C0DF-74DE-BED1-24DD21CDA364}"/>
              </a:ext>
            </a:extLst>
          </p:cNvPr>
          <p:cNvSpPr/>
          <p:nvPr/>
        </p:nvSpPr>
        <p:spPr>
          <a:xfrm>
            <a:off x="12758517" y="3430069"/>
            <a:ext cx="4910036" cy="87688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t>Hit </a:t>
            </a:r>
            <a:r>
              <a:rPr lang="en-US" sz="2000" b="1">
                <a:sym typeface="Wingdings" panose="05000000000000000000" pitchFamily="2" charset="2"/>
              </a:rPr>
              <a:t> Trace đọc từ Trace Cache  Instruction Issue Buffers  </a:t>
            </a:r>
            <a:endParaRPr lang="vi-VN" sz="2000" b="1"/>
          </a:p>
        </p:txBody>
      </p:sp>
      <p:sp>
        <p:nvSpPr>
          <p:cNvPr id="9" name="Rectangle: Rounded Corners 8">
            <a:extLst>
              <a:ext uri="{FF2B5EF4-FFF2-40B4-BE49-F238E27FC236}">
                <a16:creationId xmlns:a16="http://schemas.microsoft.com/office/drawing/2014/main" id="{FA07D0DE-C84B-D4EA-E813-75F31D54275F}"/>
              </a:ext>
            </a:extLst>
          </p:cNvPr>
          <p:cNvSpPr/>
          <p:nvPr/>
        </p:nvSpPr>
        <p:spPr>
          <a:xfrm>
            <a:off x="12758517" y="5710639"/>
            <a:ext cx="4910036" cy="87688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t>Miss </a:t>
            </a:r>
            <a:r>
              <a:rPr lang="en-US" sz="2000" b="1">
                <a:sym typeface="Wingdings" panose="05000000000000000000" pitchFamily="2" charset="2"/>
              </a:rPr>
              <a:t> Quá trình tìm nạp lệnh thông thường từ IC</a:t>
            </a:r>
            <a:endParaRPr lang="vi-VN" sz="2000" b="1"/>
          </a:p>
        </p:txBody>
      </p:sp>
      <p:sp>
        <p:nvSpPr>
          <p:cNvPr id="10" name="Rectangle: Rounded Corners 9">
            <a:extLst>
              <a:ext uri="{FF2B5EF4-FFF2-40B4-BE49-F238E27FC236}">
                <a16:creationId xmlns:a16="http://schemas.microsoft.com/office/drawing/2014/main" id="{436C120F-BE15-0415-3792-F228EFF65820}"/>
              </a:ext>
            </a:extLst>
          </p:cNvPr>
          <p:cNvSpPr/>
          <p:nvPr/>
        </p:nvSpPr>
        <p:spPr>
          <a:xfrm>
            <a:off x="12758517" y="4567303"/>
            <a:ext cx="4910036" cy="87688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t>Điều kiện hit: Fetch Address == Trace tag</a:t>
            </a:r>
          </a:p>
          <a:p>
            <a:pPr algn="ctr"/>
            <a:r>
              <a:rPr lang="en-US" sz="2000" b="1"/>
              <a:t>Hoặc Branch Prediction == Branch direction của Trace</a:t>
            </a:r>
            <a:endParaRPr lang="vi-VN" sz="2000" b="1"/>
          </a:p>
        </p:txBody>
      </p:sp>
      <p:sp>
        <p:nvSpPr>
          <p:cNvPr id="11" name="Rectangle: Rounded Corners 10">
            <a:extLst>
              <a:ext uri="{FF2B5EF4-FFF2-40B4-BE49-F238E27FC236}">
                <a16:creationId xmlns:a16="http://schemas.microsoft.com/office/drawing/2014/main" id="{74BF2C21-72F2-704E-4632-509CE04D1096}"/>
              </a:ext>
            </a:extLst>
          </p:cNvPr>
          <p:cNvSpPr/>
          <p:nvPr/>
        </p:nvSpPr>
        <p:spPr>
          <a:xfrm>
            <a:off x="1144258" y="335159"/>
            <a:ext cx="7065660" cy="1034485"/>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Giảm thiểu số lượng truy cập vào bộ nhớ chính, giúp giảm độ trễ và tăng tốc độ thực thi lệnh</a:t>
            </a:r>
          </a:p>
        </p:txBody>
      </p:sp>
      <p:sp>
        <p:nvSpPr>
          <p:cNvPr id="12" name="Rectangle: Rounded Corners 11">
            <a:extLst>
              <a:ext uri="{FF2B5EF4-FFF2-40B4-BE49-F238E27FC236}">
                <a16:creationId xmlns:a16="http://schemas.microsoft.com/office/drawing/2014/main" id="{5B7AC73A-45A0-8FC3-82B6-138AEB680A31}"/>
              </a:ext>
            </a:extLst>
          </p:cNvPr>
          <p:cNvSpPr/>
          <p:nvPr/>
        </p:nvSpPr>
        <p:spPr>
          <a:xfrm>
            <a:off x="3370997" y="1760899"/>
            <a:ext cx="8625385" cy="1132426"/>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Tăng khả năng dự đoán nhá</a:t>
            </a:r>
            <a:r>
              <a:rPr lang="en-US" sz="2000" b="1">
                <a:latin typeface="Arial" panose="020B0604020202020204" pitchFamily="34" charset="0"/>
                <a:cs typeface="Arial" panose="020B0604020202020204" pitchFamily="34" charset="0"/>
              </a:rPr>
              <a:t>nh</a:t>
            </a:r>
            <a:r>
              <a:rPr lang="vi-VN" sz="2000" b="1"/>
              <a:t> bằng cách lưu trữ các instruction đã được thực thi trước đó trong các đoạn mã có cấu trúc tương tự</a:t>
            </a:r>
          </a:p>
        </p:txBody>
      </p:sp>
      <p:sp>
        <p:nvSpPr>
          <p:cNvPr id="13" name="Rectangle: Rounded Corners 12">
            <a:extLst>
              <a:ext uri="{FF2B5EF4-FFF2-40B4-BE49-F238E27FC236}">
                <a16:creationId xmlns:a16="http://schemas.microsoft.com/office/drawing/2014/main" id="{152DB3F2-229E-D726-7157-1CDA7933D666}"/>
              </a:ext>
            </a:extLst>
          </p:cNvPr>
          <p:cNvSpPr/>
          <p:nvPr/>
        </p:nvSpPr>
        <p:spPr>
          <a:xfrm>
            <a:off x="217576" y="3740743"/>
            <a:ext cx="8284979" cy="1132426"/>
          </a:xfrm>
          <a:prstGeom prst="roundRect">
            <a:avLst/>
          </a:prstGeom>
          <a:solidFill>
            <a:schemeClr val="tx2">
              <a:lumMod val="60000"/>
              <a:lumOff val="40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N</a:t>
            </a:r>
            <a:r>
              <a:rPr lang="vi-VN" sz="2000" b="1">
                <a:latin typeface="Arial" panose="020B0604020202020204" pitchFamily="34" charset="0"/>
                <a:cs typeface="Arial" panose="020B0604020202020204" pitchFamily="34" charset="0"/>
              </a:rPr>
              <a:t>ó yêu cầu một lượng bộ nhớ đáng kể để lưu trữ các chuỗi lệnh</a:t>
            </a:r>
            <a:r>
              <a:rPr lang="en-US" sz="2000" b="1">
                <a:latin typeface="Arial" panose="020B0604020202020204" pitchFamily="34" charset="0"/>
                <a:cs typeface="Arial" panose="020B0604020202020204" pitchFamily="34" charset="0"/>
              </a:rPr>
              <a:t>     </a:t>
            </a:r>
            <a:r>
              <a:rPr lang="en-US" sz="2000" b="1">
                <a:latin typeface="Arial" panose="020B0604020202020204" pitchFamily="34" charset="0"/>
                <a:cs typeface="Arial" panose="020B0604020202020204" pitchFamily="34" charset="0"/>
                <a:sym typeface="Wingdings" panose="05000000000000000000" pitchFamily="2" charset="2"/>
              </a:rPr>
              <a:t> Ả</a:t>
            </a:r>
            <a:r>
              <a:rPr lang="vi-VN" sz="2000" b="1">
                <a:latin typeface="Arial" panose="020B0604020202020204" pitchFamily="34" charset="0"/>
                <a:cs typeface="Arial" panose="020B0604020202020204" pitchFamily="34" charset="0"/>
                <a:sym typeface="Wingdings" panose="05000000000000000000" pitchFamily="2" charset="2"/>
              </a:rPr>
              <a:t>nh hưởng đến kích thước của bộ nhớ cache</a:t>
            </a:r>
            <a:r>
              <a:rPr lang="en-US" sz="2000" b="1">
                <a:latin typeface="Arial" panose="020B0604020202020204" pitchFamily="34" charset="0"/>
                <a:cs typeface="Arial" panose="020B0604020202020204" pitchFamily="34" charset="0"/>
                <a:sym typeface="Wingdings" panose="05000000000000000000" pitchFamily="2" charset="2"/>
              </a:rPr>
              <a:t>, tăng chi phí sản xuất</a:t>
            </a:r>
            <a:endParaRPr lang="vi-VN" sz="2000" b="1">
              <a:latin typeface="Arial" panose="020B0604020202020204" pitchFamily="34" charset="0"/>
              <a:cs typeface="Arial" panose="020B0604020202020204" pitchFamily="34" charset="0"/>
            </a:endParaRPr>
          </a:p>
        </p:txBody>
      </p:sp>
      <p:sp>
        <p:nvSpPr>
          <p:cNvPr id="14" name="Rectangle: Rounded Corners 13">
            <a:extLst>
              <a:ext uri="{FF2B5EF4-FFF2-40B4-BE49-F238E27FC236}">
                <a16:creationId xmlns:a16="http://schemas.microsoft.com/office/drawing/2014/main" id="{076E8C2F-EE4F-1133-A149-83E8779AF395}"/>
              </a:ext>
            </a:extLst>
          </p:cNvPr>
          <p:cNvSpPr/>
          <p:nvPr/>
        </p:nvSpPr>
        <p:spPr>
          <a:xfrm>
            <a:off x="2125996" y="5301678"/>
            <a:ext cx="8625384" cy="1132426"/>
          </a:xfrm>
          <a:prstGeom prst="roundRect">
            <a:avLst/>
          </a:prstGeom>
          <a:solidFill>
            <a:schemeClr val="tx2">
              <a:lumMod val="60000"/>
              <a:lumOff val="40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latin typeface="Arial" panose="020B0604020202020204" pitchFamily="34" charset="0"/>
                <a:cs typeface="Arial" panose="020B0604020202020204" pitchFamily="34" charset="0"/>
              </a:rPr>
              <a:t>Trace Cache có thể không hiệu quả khi các chuỗi lệnh không liên tục hoặc khi các lệnh được thực thi theo một cách không đồng nhất</a:t>
            </a:r>
          </a:p>
        </p:txBody>
      </p:sp>
      <p:sp>
        <p:nvSpPr>
          <p:cNvPr id="15" name="Rectangle: Rounded Corners 14">
            <a:extLst>
              <a:ext uri="{FF2B5EF4-FFF2-40B4-BE49-F238E27FC236}">
                <a16:creationId xmlns:a16="http://schemas.microsoft.com/office/drawing/2014/main" id="{A389C976-5C34-308B-B6E0-CDAB46A3DFC1}"/>
              </a:ext>
            </a:extLst>
          </p:cNvPr>
          <p:cNvSpPr/>
          <p:nvPr/>
        </p:nvSpPr>
        <p:spPr>
          <a:xfrm>
            <a:off x="12758517" y="319758"/>
            <a:ext cx="4910036" cy="1126435"/>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Trace Cache được truy cập song song với </a:t>
            </a:r>
            <a:r>
              <a:rPr lang="en-US" sz="2000" b="1"/>
              <a:t>T</a:t>
            </a:r>
            <a:r>
              <a:rPr lang="vi-VN" sz="2000" b="1"/>
              <a:t>race </a:t>
            </a:r>
            <a:r>
              <a:rPr lang="en-US" sz="2000" b="1"/>
              <a:t>I</a:t>
            </a:r>
            <a:r>
              <a:rPr lang="vi-VN" sz="2000" b="1"/>
              <a:t>nstruction dựa trên địa chỉ tìm nạp</a:t>
            </a:r>
          </a:p>
        </p:txBody>
      </p:sp>
    </p:spTree>
    <p:extLst>
      <p:ext uri="{BB962C8B-B14F-4D97-AF65-F5344CB8AC3E}">
        <p14:creationId xmlns:p14="http://schemas.microsoft.com/office/powerpoint/2010/main" val="17518284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B6299E5-04CD-4E85-9AAA-46CA611002E5}"/>
              </a:ext>
            </a:extLst>
          </p:cNvPr>
          <p:cNvSpPr/>
          <p:nvPr/>
        </p:nvSpPr>
        <p:spPr>
          <a:xfrm>
            <a:off x="-3614593" y="95334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a:t>
            </a:r>
            <a:endParaRPr lang="vi-VN" sz="2400" b="1"/>
          </a:p>
        </p:txBody>
      </p:sp>
      <p:sp>
        <p:nvSpPr>
          <p:cNvPr id="2" name="Rectangle: Rounded Corners 1">
            <a:extLst>
              <a:ext uri="{FF2B5EF4-FFF2-40B4-BE49-F238E27FC236}">
                <a16:creationId xmlns:a16="http://schemas.microsoft.com/office/drawing/2014/main" id="{23CB5B98-8FD0-CB62-DA4B-860E7422D192}"/>
              </a:ext>
            </a:extLst>
          </p:cNvPr>
          <p:cNvSpPr/>
          <p:nvPr/>
        </p:nvSpPr>
        <p:spPr>
          <a:xfrm>
            <a:off x="13639858" y="95334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a:t>
            </a:r>
            <a:endParaRPr lang="vi-VN" sz="2400" b="1"/>
          </a:p>
        </p:txBody>
      </p:sp>
      <p:sp>
        <p:nvSpPr>
          <p:cNvPr id="3" name="Rectangle: Rounded Corners 2">
            <a:extLst>
              <a:ext uri="{FF2B5EF4-FFF2-40B4-BE49-F238E27FC236}">
                <a16:creationId xmlns:a16="http://schemas.microsoft.com/office/drawing/2014/main" id="{06FEB196-B502-5981-B2BD-4F3FE6F130CC}"/>
              </a:ext>
            </a:extLst>
          </p:cNvPr>
          <p:cNvSpPr/>
          <p:nvPr/>
        </p:nvSpPr>
        <p:spPr>
          <a:xfrm>
            <a:off x="-4561435" y="278214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DESIGN</a:t>
            </a:r>
            <a:endParaRPr lang="vi-VN" sz="2400" b="1"/>
          </a:p>
        </p:txBody>
      </p:sp>
      <p:sp>
        <p:nvSpPr>
          <p:cNvPr id="5" name="Rectangle: Rounded Corners 4">
            <a:extLst>
              <a:ext uri="{FF2B5EF4-FFF2-40B4-BE49-F238E27FC236}">
                <a16:creationId xmlns:a16="http://schemas.microsoft.com/office/drawing/2014/main" id="{43A52A58-C561-9917-062F-9D652BD6A2B4}"/>
              </a:ext>
            </a:extLst>
          </p:cNvPr>
          <p:cNvSpPr/>
          <p:nvPr/>
        </p:nvSpPr>
        <p:spPr>
          <a:xfrm>
            <a:off x="13482023" y="278214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MECHANISM</a:t>
            </a:r>
            <a:endParaRPr lang="vi-VN" sz="2400" b="1"/>
          </a:p>
        </p:txBody>
      </p:sp>
      <p:sp>
        <p:nvSpPr>
          <p:cNvPr id="6" name="Rectangle: Rounded Corners 5">
            <a:extLst>
              <a:ext uri="{FF2B5EF4-FFF2-40B4-BE49-F238E27FC236}">
                <a16:creationId xmlns:a16="http://schemas.microsoft.com/office/drawing/2014/main" id="{807127C9-296D-C2C1-57A2-3502C6487EDB}"/>
              </a:ext>
            </a:extLst>
          </p:cNvPr>
          <p:cNvSpPr/>
          <p:nvPr/>
        </p:nvSpPr>
        <p:spPr>
          <a:xfrm>
            <a:off x="1787900" y="19049"/>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HIT &amp; MISS LOGIC</a:t>
            </a:r>
            <a:endParaRPr lang="vi-VN" sz="2400" b="1"/>
          </a:p>
        </p:txBody>
      </p:sp>
      <p:sp>
        <p:nvSpPr>
          <p:cNvPr id="7" name="Rectangle: Rounded Corners 6">
            <a:extLst>
              <a:ext uri="{FF2B5EF4-FFF2-40B4-BE49-F238E27FC236}">
                <a16:creationId xmlns:a16="http://schemas.microsoft.com/office/drawing/2014/main" id="{3ED2E76E-DF2F-2792-4D62-E4B0736E118C}"/>
              </a:ext>
            </a:extLst>
          </p:cNvPr>
          <p:cNvSpPr/>
          <p:nvPr/>
        </p:nvSpPr>
        <p:spPr>
          <a:xfrm>
            <a:off x="7689420" y="8221376"/>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ADVANTAGES &amp; DRAWBACKS</a:t>
            </a:r>
            <a:endParaRPr lang="vi-VN" sz="2400" b="1"/>
          </a:p>
        </p:txBody>
      </p:sp>
      <p:sp>
        <p:nvSpPr>
          <p:cNvPr id="8" name="Rectangle: Rounded Corners 7">
            <a:extLst>
              <a:ext uri="{FF2B5EF4-FFF2-40B4-BE49-F238E27FC236}">
                <a16:creationId xmlns:a16="http://schemas.microsoft.com/office/drawing/2014/main" id="{61B3CF26-160D-7924-8527-22B60B82FEE5}"/>
              </a:ext>
            </a:extLst>
          </p:cNvPr>
          <p:cNvSpPr/>
          <p:nvPr/>
        </p:nvSpPr>
        <p:spPr>
          <a:xfrm>
            <a:off x="2599405" y="2027175"/>
            <a:ext cx="7566991" cy="254441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	</a:t>
            </a:r>
            <a:r>
              <a:rPr lang="en-US" sz="2000" b="1">
                <a:highlight>
                  <a:srgbClr val="808000"/>
                </a:highlight>
                <a:latin typeface="Arial" panose="020B0604020202020204" pitchFamily="34" charset="0"/>
                <a:cs typeface="Arial" panose="020B0604020202020204" pitchFamily="34" charset="0"/>
              </a:rPr>
              <a:t>Hit</a:t>
            </a:r>
            <a:r>
              <a:rPr lang="en-US" sz="2000" b="1">
                <a:latin typeface="Arial" panose="020B0604020202020204" pitchFamily="34" charset="0"/>
                <a:cs typeface="Arial" panose="020B0604020202020204" pitchFamily="34" charset="0"/>
              </a:rPr>
              <a:t>: </a:t>
            </a:r>
            <a:r>
              <a:rPr lang="vi-VN" sz="2000" b="1">
                <a:latin typeface="Arial" panose="020B0604020202020204" pitchFamily="34" charset="0"/>
                <a:cs typeface="Arial" panose="020B0604020202020204" pitchFamily="34" charset="0"/>
              </a:rPr>
              <a:t>trạng thái </a:t>
            </a:r>
            <a:r>
              <a:rPr lang="vi-VN" sz="2000" b="1">
                <a:highlight>
                  <a:srgbClr val="808000"/>
                </a:highlight>
                <a:latin typeface="Arial" panose="020B0604020202020204" pitchFamily="34" charset="0"/>
                <a:cs typeface="Arial" panose="020B0604020202020204" pitchFamily="34" charset="0"/>
              </a:rPr>
              <a:t>dữ liệu</a:t>
            </a:r>
            <a:r>
              <a:rPr lang="vi-VN" sz="2000" b="1">
                <a:latin typeface="Arial" panose="020B0604020202020204" pitchFamily="34" charset="0"/>
                <a:cs typeface="Arial" panose="020B0604020202020204" pitchFamily="34" charset="0"/>
              </a:rPr>
              <a:t> được yêu cầu, được xử lý bởi một thành phần hoặc một ứng dụng </a:t>
            </a:r>
            <a:r>
              <a:rPr lang="vi-VN" sz="2000" b="1">
                <a:highlight>
                  <a:srgbClr val="808000"/>
                </a:highlight>
                <a:latin typeface="Arial" panose="020B0604020202020204" pitchFamily="34" charset="0"/>
                <a:cs typeface="Arial" panose="020B0604020202020204" pitchFamily="34" charset="0"/>
              </a:rPr>
              <a:t>được tìm thấy </a:t>
            </a:r>
            <a:r>
              <a:rPr lang="vi-VN" sz="2000" b="1">
                <a:latin typeface="Arial" panose="020B0604020202020204" pitchFamily="34" charset="0"/>
                <a:cs typeface="Arial" panose="020B0604020202020204" pitchFamily="34" charset="0"/>
              </a:rPr>
              <a:t>trong bộ nhớ cache</a:t>
            </a:r>
            <a:endParaRPr lang="en-US" sz="2000" b="1">
              <a:latin typeface="Arial" panose="020B0604020202020204" pitchFamily="34" charset="0"/>
              <a:cs typeface="Arial" panose="020B0604020202020204" pitchFamily="34" charset="0"/>
            </a:endParaRPr>
          </a:p>
          <a:p>
            <a:pPr algn="ctr"/>
            <a:r>
              <a:rPr lang="en-US" sz="2000" b="1">
                <a:highlight>
                  <a:srgbClr val="808000"/>
                </a:highlight>
                <a:latin typeface="Arial" panose="020B0604020202020204" pitchFamily="34" charset="0"/>
                <a:cs typeface="Arial" panose="020B0604020202020204" pitchFamily="34" charset="0"/>
              </a:rPr>
              <a:t>Miss</a:t>
            </a:r>
            <a:r>
              <a:rPr lang="en-US" sz="2000" b="1">
                <a:latin typeface="Arial" panose="020B0604020202020204" pitchFamily="34" charset="0"/>
                <a:cs typeface="Arial" panose="020B0604020202020204" pitchFamily="34" charset="0"/>
              </a:rPr>
              <a:t>: </a:t>
            </a:r>
            <a:r>
              <a:rPr lang="vi-VN" sz="2000" b="1">
                <a:latin typeface="Arial" panose="020B0604020202020204" pitchFamily="34" charset="0"/>
                <a:cs typeface="Arial" panose="020B0604020202020204" pitchFamily="34" charset="0"/>
              </a:rPr>
              <a:t>trạng thái nơi </a:t>
            </a:r>
            <a:r>
              <a:rPr lang="vi-VN" sz="2000" b="1">
                <a:highlight>
                  <a:srgbClr val="808000"/>
                </a:highlight>
                <a:latin typeface="Arial" panose="020B0604020202020204" pitchFamily="34" charset="0"/>
                <a:cs typeface="Arial" panose="020B0604020202020204" pitchFamily="34" charset="0"/>
              </a:rPr>
              <a:t>dữ liệu</a:t>
            </a:r>
            <a:r>
              <a:rPr lang="vi-VN" sz="2000" b="1">
                <a:latin typeface="Arial" panose="020B0604020202020204" pitchFamily="34" charset="0"/>
                <a:cs typeface="Arial" panose="020B0604020202020204" pitchFamily="34" charset="0"/>
              </a:rPr>
              <a:t> được yêu cầu xử lý bởi một thành phần hoặc ứng dụng </a:t>
            </a:r>
            <a:r>
              <a:rPr lang="vi-VN" sz="2000" b="1">
                <a:highlight>
                  <a:srgbClr val="808000"/>
                </a:highlight>
                <a:latin typeface="Arial" panose="020B0604020202020204" pitchFamily="34" charset="0"/>
                <a:cs typeface="Arial" panose="020B0604020202020204" pitchFamily="34" charset="0"/>
              </a:rPr>
              <a:t>không được tìm thấy</a:t>
            </a:r>
            <a:r>
              <a:rPr lang="vi-VN" sz="2000" b="1">
                <a:latin typeface="Arial" panose="020B0604020202020204" pitchFamily="34" charset="0"/>
                <a:cs typeface="Arial" panose="020B0604020202020204" pitchFamily="34" charset="0"/>
              </a:rPr>
              <a:t> trong bộ nhớ cache</a:t>
            </a:r>
          </a:p>
        </p:txBody>
      </p:sp>
      <p:sp>
        <p:nvSpPr>
          <p:cNvPr id="9" name="Rectangle: Rounded Corners 8">
            <a:extLst>
              <a:ext uri="{FF2B5EF4-FFF2-40B4-BE49-F238E27FC236}">
                <a16:creationId xmlns:a16="http://schemas.microsoft.com/office/drawing/2014/main" id="{CA41E18E-EC9F-0CCE-4273-ED75A169E842}"/>
              </a:ext>
            </a:extLst>
          </p:cNvPr>
          <p:cNvSpPr/>
          <p:nvPr/>
        </p:nvSpPr>
        <p:spPr>
          <a:xfrm>
            <a:off x="1755948" y="10546468"/>
            <a:ext cx="8953899" cy="1361119"/>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highlight>
                  <a:srgbClr val="808000"/>
                </a:highlight>
                <a:latin typeface="Arial" panose="020B0604020202020204" pitchFamily="34" charset="0"/>
                <a:cs typeface="Arial" panose="020B0604020202020204" pitchFamily="34" charset="0"/>
              </a:rPr>
              <a:t>H</a:t>
            </a:r>
            <a:r>
              <a:rPr lang="vi-VN" sz="2000" b="1">
                <a:highlight>
                  <a:srgbClr val="808000"/>
                </a:highlight>
                <a:latin typeface="Arial" panose="020B0604020202020204" pitchFamily="34" charset="0"/>
                <a:cs typeface="Arial" panose="020B0604020202020204" pitchFamily="34" charset="0"/>
              </a:rPr>
              <a:t>it</a:t>
            </a:r>
            <a:r>
              <a:rPr lang="en-US" sz="2000" b="1">
                <a:highlight>
                  <a:srgbClr val="808000"/>
                </a:highlight>
                <a:latin typeface="Arial" panose="020B0604020202020204" pitchFamily="34" charset="0"/>
                <a:cs typeface="Arial" panose="020B0604020202020204" pitchFamily="34" charset="0"/>
              </a:rPr>
              <a:t> </a:t>
            </a:r>
            <a:r>
              <a:rPr lang="en-US" sz="2000" b="1">
                <a:latin typeface="Arial" panose="020B0604020202020204" pitchFamily="34" charset="0"/>
                <a:cs typeface="Arial" panose="020B0604020202020204" pitchFamily="34" charset="0"/>
                <a:sym typeface="Wingdings" panose="05000000000000000000" pitchFamily="2" charset="2"/>
              </a:rPr>
              <a:t></a:t>
            </a:r>
            <a:r>
              <a:rPr lang="vi-VN" sz="2000" b="1">
                <a:latin typeface="Arial" panose="020B0604020202020204" pitchFamily="34" charset="0"/>
                <a:cs typeface="Arial" panose="020B0604020202020204" pitchFamily="34" charset="0"/>
              </a:rPr>
              <a:t> một </a:t>
            </a:r>
            <a:r>
              <a:rPr lang="vi-VN" sz="2000" b="1">
                <a:highlight>
                  <a:srgbClr val="808000"/>
                </a:highlight>
                <a:latin typeface="Arial" panose="020B0604020202020204" pitchFamily="34" charset="0"/>
                <a:cs typeface="Arial" panose="020B0604020202020204" pitchFamily="34" charset="0"/>
              </a:rPr>
              <a:t>trace line </a:t>
            </a:r>
            <a:r>
              <a:rPr lang="vi-VN" sz="2000" b="1">
                <a:latin typeface="Arial" panose="020B0604020202020204" pitchFamily="34" charset="0"/>
                <a:cs typeface="Arial" panose="020B0604020202020204" pitchFamily="34" charset="0"/>
              </a:rPr>
              <a:t>sẽ được </a:t>
            </a:r>
            <a:r>
              <a:rPr lang="vi-VN" sz="2000" b="1">
                <a:highlight>
                  <a:srgbClr val="808000"/>
                </a:highlight>
                <a:latin typeface="Arial" panose="020B0604020202020204" pitchFamily="34" charset="0"/>
                <a:cs typeface="Arial" panose="020B0604020202020204" pitchFamily="34" charset="0"/>
              </a:rPr>
              <a:t>cung cấp </a:t>
            </a:r>
            <a:r>
              <a:rPr lang="vi-VN" sz="2000" b="1">
                <a:latin typeface="Arial" panose="020B0604020202020204" pitchFamily="34" charset="0"/>
                <a:cs typeface="Arial" panose="020B0604020202020204" pitchFamily="34" charset="0"/>
              </a:rPr>
              <a:t>cho </a:t>
            </a:r>
            <a:r>
              <a:rPr lang="vi-VN" sz="2000" b="1">
                <a:highlight>
                  <a:srgbClr val="808000"/>
                </a:highlight>
                <a:latin typeface="Arial" panose="020B0604020202020204" pitchFamily="34" charset="0"/>
                <a:cs typeface="Arial" panose="020B0604020202020204" pitchFamily="34" charset="0"/>
              </a:rPr>
              <a:t>đơn vị tìm nạp</a:t>
            </a:r>
            <a:r>
              <a:rPr lang="en-US" sz="2000" b="1">
                <a:latin typeface="Arial" panose="020B0604020202020204" pitchFamily="34" charset="0"/>
                <a:cs typeface="Arial" panose="020B0604020202020204" pitchFamily="34" charset="0"/>
              </a:rPr>
              <a:t>.</a:t>
            </a:r>
            <a:r>
              <a:rPr lang="vi-VN" sz="2000" b="1">
                <a:highlight>
                  <a:srgbClr val="808000"/>
                </a:highlight>
                <a:latin typeface="Arial" panose="020B0604020202020204" pitchFamily="34" charset="0"/>
                <a:cs typeface="Arial" panose="020B0604020202020204" pitchFamily="34" charset="0"/>
              </a:rPr>
              <a:t>Trace Cache </a:t>
            </a:r>
            <a:r>
              <a:rPr lang="vi-VN" sz="2000" b="1">
                <a:latin typeface="Arial" panose="020B0604020202020204" pitchFamily="34" charset="0"/>
                <a:cs typeface="Arial" panose="020B0604020202020204" pitchFamily="34" charset="0"/>
              </a:rPr>
              <a:t>tiếp tục </a:t>
            </a:r>
            <a:r>
              <a:rPr lang="vi-VN" sz="2000" b="1">
                <a:highlight>
                  <a:srgbClr val="808000"/>
                </a:highlight>
                <a:latin typeface="Arial" panose="020B0604020202020204" pitchFamily="34" charset="0"/>
                <a:cs typeface="Arial" panose="020B0604020202020204" pitchFamily="34" charset="0"/>
              </a:rPr>
              <a:t>cung cấp nguồn </a:t>
            </a:r>
            <a:r>
              <a:rPr lang="vi-VN" sz="2000" b="1">
                <a:latin typeface="Arial" panose="020B0604020202020204" pitchFamily="34" charset="0"/>
                <a:cs typeface="Arial" panose="020B0604020202020204" pitchFamily="34" charset="0"/>
              </a:rPr>
              <a:t>cho </a:t>
            </a:r>
            <a:r>
              <a:rPr lang="vi-VN" sz="2000" b="1">
                <a:highlight>
                  <a:srgbClr val="808000"/>
                </a:highlight>
                <a:latin typeface="Arial" panose="020B0604020202020204" pitchFamily="34" charset="0"/>
                <a:cs typeface="Arial" panose="020B0604020202020204" pitchFamily="34" charset="0"/>
              </a:rPr>
              <a:t>đơn vị tìm nạp </a:t>
            </a:r>
            <a:r>
              <a:rPr lang="vi-VN" sz="2000" b="1">
                <a:latin typeface="Arial" panose="020B0604020202020204" pitchFamily="34" charset="0"/>
                <a:cs typeface="Arial" panose="020B0604020202020204" pitchFamily="34" charset="0"/>
              </a:rPr>
              <a:t>cho đến khi </a:t>
            </a:r>
            <a:r>
              <a:rPr lang="vi-VN" sz="2000" b="1">
                <a:highlight>
                  <a:srgbClr val="808000"/>
                </a:highlight>
                <a:latin typeface="Arial" panose="020B0604020202020204" pitchFamily="34" charset="0"/>
                <a:cs typeface="Arial" panose="020B0604020202020204" pitchFamily="34" charset="0"/>
              </a:rPr>
              <a:t>trace line kết thúc</a:t>
            </a:r>
            <a:r>
              <a:rPr lang="vi-VN" sz="2000" b="1">
                <a:latin typeface="Arial" panose="020B0604020202020204" pitchFamily="34" charset="0"/>
                <a:cs typeface="Arial" panose="020B0604020202020204" pitchFamily="34" charset="0"/>
              </a:rPr>
              <a:t> hoặc cho đến khi có </a:t>
            </a:r>
            <a:r>
              <a:rPr lang="vi-VN" sz="2000" b="1">
                <a:highlight>
                  <a:srgbClr val="808000"/>
                </a:highlight>
                <a:latin typeface="Arial" panose="020B0604020202020204" pitchFamily="34" charset="0"/>
                <a:cs typeface="Arial" panose="020B0604020202020204" pitchFamily="34" charset="0"/>
              </a:rPr>
              <a:t>dự đoán sai </a:t>
            </a:r>
            <a:r>
              <a:rPr lang="vi-VN" sz="2000" b="1">
                <a:latin typeface="Arial" panose="020B0604020202020204" pitchFamily="34" charset="0"/>
                <a:cs typeface="Arial" panose="020B0604020202020204" pitchFamily="34" charset="0"/>
              </a:rPr>
              <a:t>trong đường dẫn. </a:t>
            </a:r>
          </a:p>
        </p:txBody>
      </p:sp>
      <p:sp>
        <p:nvSpPr>
          <p:cNvPr id="10" name="Rectangle: Rounded Corners 9">
            <a:extLst>
              <a:ext uri="{FF2B5EF4-FFF2-40B4-BE49-F238E27FC236}">
                <a16:creationId xmlns:a16="http://schemas.microsoft.com/office/drawing/2014/main" id="{1D1106C3-96D9-42D0-06AB-0E08D5BCF370}"/>
              </a:ext>
            </a:extLst>
          </p:cNvPr>
          <p:cNvSpPr/>
          <p:nvPr/>
        </p:nvSpPr>
        <p:spPr>
          <a:xfrm>
            <a:off x="1755949" y="8432020"/>
            <a:ext cx="8953899" cy="1361119"/>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Các </a:t>
            </a:r>
            <a:r>
              <a:rPr lang="vi-VN" sz="2000" b="1">
                <a:highlight>
                  <a:srgbClr val="808000"/>
                </a:highlight>
              </a:rPr>
              <a:t>trace line </a:t>
            </a:r>
            <a:r>
              <a:rPr lang="vi-VN" sz="2000" b="1"/>
              <a:t>được </a:t>
            </a:r>
            <a:r>
              <a:rPr lang="vi-VN" sz="2000" b="1">
                <a:highlight>
                  <a:srgbClr val="808000"/>
                </a:highlight>
              </a:rPr>
              <a:t>lưu trữ </a:t>
            </a:r>
            <a:r>
              <a:rPr lang="vi-VN" sz="2000" b="1"/>
              <a:t>trong </a:t>
            </a:r>
            <a:r>
              <a:rPr lang="vi-VN" sz="2000" b="1">
                <a:highlight>
                  <a:srgbClr val="808000"/>
                </a:highlight>
              </a:rPr>
              <a:t>Trace Cache </a:t>
            </a:r>
            <a:r>
              <a:rPr lang="vi-VN" sz="2000" b="1"/>
              <a:t>dựa trên </a:t>
            </a:r>
            <a:r>
              <a:rPr lang="vi-VN" sz="2000" b="1">
                <a:highlight>
                  <a:srgbClr val="808000"/>
                </a:highlight>
              </a:rPr>
              <a:t>PC</a:t>
            </a:r>
            <a:r>
              <a:rPr lang="vi-VN" sz="2000" b="1"/>
              <a:t> của </a:t>
            </a:r>
            <a:r>
              <a:rPr lang="vi-VN" sz="2000" b="1">
                <a:highlight>
                  <a:srgbClr val="808000"/>
                </a:highlight>
              </a:rPr>
              <a:t>lệnh đầu tiên</a:t>
            </a:r>
            <a:r>
              <a:rPr lang="vi-VN" sz="2000" b="1"/>
              <a:t> trong </a:t>
            </a:r>
            <a:r>
              <a:rPr lang="en-US" sz="2000" b="1">
                <a:latin typeface="Arial" panose="020B0604020202020204" pitchFamily="34" charset="0"/>
                <a:cs typeface="Arial" panose="020B0604020202020204" pitchFamily="34" charset="0"/>
              </a:rPr>
              <a:t>Trace</a:t>
            </a:r>
            <a:r>
              <a:rPr lang="vi-VN" sz="2000" b="1"/>
              <a:t> và một </a:t>
            </a:r>
            <a:r>
              <a:rPr lang="vi-VN" sz="2000" b="1">
                <a:highlight>
                  <a:srgbClr val="808000"/>
                </a:highlight>
              </a:rPr>
              <a:t>tập hợp các dự đoán rẽ nhánh</a:t>
            </a:r>
            <a:r>
              <a:rPr lang="en-US" sz="2000" b="1">
                <a:highlight>
                  <a:srgbClr val="808000"/>
                </a:highlight>
              </a:rPr>
              <a:t> </a:t>
            </a:r>
          </a:p>
          <a:p>
            <a:pPr algn="ctr"/>
            <a:r>
              <a:rPr lang="en-US" sz="2000" b="1">
                <a:sym typeface="Wingdings" panose="05000000000000000000" pitchFamily="2" charset="2"/>
              </a:rPr>
              <a:t> </a:t>
            </a:r>
            <a:r>
              <a:rPr lang="vi-VN" sz="2000" b="1"/>
              <a:t>Điều này cho phép </a:t>
            </a:r>
            <a:r>
              <a:rPr lang="vi-VN" sz="2000" b="1">
                <a:highlight>
                  <a:srgbClr val="808000"/>
                </a:highlight>
              </a:rPr>
              <a:t>lưu trữ </a:t>
            </a:r>
            <a:r>
              <a:rPr lang="vi-VN" sz="2000" b="1"/>
              <a:t>các </a:t>
            </a:r>
            <a:r>
              <a:rPr lang="vi-VN" sz="2000" b="1">
                <a:highlight>
                  <a:srgbClr val="808000"/>
                </a:highlight>
              </a:rPr>
              <a:t>trace line </a:t>
            </a:r>
            <a:r>
              <a:rPr lang="vi-VN" sz="2000" b="1"/>
              <a:t>khác nhau bắt đầu trên </a:t>
            </a:r>
            <a:r>
              <a:rPr lang="vi-VN" sz="2000" b="1">
                <a:highlight>
                  <a:srgbClr val="808000"/>
                </a:highlight>
              </a:rPr>
              <a:t>cùng một địa chỉ</a:t>
            </a:r>
            <a:r>
              <a:rPr lang="vi-VN" sz="2000" b="1"/>
              <a:t>, mỗi </a:t>
            </a:r>
            <a:r>
              <a:rPr lang="vi-VN" sz="2000" b="1">
                <a:highlight>
                  <a:srgbClr val="808000"/>
                </a:highlight>
              </a:rPr>
              <a:t>line</a:t>
            </a:r>
            <a:r>
              <a:rPr lang="vi-VN" sz="2000" b="1"/>
              <a:t> </a:t>
            </a:r>
            <a:r>
              <a:rPr lang="vi-VN" sz="2000" b="1">
                <a:highlight>
                  <a:srgbClr val="808000"/>
                </a:highlight>
              </a:rPr>
              <a:t>đại diện </a:t>
            </a:r>
            <a:r>
              <a:rPr lang="vi-VN" sz="2000" b="1"/>
              <a:t>cho các </a:t>
            </a:r>
            <a:r>
              <a:rPr lang="vi-VN" sz="2000" b="1">
                <a:highlight>
                  <a:srgbClr val="808000"/>
                </a:highlight>
              </a:rPr>
              <a:t>kết quả nhánh khác nhau</a:t>
            </a:r>
            <a:r>
              <a:rPr lang="vi-VN" sz="2000" b="1"/>
              <a:t>. </a:t>
            </a:r>
          </a:p>
        </p:txBody>
      </p:sp>
      <p:sp>
        <p:nvSpPr>
          <p:cNvPr id="11" name="Rectangle: Rounded Corners 10">
            <a:extLst>
              <a:ext uri="{FF2B5EF4-FFF2-40B4-BE49-F238E27FC236}">
                <a16:creationId xmlns:a16="http://schemas.microsoft.com/office/drawing/2014/main" id="{2C44F39E-CE7F-14B8-62A9-0BD016D1C7BC}"/>
              </a:ext>
            </a:extLst>
          </p:cNvPr>
          <p:cNvSpPr/>
          <p:nvPr/>
        </p:nvSpPr>
        <p:spPr>
          <a:xfrm>
            <a:off x="1696316" y="12660917"/>
            <a:ext cx="8953899" cy="824236"/>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highlight>
                  <a:srgbClr val="808000"/>
                </a:highlight>
              </a:rPr>
              <a:t>Miss</a:t>
            </a:r>
            <a:r>
              <a:rPr lang="en-US" sz="2000" b="1"/>
              <a:t> </a:t>
            </a:r>
            <a:r>
              <a:rPr lang="en-US" sz="2000" b="1">
                <a:sym typeface="Wingdings" panose="05000000000000000000" pitchFamily="2" charset="2"/>
              </a:rPr>
              <a:t> </a:t>
            </a:r>
            <a:r>
              <a:rPr lang="vi-VN" sz="2000" b="1"/>
              <a:t>một </a:t>
            </a:r>
            <a:r>
              <a:rPr lang="vi-VN" sz="2000" b="1">
                <a:highlight>
                  <a:srgbClr val="808000"/>
                </a:highlight>
              </a:rPr>
              <a:t>dấu vết mới </a:t>
            </a:r>
            <a:r>
              <a:rPr lang="vi-VN" sz="2000" b="1"/>
              <a:t>sẽ </a:t>
            </a:r>
            <a:r>
              <a:rPr lang="vi-VN" sz="2000" b="1">
                <a:highlight>
                  <a:srgbClr val="808000"/>
                </a:highlight>
              </a:rPr>
              <a:t>bắt đầu </a:t>
            </a:r>
            <a:r>
              <a:rPr lang="vi-VN" sz="2000" b="1"/>
              <a:t>được </a:t>
            </a:r>
            <a:r>
              <a:rPr lang="vi-VN" sz="2000" b="1">
                <a:highlight>
                  <a:srgbClr val="808000"/>
                </a:highlight>
              </a:rPr>
              <a:t>xây dựng</a:t>
            </a:r>
            <a:r>
              <a:rPr lang="vi-VN" sz="2000" b="1"/>
              <a:t>.</a:t>
            </a:r>
          </a:p>
        </p:txBody>
      </p:sp>
    </p:spTree>
    <p:extLst>
      <p:ext uri="{BB962C8B-B14F-4D97-AF65-F5344CB8AC3E}">
        <p14:creationId xmlns:p14="http://schemas.microsoft.com/office/powerpoint/2010/main" val="37833568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807127C9-296D-C2C1-57A2-3502C6487EDB}"/>
              </a:ext>
            </a:extLst>
          </p:cNvPr>
          <p:cNvSpPr/>
          <p:nvPr/>
        </p:nvSpPr>
        <p:spPr>
          <a:xfrm>
            <a:off x="1787900" y="-1837049"/>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HIT &amp; MISS LOGIC</a:t>
            </a:r>
            <a:endParaRPr lang="vi-VN" sz="2400" b="1"/>
          </a:p>
        </p:txBody>
      </p:sp>
      <p:sp>
        <p:nvSpPr>
          <p:cNvPr id="8" name="Rectangle: Rounded Corners 7">
            <a:extLst>
              <a:ext uri="{FF2B5EF4-FFF2-40B4-BE49-F238E27FC236}">
                <a16:creationId xmlns:a16="http://schemas.microsoft.com/office/drawing/2014/main" id="{61B3CF26-160D-7924-8527-22B60B82FEE5}"/>
              </a:ext>
            </a:extLst>
          </p:cNvPr>
          <p:cNvSpPr/>
          <p:nvPr/>
        </p:nvSpPr>
        <p:spPr>
          <a:xfrm>
            <a:off x="2531166" y="-3245805"/>
            <a:ext cx="7566991" cy="2544417"/>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rPr>
              <a:t>	</a:t>
            </a:r>
            <a:r>
              <a:rPr lang="en-US" sz="2000" b="1">
                <a:highlight>
                  <a:srgbClr val="808000"/>
                </a:highlight>
                <a:latin typeface="Arial" panose="020B0604020202020204" pitchFamily="34" charset="0"/>
                <a:cs typeface="Arial" panose="020B0604020202020204" pitchFamily="34" charset="0"/>
              </a:rPr>
              <a:t>Hit</a:t>
            </a:r>
            <a:r>
              <a:rPr lang="en-US" sz="2000" b="1">
                <a:latin typeface="Arial" panose="020B0604020202020204" pitchFamily="34" charset="0"/>
                <a:cs typeface="Arial" panose="020B0604020202020204" pitchFamily="34" charset="0"/>
              </a:rPr>
              <a:t>: </a:t>
            </a:r>
            <a:r>
              <a:rPr lang="vi-VN" sz="2000" b="1">
                <a:latin typeface="Arial" panose="020B0604020202020204" pitchFamily="34" charset="0"/>
                <a:cs typeface="Arial" panose="020B0604020202020204" pitchFamily="34" charset="0"/>
              </a:rPr>
              <a:t>trạng thái </a:t>
            </a:r>
            <a:r>
              <a:rPr lang="vi-VN" sz="2000" b="1">
                <a:highlight>
                  <a:srgbClr val="808000"/>
                </a:highlight>
                <a:latin typeface="Arial" panose="020B0604020202020204" pitchFamily="34" charset="0"/>
                <a:cs typeface="Arial" panose="020B0604020202020204" pitchFamily="34" charset="0"/>
              </a:rPr>
              <a:t>dữ liệu</a:t>
            </a:r>
            <a:r>
              <a:rPr lang="vi-VN" sz="2000" b="1">
                <a:latin typeface="Arial" panose="020B0604020202020204" pitchFamily="34" charset="0"/>
                <a:cs typeface="Arial" panose="020B0604020202020204" pitchFamily="34" charset="0"/>
              </a:rPr>
              <a:t> được yêu cầu, được xử lý bởi một thành phần hoặc một ứng dụng </a:t>
            </a:r>
            <a:r>
              <a:rPr lang="vi-VN" sz="2000" b="1">
                <a:highlight>
                  <a:srgbClr val="808000"/>
                </a:highlight>
                <a:latin typeface="Arial" panose="020B0604020202020204" pitchFamily="34" charset="0"/>
                <a:cs typeface="Arial" panose="020B0604020202020204" pitchFamily="34" charset="0"/>
              </a:rPr>
              <a:t>được tìm thấy </a:t>
            </a:r>
            <a:r>
              <a:rPr lang="vi-VN" sz="2000" b="1">
                <a:latin typeface="Arial" panose="020B0604020202020204" pitchFamily="34" charset="0"/>
                <a:cs typeface="Arial" panose="020B0604020202020204" pitchFamily="34" charset="0"/>
              </a:rPr>
              <a:t>trong bộ nhớ cache</a:t>
            </a:r>
            <a:endParaRPr lang="en-US" sz="2000" b="1">
              <a:latin typeface="Arial" panose="020B0604020202020204" pitchFamily="34" charset="0"/>
              <a:cs typeface="Arial" panose="020B0604020202020204" pitchFamily="34" charset="0"/>
            </a:endParaRPr>
          </a:p>
          <a:p>
            <a:pPr algn="ctr"/>
            <a:r>
              <a:rPr lang="en-US" sz="2000" b="1">
                <a:highlight>
                  <a:srgbClr val="808000"/>
                </a:highlight>
                <a:latin typeface="Arial" panose="020B0604020202020204" pitchFamily="34" charset="0"/>
                <a:cs typeface="Arial" panose="020B0604020202020204" pitchFamily="34" charset="0"/>
              </a:rPr>
              <a:t>Miss</a:t>
            </a:r>
            <a:r>
              <a:rPr lang="en-US" sz="2000" b="1">
                <a:latin typeface="Arial" panose="020B0604020202020204" pitchFamily="34" charset="0"/>
                <a:cs typeface="Arial" panose="020B0604020202020204" pitchFamily="34" charset="0"/>
              </a:rPr>
              <a:t>: </a:t>
            </a:r>
            <a:r>
              <a:rPr lang="vi-VN" sz="2000" b="1">
                <a:latin typeface="Arial" panose="020B0604020202020204" pitchFamily="34" charset="0"/>
                <a:cs typeface="Arial" panose="020B0604020202020204" pitchFamily="34" charset="0"/>
              </a:rPr>
              <a:t>trạng thái nơi </a:t>
            </a:r>
            <a:r>
              <a:rPr lang="vi-VN" sz="2000" b="1">
                <a:highlight>
                  <a:srgbClr val="808000"/>
                </a:highlight>
                <a:latin typeface="Arial" panose="020B0604020202020204" pitchFamily="34" charset="0"/>
                <a:cs typeface="Arial" panose="020B0604020202020204" pitchFamily="34" charset="0"/>
              </a:rPr>
              <a:t>dữ liệu</a:t>
            </a:r>
            <a:r>
              <a:rPr lang="vi-VN" sz="2000" b="1">
                <a:latin typeface="Arial" panose="020B0604020202020204" pitchFamily="34" charset="0"/>
                <a:cs typeface="Arial" panose="020B0604020202020204" pitchFamily="34" charset="0"/>
              </a:rPr>
              <a:t> được yêu cầu xử lý bởi một thành phần hoặc ứng dụng </a:t>
            </a:r>
            <a:r>
              <a:rPr lang="vi-VN" sz="2000" b="1">
                <a:highlight>
                  <a:srgbClr val="808000"/>
                </a:highlight>
                <a:latin typeface="Arial" panose="020B0604020202020204" pitchFamily="34" charset="0"/>
                <a:cs typeface="Arial" panose="020B0604020202020204" pitchFamily="34" charset="0"/>
              </a:rPr>
              <a:t>không được tìm thấy</a:t>
            </a:r>
            <a:r>
              <a:rPr lang="vi-VN" sz="2000" b="1">
                <a:latin typeface="Arial" panose="020B0604020202020204" pitchFamily="34" charset="0"/>
                <a:cs typeface="Arial" panose="020B0604020202020204" pitchFamily="34" charset="0"/>
              </a:rPr>
              <a:t> trong bộ nhớ cache</a:t>
            </a:r>
          </a:p>
        </p:txBody>
      </p:sp>
      <p:sp>
        <p:nvSpPr>
          <p:cNvPr id="9" name="Rectangle: Rounded Corners 8">
            <a:extLst>
              <a:ext uri="{FF2B5EF4-FFF2-40B4-BE49-F238E27FC236}">
                <a16:creationId xmlns:a16="http://schemas.microsoft.com/office/drawing/2014/main" id="{E034C201-9464-F7FF-C219-63C6A2688A05}"/>
              </a:ext>
            </a:extLst>
          </p:cNvPr>
          <p:cNvSpPr/>
          <p:nvPr/>
        </p:nvSpPr>
        <p:spPr>
          <a:xfrm>
            <a:off x="1755948" y="2821816"/>
            <a:ext cx="8953899" cy="1361119"/>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highlight>
                  <a:srgbClr val="808000"/>
                </a:highlight>
                <a:latin typeface="Arial" panose="020B0604020202020204" pitchFamily="34" charset="0"/>
                <a:cs typeface="Arial" panose="020B0604020202020204" pitchFamily="34" charset="0"/>
              </a:rPr>
              <a:t>H</a:t>
            </a:r>
            <a:r>
              <a:rPr lang="vi-VN" sz="2000" b="1">
                <a:highlight>
                  <a:srgbClr val="808000"/>
                </a:highlight>
                <a:latin typeface="Arial" panose="020B0604020202020204" pitchFamily="34" charset="0"/>
                <a:cs typeface="Arial" panose="020B0604020202020204" pitchFamily="34" charset="0"/>
              </a:rPr>
              <a:t>it</a:t>
            </a:r>
            <a:r>
              <a:rPr lang="en-US" sz="2000" b="1">
                <a:highlight>
                  <a:srgbClr val="808000"/>
                </a:highlight>
                <a:latin typeface="Arial" panose="020B0604020202020204" pitchFamily="34" charset="0"/>
                <a:cs typeface="Arial" panose="020B0604020202020204" pitchFamily="34" charset="0"/>
              </a:rPr>
              <a:t> </a:t>
            </a:r>
            <a:r>
              <a:rPr lang="en-US" sz="2000" b="1">
                <a:latin typeface="Arial" panose="020B0604020202020204" pitchFamily="34" charset="0"/>
                <a:cs typeface="Arial" panose="020B0604020202020204" pitchFamily="34" charset="0"/>
                <a:sym typeface="Wingdings" panose="05000000000000000000" pitchFamily="2" charset="2"/>
              </a:rPr>
              <a:t></a:t>
            </a:r>
            <a:r>
              <a:rPr lang="vi-VN" sz="2000" b="1">
                <a:latin typeface="Arial" panose="020B0604020202020204" pitchFamily="34" charset="0"/>
                <a:cs typeface="Arial" panose="020B0604020202020204" pitchFamily="34" charset="0"/>
              </a:rPr>
              <a:t> một </a:t>
            </a:r>
            <a:r>
              <a:rPr lang="vi-VN" sz="2000" b="1">
                <a:highlight>
                  <a:srgbClr val="808000"/>
                </a:highlight>
                <a:latin typeface="Arial" panose="020B0604020202020204" pitchFamily="34" charset="0"/>
                <a:cs typeface="Arial" panose="020B0604020202020204" pitchFamily="34" charset="0"/>
              </a:rPr>
              <a:t>trace line </a:t>
            </a:r>
            <a:r>
              <a:rPr lang="vi-VN" sz="2000" b="1">
                <a:latin typeface="Arial" panose="020B0604020202020204" pitchFamily="34" charset="0"/>
                <a:cs typeface="Arial" panose="020B0604020202020204" pitchFamily="34" charset="0"/>
              </a:rPr>
              <a:t>sẽ được </a:t>
            </a:r>
            <a:r>
              <a:rPr lang="vi-VN" sz="2000" b="1">
                <a:highlight>
                  <a:srgbClr val="808000"/>
                </a:highlight>
                <a:latin typeface="Arial" panose="020B0604020202020204" pitchFamily="34" charset="0"/>
                <a:cs typeface="Arial" panose="020B0604020202020204" pitchFamily="34" charset="0"/>
              </a:rPr>
              <a:t>cung cấp </a:t>
            </a:r>
            <a:r>
              <a:rPr lang="vi-VN" sz="2000" b="1">
                <a:latin typeface="Arial" panose="020B0604020202020204" pitchFamily="34" charset="0"/>
                <a:cs typeface="Arial" panose="020B0604020202020204" pitchFamily="34" charset="0"/>
              </a:rPr>
              <a:t>cho </a:t>
            </a:r>
            <a:r>
              <a:rPr lang="vi-VN" sz="2000" b="1">
                <a:highlight>
                  <a:srgbClr val="808000"/>
                </a:highlight>
                <a:latin typeface="Arial" panose="020B0604020202020204" pitchFamily="34" charset="0"/>
                <a:cs typeface="Arial" panose="020B0604020202020204" pitchFamily="34" charset="0"/>
              </a:rPr>
              <a:t>đơn vị tìm nạp</a:t>
            </a:r>
            <a:r>
              <a:rPr lang="en-US" sz="2000" b="1">
                <a:latin typeface="Arial" panose="020B0604020202020204" pitchFamily="34" charset="0"/>
                <a:cs typeface="Arial" panose="020B0604020202020204" pitchFamily="34" charset="0"/>
              </a:rPr>
              <a:t>.</a:t>
            </a:r>
            <a:r>
              <a:rPr lang="vi-VN" sz="2000" b="1">
                <a:highlight>
                  <a:srgbClr val="808000"/>
                </a:highlight>
                <a:latin typeface="Arial" panose="020B0604020202020204" pitchFamily="34" charset="0"/>
                <a:cs typeface="Arial" panose="020B0604020202020204" pitchFamily="34" charset="0"/>
              </a:rPr>
              <a:t>Trace Cache </a:t>
            </a:r>
            <a:r>
              <a:rPr lang="vi-VN" sz="2000" b="1">
                <a:latin typeface="Arial" panose="020B0604020202020204" pitchFamily="34" charset="0"/>
                <a:cs typeface="Arial" panose="020B0604020202020204" pitchFamily="34" charset="0"/>
              </a:rPr>
              <a:t>tiếp tục </a:t>
            </a:r>
            <a:r>
              <a:rPr lang="vi-VN" sz="2000" b="1">
                <a:highlight>
                  <a:srgbClr val="808000"/>
                </a:highlight>
                <a:latin typeface="Arial" panose="020B0604020202020204" pitchFamily="34" charset="0"/>
                <a:cs typeface="Arial" panose="020B0604020202020204" pitchFamily="34" charset="0"/>
              </a:rPr>
              <a:t>cung cấp nguồn </a:t>
            </a:r>
            <a:r>
              <a:rPr lang="vi-VN" sz="2000" b="1">
                <a:latin typeface="Arial" panose="020B0604020202020204" pitchFamily="34" charset="0"/>
                <a:cs typeface="Arial" panose="020B0604020202020204" pitchFamily="34" charset="0"/>
              </a:rPr>
              <a:t>cho </a:t>
            </a:r>
            <a:r>
              <a:rPr lang="vi-VN" sz="2000" b="1">
                <a:highlight>
                  <a:srgbClr val="808000"/>
                </a:highlight>
                <a:latin typeface="Arial" panose="020B0604020202020204" pitchFamily="34" charset="0"/>
                <a:cs typeface="Arial" panose="020B0604020202020204" pitchFamily="34" charset="0"/>
              </a:rPr>
              <a:t>đơn vị tìm nạp </a:t>
            </a:r>
            <a:r>
              <a:rPr lang="vi-VN" sz="2000" b="1">
                <a:latin typeface="Arial" panose="020B0604020202020204" pitchFamily="34" charset="0"/>
                <a:cs typeface="Arial" panose="020B0604020202020204" pitchFamily="34" charset="0"/>
              </a:rPr>
              <a:t>cho đến khi </a:t>
            </a:r>
            <a:r>
              <a:rPr lang="vi-VN" sz="2000" b="1">
                <a:highlight>
                  <a:srgbClr val="808000"/>
                </a:highlight>
                <a:latin typeface="Arial" panose="020B0604020202020204" pitchFamily="34" charset="0"/>
                <a:cs typeface="Arial" panose="020B0604020202020204" pitchFamily="34" charset="0"/>
              </a:rPr>
              <a:t>trace line kết thúc</a:t>
            </a:r>
            <a:r>
              <a:rPr lang="vi-VN" sz="2000" b="1">
                <a:latin typeface="Arial" panose="020B0604020202020204" pitchFamily="34" charset="0"/>
                <a:cs typeface="Arial" panose="020B0604020202020204" pitchFamily="34" charset="0"/>
              </a:rPr>
              <a:t> hoặc cho đến khi có </a:t>
            </a:r>
            <a:r>
              <a:rPr lang="vi-VN" sz="2000" b="1">
                <a:highlight>
                  <a:srgbClr val="808000"/>
                </a:highlight>
                <a:latin typeface="Arial" panose="020B0604020202020204" pitchFamily="34" charset="0"/>
                <a:cs typeface="Arial" panose="020B0604020202020204" pitchFamily="34" charset="0"/>
              </a:rPr>
              <a:t>dự đoán sai </a:t>
            </a:r>
            <a:r>
              <a:rPr lang="vi-VN" sz="2000" b="1">
                <a:latin typeface="Arial" panose="020B0604020202020204" pitchFamily="34" charset="0"/>
                <a:cs typeface="Arial" panose="020B0604020202020204" pitchFamily="34" charset="0"/>
              </a:rPr>
              <a:t>trong đường dẫn. </a:t>
            </a:r>
          </a:p>
        </p:txBody>
      </p:sp>
      <p:sp>
        <p:nvSpPr>
          <p:cNvPr id="10" name="Rectangle: Rounded Corners 9">
            <a:extLst>
              <a:ext uri="{FF2B5EF4-FFF2-40B4-BE49-F238E27FC236}">
                <a16:creationId xmlns:a16="http://schemas.microsoft.com/office/drawing/2014/main" id="{EB3214CE-2573-4F61-C6BB-C4B7A33E3AE9}"/>
              </a:ext>
            </a:extLst>
          </p:cNvPr>
          <p:cNvSpPr/>
          <p:nvPr/>
        </p:nvSpPr>
        <p:spPr>
          <a:xfrm>
            <a:off x="1755949" y="707368"/>
            <a:ext cx="8953899" cy="1361119"/>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Các </a:t>
            </a:r>
            <a:r>
              <a:rPr lang="vi-VN" sz="2000" b="1">
                <a:highlight>
                  <a:srgbClr val="808000"/>
                </a:highlight>
              </a:rPr>
              <a:t>trace line </a:t>
            </a:r>
            <a:r>
              <a:rPr lang="vi-VN" sz="2000" b="1"/>
              <a:t>được </a:t>
            </a:r>
            <a:r>
              <a:rPr lang="vi-VN" sz="2000" b="1">
                <a:highlight>
                  <a:srgbClr val="808000"/>
                </a:highlight>
              </a:rPr>
              <a:t>lưu trữ </a:t>
            </a:r>
            <a:r>
              <a:rPr lang="vi-VN" sz="2000" b="1"/>
              <a:t>trong </a:t>
            </a:r>
            <a:r>
              <a:rPr lang="vi-VN" sz="2000" b="1">
                <a:highlight>
                  <a:srgbClr val="808000"/>
                </a:highlight>
              </a:rPr>
              <a:t>Trace Cache </a:t>
            </a:r>
            <a:r>
              <a:rPr lang="vi-VN" sz="2000" b="1"/>
              <a:t>dựa trên </a:t>
            </a:r>
            <a:r>
              <a:rPr lang="vi-VN" sz="2000" b="1">
                <a:highlight>
                  <a:srgbClr val="808000"/>
                </a:highlight>
              </a:rPr>
              <a:t>PC</a:t>
            </a:r>
            <a:r>
              <a:rPr lang="vi-VN" sz="2000" b="1"/>
              <a:t> của </a:t>
            </a:r>
            <a:r>
              <a:rPr lang="vi-VN" sz="2000" b="1">
                <a:highlight>
                  <a:srgbClr val="808000"/>
                </a:highlight>
              </a:rPr>
              <a:t>lệnh đầu tiên</a:t>
            </a:r>
            <a:r>
              <a:rPr lang="vi-VN" sz="2000" b="1"/>
              <a:t> trong </a:t>
            </a:r>
            <a:r>
              <a:rPr lang="en-US" sz="2000" b="1">
                <a:latin typeface="Arial" panose="020B0604020202020204" pitchFamily="34" charset="0"/>
                <a:cs typeface="Arial" panose="020B0604020202020204" pitchFamily="34" charset="0"/>
              </a:rPr>
              <a:t>Trace</a:t>
            </a:r>
            <a:r>
              <a:rPr lang="vi-VN" sz="2000" b="1"/>
              <a:t> và một </a:t>
            </a:r>
            <a:r>
              <a:rPr lang="vi-VN" sz="2000" b="1">
                <a:highlight>
                  <a:srgbClr val="808000"/>
                </a:highlight>
              </a:rPr>
              <a:t>tập hợp các dự đoán rẽ nhánh</a:t>
            </a:r>
            <a:r>
              <a:rPr lang="en-US" sz="2000" b="1">
                <a:highlight>
                  <a:srgbClr val="808000"/>
                </a:highlight>
              </a:rPr>
              <a:t> </a:t>
            </a:r>
          </a:p>
          <a:p>
            <a:pPr algn="ctr"/>
            <a:r>
              <a:rPr lang="en-US" sz="2000" b="1">
                <a:sym typeface="Wingdings" panose="05000000000000000000" pitchFamily="2" charset="2"/>
              </a:rPr>
              <a:t> </a:t>
            </a:r>
            <a:r>
              <a:rPr lang="vi-VN" sz="2000" b="1"/>
              <a:t>Điều này cho phép </a:t>
            </a:r>
            <a:r>
              <a:rPr lang="vi-VN" sz="2000" b="1">
                <a:highlight>
                  <a:srgbClr val="808000"/>
                </a:highlight>
              </a:rPr>
              <a:t>lưu trữ </a:t>
            </a:r>
            <a:r>
              <a:rPr lang="vi-VN" sz="2000" b="1"/>
              <a:t>các </a:t>
            </a:r>
            <a:r>
              <a:rPr lang="vi-VN" sz="2000" b="1">
                <a:highlight>
                  <a:srgbClr val="808000"/>
                </a:highlight>
              </a:rPr>
              <a:t>trace line </a:t>
            </a:r>
            <a:r>
              <a:rPr lang="vi-VN" sz="2000" b="1"/>
              <a:t>khác nhau bắt đầu trên </a:t>
            </a:r>
            <a:r>
              <a:rPr lang="vi-VN" sz="2000" b="1">
                <a:highlight>
                  <a:srgbClr val="808000"/>
                </a:highlight>
              </a:rPr>
              <a:t>cùng một địa chỉ</a:t>
            </a:r>
            <a:r>
              <a:rPr lang="vi-VN" sz="2000" b="1"/>
              <a:t>, mỗi </a:t>
            </a:r>
            <a:r>
              <a:rPr lang="vi-VN" sz="2000" b="1">
                <a:highlight>
                  <a:srgbClr val="808000"/>
                </a:highlight>
              </a:rPr>
              <a:t>line</a:t>
            </a:r>
            <a:r>
              <a:rPr lang="vi-VN" sz="2000" b="1"/>
              <a:t> </a:t>
            </a:r>
            <a:r>
              <a:rPr lang="vi-VN" sz="2000" b="1">
                <a:highlight>
                  <a:srgbClr val="808000"/>
                </a:highlight>
              </a:rPr>
              <a:t>đại diện </a:t>
            </a:r>
            <a:r>
              <a:rPr lang="vi-VN" sz="2000" b="1"/>
              <a:t>cho các </a:t>
            </a:r>
            <a:r>
              <a:rPr lang="vi-VN" sz="2000" b="1">
                <a:highlight>
                  <a:srgbClr val="808000"/>
                </a:highlight>
              </a:rPr>
              <a:t>kết quả nhánh khác nhau</a:t>
            </a:r>
            <a:r>
              <a:rPr lang="vi-VN" sz="2000" b="1"/>
              <a:t>. </a:t>
            </a:r>
          </a:p>
        </p:txBody>
      </p:sp>
      <p:sp>
        <p:nvSpPr>
          <p:cNvPr id="12" name="Rectangle: Rounded Corners 11">
            <a:extLst>
              <a:ext uri="{FF2B5EF4-FFF2-40B4-BE49-F238E27FC236}">
                <a16:creationId xmlns:a16="http://schemas.microsoft.com/office/drawing/2014/main" id="{FBEBF26D-089D-9F9A-C288-0240AA5B09FB}"/>
              </a:ext>
            </a:extLst>
          </p:cNvPr>
          <p:cNvSpPr/>
          <p:nvPr/>
        </p:nvSpPr>
        <p:spPr>
          <a:xfrm>
            <a:off x="1696316" y="4936265"/>
            <a:ext cx="8953899" cy="824236"/>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highlight>
                  <a:srgbClr val="808000"/>
                </a:highlight>
              </a:rPr>
              <a:t>Miss</a:t>
            </a:r>
            <a:r>
              <a:rPr lang="en-US" sz="2000" b="1"/>
              <a:t> </a:t>
            </a:r>
            <a:r>
              <a:rPr lang="en-US" sz="2000" b="1">
                <a:sym typeface="Wingdings" panose="05000000000000000000" pitchFamily="2" charset="2"/>
              </a:rPr>
              <a:t> </a:t>
            </a:r>
            <a:r>
              <a:rPr lang="vi-VN" sz="2000" b="1"/>
              <a:t>một </a:t>
            </a:r>
            <a:r>
              <a:rPr lang="vi-VN" sz="2000" b="1">
                <a:highlight>
                  <a:srgbClr val="808000"/>
                </a:highlight>
              </a:rPr>
              <a:t>dấu vết mới </a:t>
            </a:r>
            <a:r>
              <a:rPr lang="vi-VN" sz="2000" b="1"/>
              <a:t>sẽ </a:t>
            </a:r>
            <a:r>
              <a:rPr lang="vi-VN" sz="2000" b="1">
                <a:highlight>
                  <a:srgbClr val="808000"/>
                </a:highlight>
              </a:rPr>
              <a:t>bắt đầu </a:t>
            </a:r>
            <a:r>
              <a:rPr lang="vi-VN" sz="2000" b="1"/>
              <a:t>được </a:t>
            </a:r>
            <a:r>
              <a:rPr lang="vi-VN" sz="2000" b="1">
                <a:highlight>
                  <a:srgbClr val="808000"/>
                </a:highlight>
              </a:rPr>
              <a:t>xây dựng</a:t>
            </a:r>
            <a:r>
              <a:rPr lang="vi-VN" sz="2000" b="1"/>
              <a:t>.</a:t>
            </a:r>
          </a:p>
        </p:txBody>
      </p:sp>
      <p:sp>
        <p:nvSpPr>
          <p:cNvPr id="3" name="Rectangle: Rounded Corners 2">
            <a:extLst>
              <a:ext uri="{FF2B5EF4-FFF2-40B4-BE49-F238E27FC236}">
                <a16:creationId xmlns:a16="http://schemas.microsoft.com/office/drawing/2014/main" id="{B2A4E1C1-4013-DBD3-36E9-A47E51072250}"/>
              </a:ext>
            </a:extLst>
          </p:cNvPr>
          <p:cNvSpPr/>
          <p:nvPr/>
        </p:nvSpPr>
        <p:spPr>
          <a:xfrm>
            <a:off x="4125811" y="8049854"/>
            <a:ext cx="4214172" cy="1343083"/>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latin typeface="Arial" panose="020B0604020202020204" pitchFamily="34" charset="0"/>
                <a:cs typeface="Arial" panose="020B0604020202020204" pitchFamily="34" charset="0"/>
              </a:rPr>
              <a:t>Cải thiện hiệu suất của hệ thống máy tính</a:t>
            </a:r>
            <a:endParaRPr lang="vi-VN" sz="2400" b="1">
              <a:latin typeface="Arial" panose="020B0604020202020204" pitchFamily="34" charset="0"/>
              <a:cs typeface="Arial" panose="020B0604020202020204" pitchFamily="34" charset="0"/>
            </a:endParaRPr>
          </a:p>
        </p:txBody>
      </p:sp>
      <p:sp>
        <p:nvSpPr>
          <p:cNvPr id="4" name="Rectangle: Rounded Corners 3">
            <a:extLst>
              <a:ext uri="{FF2B5EF4-FFF2-40B4-BE49-F238E27FC236}">
                <a16:creationId xmlns:a16="http://schemas.microsoft.com/office/drawing/2014/main" id="{4A4CF130-A6F6-2774-84BA-FC635420CB92}"/>
              </a:ext>
            </a:extLst>
          </p:cNvPr>
          <p:cNvSpPr/>
          <p:nvPr/>
        </p:nvSpPr>
        <p:spPr>
          <a:xfrm>
            <a:off x="1356097" y="10298962"/>
            <a:ext cx="9753600" cy="824236"/>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sym typeface="Wingdings" panose="05000000000000000000" pitchFamily="2" charset="2"/>
              </a:rPr>
              <a:t> </a:t>
            </a:r>
            <a:r>
              <a:rPr lang="vi-VN" sz="2000" b="1">
                <a:latin typeface="Arial" panose="020B0604020202020204" pitchFamily="34" charset="0"/>
                <a:cs typeface="Arial" panose="020B0604020202020204" pitchFamily="34" charset="0"/>
              </a:rPr>
              <a:t>Khi CPU cần truy cập dữ liệu hoặc hướng dẫn, nó trước tiên kiểm tra xem chúng đã được lưu trữ trong cache hay chưa.</a:t>
            </a:r>
          </a:p>
        </p:txBody>
      </p:sp>
    </p:spTree>
    <p:extLst>
      <p:ext uri="{BB962C8B-B14F-4D97-AF65-F5344CB8AC3E}">
        <p14:creationId xmlns:p14="http://schemas.microsoft.com/office/powerpoint/2010/main" val="4922400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E034C201-9464-F7FF-C219-63C6A2688A05}"/>
              </a:ext>
            </a:extLst>
          </p:cNvPr>
          <p:cNvSpPr/>
          <p:nvPr/>
        </p:nvSpPr>
        <p:spPr>
          <a:xfrm>
            <a:off x="1755948" y="-3883794"/>
            <a:ext cx="8953899" cy="1361119"/>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highlight>
                  <a:srgbClr val="808000"/>
                </a:highlight>
                <a:latin typeface="Arial" panose="020B0604020202020204" pitchFamily="34" charset="0"/>
                <a:cs typeface="Arial" panose="020B0604020202020204" pitchFamily="34" charset="0"/>
              </a:rPr>
              <a:t>H</a:t>
            </a:r>
            <a:r>
              <a:rPr lang="vi-VN" sz="2000" b="1">
                <a:highlight>
                  <a:srgbClr val="808000"/>
                </a:highlight>
                <a:latin typeface="Arial" panose="020B0604020202020204" pitchFamily="34" charset="0"/>
                <a:cs typeface="Arial" panose="020B0604020202020204" pitchFamily="34" charset="0"/>
              </a:rPr>
              <a:t>it</a:t>
            </a:r>
            <a:r>
              <a:rPr lang="en-US" sz="2000" b="1">
                <a:highlight>
                  <a:srgbClr val="808000"/>
                </a:highlight>
                <a:latin typeface="Arial" panose="020B0604020202020204" pitchFamily="34" charset="0"/>
                <a:cs typeface="Arial" panose="020B0604020202020204" pitchFamily="34" charset="0"/>
              </a:rPr>
              <a:t> </a:t>
            </a:r>
            <a:r>
              <a:rPr lang="en-US" sz="2000" b="1">
                <a:latin typeface="Arial" panose="020B0604020202020204" pitchFamily="34" charset="0"/>
                <a:cs typeface="Arial" panose="020B0604020202020204" pitchFamily="34" charset="0"/>
                <a:sym typeface="Wingdings" panose="05000000000000000000" pitchFamily="2" charset="2"/>
              </a:rPr>
              <a:t></a:t>
            </a:r>
            <a:r>
              <a:rPr lang="vi-VN" sz="2000" b="1">
                <a:latin typeface="Arial" panose="020B0604020202020204" pitchFamily="34" charset="0"/>
                <a:cs typeface="Arial" panose="020B0604020202020204" pitchFamily="34" charset="0"/>
              </a:rPr>
              <a:t> một </a:t>
            </a:r>
            <a:r>
              <a:rPr lang="vi-VN" sz="2000" b="1">
                <a:highlight>
                  <a:srgbClr val="808000"/>
                </a:highlight>
                <a:latin typeface="Arial" panose="020B0604020202020204" pitchFamily="34" charset="0"/>
                <a:cs typeface="Arial" panose="020B0604020202020204" pitchFamily="34" charset="0"/>
              </a:rPr>
              <a:t>trace line </a:t>
            </a:r>
            <a:r>
              <a:rPr lang="vi-VN" sz="2000" b="1">
                <a:latin typeface="Arial" panose="020B0604020202020204" pitchFamily="34" charset="0"/>
                <a:cs typeface="Arial" panose="020B0604020202020204" pitchFamily="34" charset="0"/>
              </a:rPr>
              <a:t>sẽ được </a:t>
            </a:r>
            <a:r>
              <a:rPr lang="vi-VN" sz="2000" b="1">
                <a:highlight>
                  <a:srgbClr val="808000"/>
                </a:highlight>
                <a:latin typeface="Arial" panose="020B0604020202020204" pitchFamily="34" charset="0"/>
                <a:cs typeface="Arial" panose="020B0604020202020204" pitchFamily="34" charset="0"/>
              </a:rPr>
              <a:t>cung cấp </a:t>
            </a:r>
            <a:r>
              <a:rPr lang="vi-VN" sz="2000" b="1">
                <a:latin typeface="Arial" panose="020B0604020202020204" pitchFamily="34" charset="0"/>
                <a:cs typeface="Arial" panose="020B0604020202020204" pitchFamily="34" charset="0"/>
              </a:rPr>
              <a:t>cho </a:t>
            </a:r>
            <a:r>
              <a:rPr lang="vi-VN" sz="2000" b="1">
                <a:highlight>
                  <a:srgbClr val="808000"/>
                </a:highlight>
                <a:latin typeface="Arial" panose="020B0604020202020204" pitchFamily="34" charset="0"/>
                <a:cs typeface="Arial" panose="020B0604020202020204" pitchFamily="34" charset="0"/>
              </a:rPr>
              <a:t>đơn vị tìm nạp</a:t>
            </a:r>
            <a:r>
              <a:rPr lang="en-US" sz="2000" b="1">
                <a:latin typeface="Arial" panose="020B0604020202020204" pitchFamily="34" charset="0"/>
                <a:cs typeface="Arial" panose="020B0604020202020204" pitchFamily="34" charset="0"/>
              </a:rPr>
              <a:t>.</a:t>
            </a:r>
            <a:r>
              <a:rPr lang="vi-VN" sz="2000" b="1">
                <a:highlight>
                  <a:srgbClr val="808000"/>
                </a:highlight>
                <a:latin typeface="Arial" panose="020B0604020202020204" pitchFamily="34" charset="0"/>
                <a:cs typeface="Arial" panose="020B0604020202020204" pitchFamily="34" charset="0"/>
              </a:rPr>
              <a:t>Trace Cache </a:t>
            </a:r>
            <a:r>
              <a:rPr lang="vi-VN" sz="2000" b="1">
                <a:latin typeface="Arial" panose="020B0604020202020204" pitchFamily="34" charset="0"/>
                <a:cs typeface="Arial" panose="020B0604020202020204" pitchFamily="34" charset="0"/>
              </a:rPr>
              <a:t>tiếp tục </a:t>
            </a:r>
            <a:r>
              <a:rPr lang="vi-VN" sz="2000" b="1">
                <a:highlight>
                  <a:srgbClr val="808000"/>
                </a:highlight>
                <a:latin typeface="Arial" panose="020B0604020202020204" pitchFamily="34" charset="0"/>
                <a:cs typeface="Arial" panose="020B0604020202020204" pitchFamily="34" charset="0"/>
              </a:rPr>
              <a:t>cung cấp nguồn </a:t>
            </a:r>
            <a:r>
              <a:rPr lang="vi-VN" sz="2000" b="1">
                <a:latin typeface="Arial" panose="020B0604020202020204" pitchFamily="34" charset="0"/>
                <a:cs typeface="Arial" panose="020B0604020202020204" pitchFamily="34" charset="0"/>
              </a:rPr>
              <a:t>cho </a:t>
            </a:r>
            <a:r>
              <a:rPr lang="vi-VN" sz="2000" b="1">
                <a:highlight>
                  <a:srgbClr val="808000"/>
                </a:highlight>
                <a:latin typeface="Arial" panose="020B0604020202020204" pitchFamily="34" charset="0"/>
                <a:cs typeface="Arial" panose="020B0604020202020204" pitchFamily="34" charset="0"/>
              </a:rPr>
              <a:t>đơn vị tìm nạp </a:t>
            </a:r>
            <a:r>
              <a:rPr lang="vi-VN" sz="2000" b="1">
                <a:latin typeface="Arial" panose="020B0604020202020204" pitchFamily="34" charset="0"/>
                <a:cs typeface="Arial" panose="020B0604020202020204" pitchFamily="34" charset="0"/>
              </a:rPr>
              <a:t>cho đến khi </a:t>
            </a:r>
            <a:r>
              <a:rPr lang="vi-VN" sz="2000" b="1">
                <a:highlight>
                  <a:srgbClr val="808000"/>
                </a:highlight>
                <a:latin typeface="Arial" panose="020B0604020202020204" pitchFamily="34" charset="0"/>
                <a:cs typeface="Arial" panose="020B0604020202020204" pitchFamily="34" charset="0"/>
              </a:rPr>
              <a:t>trace line kết thúc</a:t>
            </a:r>
            <a:r>
              <a:rPr lang="vi-VN" sz="2000" b="1">
                <a:latin typeface="Arial" panose="020B0604020202020204" pitchFamily="34" charset="0"/>
                <a:cs typeface="Arial" panose="020B0604020202020204" pitchFamily="34" charset="0"/>
              </a:rPr>
              <a:t> hoặc cho đến khi có </a:t>
            </a:r>
            <a:r>
              <a:rPr lang="vi-VN" sz="2000" b="1">
                <a:highlight>
                  <a:srgbClr val="808000"/>
                </a:highlight>
                <a:latin typeface="Arial" panose="020B0604020202020204" pitchFamily="34" charset="0"/>
                <a:cs typeface="Arial" panose="020B0604020202020204" pitchFamily="34" charset="0"/>
              </a:rPr>
              <a:t>dự đoán sai </a:t>
            </a:r>
            <a:r>
              <a:rPr lang="vi-VN" sz="2000" b="1">
                <a:latin typeface="Arial" panose="020B0604020202020204" pitchFamily="34" charset="0"/>
                <a:cs typeface="Arial" panose="020B0604020202020204" pitchFamily="34" charset="0"/>
              </a:rPr>
              <a:t>trong đường dẫn. </a:t>
            </a:r>
          </a:p>
        </p:txBody>
      </p:sp>
      <p:sp>
        <p:nvSpPr>
          <p:cNvPr id="10" name="Rectangle: Rounded Corners 9">
            <a:extLst>
              <a:ext uri="{FF2B5EF4-FFF2-40B4-BE49-F238E27FC236}">
                <a16:creationId xmlns:a16="http://schemas.microsoft.com/office/drawing/2014/main" id="{EB3214CE-2573-4F61-C6BB-C4B7A33E3AE9}"/>
              </a:ext>
            </a:extLst>
          </p:cNvPr>
          <p:cNvSpPr/>
          <p:nvPr/>
        </p:nvSpPr>
        <p:spPr>
          <a:xfrm>
            <a:off x="1755949" y="-5998242"/>
            <a:ext cx="8953899" cy="1361119"/>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t>Các </a:t>
            </a:r>
            <a:r>
              <a:rPr lang="vi-VN" sz="2000" b="1">
                <a:highlight>
                  <a:srgbClr val="808000"/>
                </a:highlight>
              </a:rPr>
              <a:t>trace line </a:t>
            </a:r>
            <a:r>
              <a:rPr lang="vi-VN" sz="2000" b="1"/>
              <a:t>được </a:t>
            </a:r>
            <a:r>
              <a:rPr lang="vi-VN" sz="2000" b="1">
                <a:highlight>
                  <a:srgbClr val="808000"/>
                </a:highlight>
              </a:rPr>
              <a:t>lưu trữ </a:t>
            </a:r>
            <a:r>
              <a:rPr lang="vi-VN" sz="2000" b="1"/>
              <a:t>trong </a:t>
            </a:r>
            <a:r>
              <a:rPr lang="vi-VN" sz="2000" b="1">
                <a:highlight>
                  <a:srgbClr val="808000"/>
                </a:highlight>
              </a:rPr>
              <a:t>Trace Cache </a:t>
            </a:r>
            <a:r>
              <a:rPr lang="vi-VN" sz="2000" b="1"/>
              <a:t>dựa trên </a:t>
            </a:r>
            <a:r>
              <a:rPr lang="vi-VN" sz="2000" b="1">
                <a:highlight>
                  <a:srgbClr val="808000"/>
                </a:highlight>
              </a:rPr>
              <a:t>PC</a:t>
            </a:r>
            <a:r>
              <a:rPr lang="vi-VN" sz="2000" b="1"/>
              <a:t> của </a:t>
            </a:r>
            <a:r>
              <a:rPr lang="vi-VN" sz="2000" b="1">
                <a:highlight>
                  <a:srgbClr val="808000"/>
                </a:highlight>
              </a:rPr>
              <a:t>lệnh đầu tiên</a:t>
            </a:r>
            <a:r>
              <a:rPr lang="vi-VN" sz="2000" b="1"/>
              <a:t> trong </a:t>
            </a:r>
            <a:r>
              <a:rPr lang="en-US" sz="2000" b="1">
                <a:latin typeface="Arial" panose="020B0604020202020204" pitchFamily="34" charset="0"/>
                <a:cs typeface="Arial" panose="020B0604020202020204" pitchFamily="34" charset="0"/>
              </a:rPr>
              <a:t>Trace</a:t>
            </a:r>
            <a:r>
              <a:rPr lang="vi-VN" sz="2000" b="1"/>
              <a:t> và một </a:t>
            </a:r>
            <a:r>
              <a:rPr lang="vi-VN" sz="2000" b="1">
                <a:highlight>
                  <a:srgbClr val="808000"/>
                </a:highlight>
              </a:rPr>
              <a:t>tập hợp các dự đoán rẽ nhánh</a:t>
            </a:r>
            <a:r>
              <a:rPr lang="en-US" sz="2000" b="1">
                <a:highlight>
                  <a:srgbClr val="808000"/>
                </a:highlight>
              </a:rPr>
              <a:t> </a:t>
            </a:r>
          </a:p>
          <a:p>
            <a:pPr algn="ctr"/>
            <a:r>
              <a:rPr lang="en-US" sz="2000" b="1">
                <a:sym typeface="Wingdings" panose="05000000000000000000" pitchFamily="2" charset="2"/>
              </a:rPr>
              <a:t> </a:t>
            </a:r>
            <a:r>
              <a:rPr lang="vi-VN" sz="2000" b="1"/>
              <a:t>Điều này cho phép </a:t>
            </a:r>
            <a:r>
              <a:rPr lang="vi-VN" sz="2000" b="1">
                <a:highlight>
                  <a:srgbClr val="808000"/>
                </a:highlight>
              </a:rPr>
              <a:t>lưu trữ </a:t>
            </a:r>
            <a:r>
              <a:rPr lang="vi-VN" sz="2000" b="1"/>
              <a:t>các </a:t>
            </a:r>
            <a:r>
              <a:rPr lang="vi-VN" sz="2000" b="1">
                <a:highlight>
                  <a:srgbClr val="808000"/>
                </a:highlight>
              </a:rPr>
              <a:t>trace line </a:t>
            </a:r>
            <a:r>
              <a:rPr lang="vi-VN" sz="2000" b="1"/>
              <a:t>khác nhau bắt đầu trên </a:t>
            </a:r>
            <a:r>
              <a:rPr lang="vi-VN" sz="2000" b="1">
                <a:highlight>
                  <a:srgbClr val="808000"/>
                </a:highlight>
              </a:rPr>
              <a:t>cùng một địa chỉ</a:t>
            </a:r>
            <a:r>
              <a:rPr lang="vi-VN" sz="2000" b="1"/>
              <a:t>, mỗi </a:t>
            </a:r>
            <a:r>
              <a:rPr lang="vi-VN" sz="2000" b="1">
                <a:highlight>
                  <a:srgbClr val="808000"/>
                </a:highlight>
              </a:rPr>
              <a:t>line</a:t>
            </a:r>
            <a:r>
              <a:rPr lang="vi-VN" sz="2000" b="1"/>
              <a:t> </a:t>
            </a:r>
            <a:r>
              <a:rPr lang="vi-VN" sz="2000" b="1">
                <a:highlight>
                  <a:srgbClr val="808000"/>
                </a:highlight>
              </a:rPr>
              <a:t>đại diện </a:t>
            </a:r>
            <a:r>
              <a:rPr lang="vi-VN" sz="2000" b="1"/>
              <a:t>cho các </a:t>
            </a:r>
            <a:r>
              <a:rPr lang="vi-VN" sz="2000" b="1">
                <a:highlight>
                  <a:srgbClr val="808000"/>
                </a:highlight>
              </a:rPr>
              <a:t>kết quả nhánh khác nhau</a:t>
            </a:r>
            <a:r>
              <a:rPr lang="vi-VN" sz="2000" b="1"/>
              <a:t>. </a:t>
            </a:r>
          </a:p>
        </p:txBody>
      </p:sp>
      <p:sp>
        <p:nvSpPr>
          <p:cNvPr id="12" name="Rectangle: Rounded Corners 11">
            <a:extLst>
              <a:ext uri="{FF2B5EF4-FFF2-40B4-BE49-F238E27FC236}">
                <a16:creationId xmlns:a16="http://schemas.microsoft.com/office/drawing/2014/main" id="{FBEBF26D-089D-9F9A-C288-0240AA5B09FB}"/>
              </a:ext>
            </a:extLst>
          </p:cNvPr>
          <p:cNvSpPr/>
          <p:nvPr/>
        </p:nvSpPr>
        <p:spPr>
          <a:xfrm>
            <a:off x="1696316" y="-1769345"/>
            <a:ext cx="8953899" cy="824236"/>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highlight>
                  <a:srgbClr val="808000"/>
                </a:highlight>
              </a:rPr>
              <a:t>Miss</a:t>
            </a:r>
            <a:r>
              <a:rPr lang="en-US" sz="2000" b="1"/>
              <a:t> </a:t>
            </a:r>
            <a:r>
              <a:rPr lang="en-US" sz="2000" b="1">
                <a:sym typeface="Wingdings" panose="05000000000000000000" pitchFamily="2" charset="2"/>
              </a:rPr>
              <a:t> </a:t>
            </a:r>
            <a:r>
              <a:rPr lang="vi-VN" sz="2000" b="1"/>
              <a:t>một </a:t>
            </a:r>
            <a:r>
              <a:rPr lang="vi-VN" sz="2000" b="1">
                <a:highlight>
                  <a:srgbClr val="808000"/>
                </a:highlight>
              </a:rPr>
              <a:t>dấu vết mới </a:t>
            </a:r>
            <a:r>
              <a:rPr lang="vi-VN" sz="2000" b="1"/>
              <a:t>sẽ </a:t>
            </a:r>
            <a:r>
              <a:rPr lang="vi-VN" sz="2000" b="1">
                <a:highlight>
                  <a:srgbClr val="808000"/>
                </a:highlight>
              </a:rPr>
              <a:t>bắt đầu </a:t>
            </a:r>
            <a:r>
              <a:rPr lang="vi-VN" sz="2000" b="1"/>
              <a:t>được </a:t>
            </a:r>
            <a:r>
              <a:rPr lang="vi-VN" sz="2000" b="1">
                <a:highlight>
                  <a:srgbClr val="808000"/>
                </a:highlight>
              </a:rPr>
              <a:t>xây dựng</a:t>
            </a:r>
            <a:r>
              <a:rPr lang="vi-VN" sz="2000" b="1"/>
              <a:t>.</a:t>
            </a:r>
          </a:p>
        </p:txBody>
      </p:sp>
      <p:sp>
        <p:nvSpPr>
          <p:cNvPr id="2" name="Rectangle: Rounded Corners 1">
            <a:extLst>
              <a:ext uri="{FF2B5EF4-FFF2-40B4-BE49-F238E27FC236}">
                <a16:creationId xmlns:a16="http://schemas.microsoft.com/office/drawing/2014/main" id="{978E0055-52FD-944A-0A3F-CFBB883D2F33}"/>
              </a:ext>
            </a:extLst>
          </p:cNvPr>
          <p:cNvSpPr/>
          <p:nvPr/>
        </p:nvSpPr>
        <p:spPr>
          <a:xfrm>
            <a:off x="4125811" y="946678"/>
            <a:ext cx="4214172" cy="1343083"/>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latin typeface="Arial" panose="020B0604020202020204" pitchFamily="34" charset="0"/>
                <a:cs typeface="Arial" panose="020B0604020202020204" pitchFamily="34" charset="0"/>
              </a:rPr>
              <a:t>Cải thiện hiệu suất của hệ thống máy tính</a:t>
            </a:r>
            <a:endParaRPr lang="vi-VN" sz="2400" b="1">
              <a:latin typeface="Arial" panose="020B0604020202020204" pitchFamily="34" charset="0"/>
              <a:cs typeface="Arial" panose="020B0604020202020204" pitchFamily="34" charset="0"/>
            </a:endParaRPr>
          </a:p>
        </p:txBody>
      </p:sp>
      <p:sp>
        <p:nvSpPr>
          <p:cNvPr id="3" name="Rectangle: Rounded Corners 2">
            <a:extLst>
              <a:ext uri="{FF2B5EF4-FFF2-40B4-BE49-F238E27FC236}">
                <a16:creationId xmlns:a16="http://schemas.microsoft.com/office/drawing/2014/main" id="{EACD10E4-8237-6AB5-D5C2-71AC46FCE8DB}"/>
              </a:ext>
            </a:extLst>
          </p:cNvPr>
          <p:cNvSpPr/>
          <p:nvPr/>
        </p:nvSpPr>
        <p:spPr>
          <a:xfrm>
            <a:off x="1356097" y="3195786"/>
            <a:ext cx="9753600" cy="824236"/>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sym typeface="Wingdings" panose="05000000000000000000" pitchFamily="2" charset="2"/>
              </a:rPr>
              <a:t> </a:t>
            </a:r>
            <a:r>
              <a:rPr lang="vi-VN" sz="2000" b="1">
                <a:latin typeface="Arial" panose="020B0604020202020204" pitchFamily="34" charset="0"/>
                <a:cs typeface="Arial" panose="020B0604020202020204" pitchFamily="34" charset="0"/>
              </a:rPr>
              <a:t>Khi CPU cần truy cập dữ liệu hoặc hướng dẫn, nó trước tiên kiểm tra xem chúng đã được lưu trữ trong cache hay chưa.</a:t>
            </a:r>
          </a:p>
        </p:txBody>
      </p:sp>
      <p:sp>
        <p:nvSpPr>
          <p:cNvPr id="4" name="Rectangle: Rounded Corners 3">
            <a:extLst>
              <a:ext uri="{FF2B5EF4-FFF2-40B4-BE49-F238E27FC236}">
                <a16:creationId xmlns:a16="http://schemas.microsoft.com/office/drawing/2014/main" id="{F8915CD9-4C7B-5CBA-E014-939B55BB4A9A}"/>
              </a:ext>
            </a:extLst>
          </p:cNvPr>
          <p:cNvSpPr/>
          <p:nvPr/>
        </p:nvSpPr>
        <p:spPr>
          <a:xfrm>
            <a:off x="1051296" y="8053428"/>
            <a:ext cx="9753600" cy="824236"/>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latin typeface="Arial" panose="020B0604020202020204" pitchFamily="34" charset="0"/>
                <a:cs typeface="Arial" panose="020B0604020202020204" pitchFamily="34" charset="0"/>
                <a:sym typeface="Wingdings" panose="05000000000000000000" pitchFamily="2" charset="2"/>
              </a:rPr>
              <a:t>Tăng kích thước của Trace Cache để cải thiện khả năng lưu trữ các trace của chương trình</a:t>
            </a:r>
            <a:endParaRPr lang="vi-VN" sz="2000" b="1">
              <a:latin typeface="Arial" panose="020B0604020202020204" pitchFamily="34" charset="0"/>
              <a:cs typeface="Arial" panose="020B0604020202020204" pitchFamily="34" charset="0"/>
            </a:endParaRPr>
          </a:p>
        </p:txBody>
      </p:sp>
      <p:sp>
        <p:nvSpPr>
          <p:cNvPr id="5" name="Rectangle: Rounded Corners 4">
            <a:extLst>
              <a:ext uri="{FF2B5EF4-FFF2-40B4-BE49-F238E27FC236}">
                <a16:creationId xmlns:a16="http://schemas.microsoft.com/office/drawing/2014/main" id="{86EF1A1E-1229-8031-82E7-A5BA98818A90}"/>
              </a:ext>
            </a:extLst>
          </p:cNvPr>
          <p:cNvSpPr/>
          <p:nvPr/>
        </p:nvSpPr>
        <p:spPr>
          <a:xfrm>
            <a:off x="2482531" y="10314227"/>
            <a:ext cx="8795068" cy="824236"/>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latin typeface="Arial" panose="020B0604020202020204" pitchFamily="34" charset="0"/>
                <a:cs typeface="Arial" panose="020B0604020202020204" pitchFamily="34" charset="0"/>
                <a:sym typeface="Wingdings" panose="05000000000000000000" pitchFamily="2" charset="2"/>
              </a:rPr>
              <a:t>Sử dụng các kỹ thuật dự đoán nhánh để giảm thiểu Trace Cache Miss</a:t>
            </a:r>
            <a:endParaRPr lang="vi-VN" sz="2000" b="1">
              <a:latin typeface="Arial" panose="020B0604020202020204" pitchFamily="34" charset="0"/>
              <a:cs typeface="Arial" panose="020B0604020202020204" pitchFamily="34" charset="0"/>
            </a:endParaRPr>
          </a:p>
        </p:txBody>
      </p:sp>
      <p:sp>
        <p:nvSpPr>
          <p:cNvPr id="6" name="Rectangle: Rounded Corners 5">
            <a:extLst>
              <a:ext uri="{FF2B5EF4-FFF2-40B4-BE49-F238E27FC236}">
                <a16:creationId xmlns:a16="http://schemas.microsoft.com/office/drawing/2014/main" id="{CAA1E823-5BBE-F5C8-6C73-632A5FDC686F}"/>
              </a:ext>
            </a:extLst>
          </p:cNvPr>
          <p:cNvSpPr/>
          <p:nvPr/>
        </p:nvSpPr>
        <p:spPr>
          <a:xfrm>
            <a:off x="1051296" y="12396123"/>
            <a:ext cx="9753600" cy="824236"/>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latin typeface="Arial" panose="020B0604020202020204" pitchFamily="34" charset="0"/>
                <a:cs typeface="Arial" panose="020B0604020202020204" pitchFamily="34" charset="0"/>
                <a:sym typeface="Wingdings" panose="05000000000000000000" pitchFamily="2" charset="2"/>
              </a:rPr>
              <a:t>Tối ưu hoá cơ chế kiểm tra dữ liệu tại Trace Cache Hit để giảm thiểu lỗi cache và tăng tốc độ xử lý</a:t>
            </a:r>
            <a:endParaRPr lang="vi-VN" sz="2000"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91463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78E0055-52FD-944A-0A3F-CFBB883D2F33}"/>
              </a:ext>
            </a:extLst>
          </p:cNvPr>
          <p:cNvSpPr/>
          <p:nvPr/>
        </p:nvSpPr>
        <p:spPr>
          <a:xfrm>
            <a:off x="4125811" y="-3771102"/>
            <a:ext cx="4214172" cy="1343083"/>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latin typeface="Arial" panose="020B0604020202020204" pitchFamily="34" charset="0"/>
                <a:cs typeface="Arial" panose="020B0604020202020204" pitchFamily="34" charset="0"/>
              </a:rPr>
              <a:t>Cải thiện hiệu suất của hệ thống máy tính</a:t>
            </a:r>
            <a:endParaRPr lang="vi-VN" sz="2400" b="1">
              <a:latin typeface="Arial" panose="020B0604020202020204" pitchFamily="34" charset="0"/>
              <a:cs typeface="Arial" panose="020B0604020202020204" pitchFamily="34" charset="0"/>
            </a:endParaRPr>
          </a:p>
        </p:txBody>
      </p:sp>
      <p:sp>
        <p:nvSpPr>
          <p:cNvPr id="3" name="Rectangle: Rounded Corners 2">
            <a:extLst>
              <a:ext uri="{FF2B5EF4-FFF2-40B4-BE49-F238E27FC236}">
                <a16:creationId xmlns:a16="http://schemas.microsoft.com/office/drawing/2014/main" id="{EACD10E4-8237-6AB5-D5C2-71AC46FCE8DB}"/>
              </a:ext>
            </a:extLst>
          </p:cNvPr>
          <p:cNvSpPr/>
          <p:nvPr/>
        </p:nvSpPr>
        <p:spPr>
          <a:xfrm>
            <a:off x="1356097" y="-1521994"/>
            <a:ext cx="9753600" cy="824236"/>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Arial" panose="020B0604020202020204" pitchFamily="34" charset="0"/>
                <a:cs typeface="Arial" panose="020B0604020202020204" pitchFamily="34" charset="0"/>
                <a:sym typeface="Wingdings" panose="05000000000000000000" pitchFamily="2" charset="2"/>
              </a:rPr>
              <a:t> </a:t>
            </a:r>
            <a:r>
              <a:rPr lang="vi-VN" sz="2000" b="1">
                <a:latin typeface="Arial" panose="020B0604020202020204" pitchFamily="34" charset="0"/>
                <a:cs typeface="Arial" panose="020B0604020202020204" pitchFamily="34" charset="0"/>
              </a:rPr>
              <a:t>Khi CPU cần truy cập dữ liệu hoặc hướng dẫn, nó trước tiên kiểm tra xem chúng đã được lưu trữ trong cache hay chưa.</a:t>
            </a:r>
          </a:p>
        </p:txBody>
      </p:sp>
      <p:sp>
        <p:nvSpPr>
          <p:cNvPr id="4" name="Rectangle: Rounded Corners 3">
            <a:extLst>
              <a:ext uri="{FF2B5EF4-FFF2-40B4-BE49-F238E27FC236}">
                <a16:creationId xmlns:a16="http://schemas.microsoft.com/office/drawing/2014/main" id="{DB89CDB8-F3B0-9568-5F3E-ADCE681F1F61}"/>
              </a:ext>
            </a:extLst>
          </p:cNvPr>
          <p:cNvSpPr/>
          <p:nvPr/>
        </p:nvSpPr>
        <p:spPr>
          <a:xfrm>
            <a:off x="1051296" y="552686"/>
            <a:ext cx="9753600" cy="824236"/>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latin typeface="Arial" panose="020B0604020202020204" pitchFamily="34" charset="0"/>
                <a:cs typeface="Arial" panose="020B0604020202020204" pitchFamily="34" charset="0"/>
                <a:sym typeface="Wingdings" panose="05000000000000000000" pitchFamily="2" charset="2"/>
              </a:rPr>
              <a:t>Tăng kích thước của Trace Cache để cải thiện khả năng lưu trữ các trace của chương trình</a:t>
            </a:r>
            <a:endParaRPr lang="vi-VN" sz="2000" b="1">
              <a:latin typeface="Arial" panose="020B0604020202020204" pitchFamily="34" charset="0"/>
              <a:cs typeface="Arial" panose="020B0604020202020204" pitchFamily="34" charset="0"/>
            </a:endParaRPr>
          </a:p>
        </p:txBody>
      </p:sp>
      <p:sp>
        <p:nvSpPr>
          <p:cNvPr id="5" name="Rectangle: Rounded Corners 4">
            <a:extLst>
              <a:ext uri="{FF2B5EF4-FFF2-40B4-BE49-F238E27FC236}">
                <a16:creationId xmlns:a16="http://schemas.microsoft.com/office/drawing/2014/main" id="{538E6CA0-0E8D-7BB9-85ED-4CF5979BF43D}"/>
              </a:ext>
            </a:extLst>
          </p:cNvPr>
          <p:cNvSpPr/>
          <p:nvPr/>
        </p:nvSpPr>
        <p:spPr>
          <a:xfrm>
            <a:off x="2482531" y="2813485"/>
            <a:ext cx="8795068" cy="824236"/>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latin typeface="Arial" panose="020B0604020202020204" pitchFamily="34" charset="0"/>
                <a:cs typeface="Arial" panose="020B0604020202020204" pitchFamily="34" charset="0"/>
                <a:sym typeface="Wingdings" panose="05000000000000000000" pitchFamily="2" charset="2"/>
              </a:rPr>
              <a:t>Sử dụng các kỹ thuật dự đoán nhánh để giảm thiểu Trace Cache Miss</a:t>
            </a:r>
            <a:endParaRPr lang="vi-VN" sz="2000" b="1">
              <a:latin typeface="Arial" panose="020B0604020202020204" pitchFamily="34" charset="0"/>
              <a:cs typeface="Arial" panose="020B0604020202020204" pitchFamily="34" charset="0"/>
            </a:endParaRPr>
          </a:p>
        </p:txBody>
      </p:sp>
      <p:sp>
        <p:nvSpPr>
          <p:cNvPr id="6" name="Rectangle: Rounded Corners 5">
            <a:extLst>
              <a:ext uri="{FF2B5EF4-FFF2-40B4-BE49-F238E27FC236}">
                <a16:creationId xmlns:a16="http://schemas.microsoft.com/office/drawing/2014/main" id="{6EB11BDB-BF82-3EC9-276C-28206CBE0E3B}"/>
              </a:ext>
            </a:extLst>
          </p:cNvPr>
          <p:cNvSpPr/>
          <p:nvPr/>
        </p:nvSpPr>
        <p:spPr>
          <a:xfrm>
            <a:off x="1051296" y="4895381"/>
            <a:ext cx="9753600" cy="824236"/>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a:latin typeface="Arial" panose="020B0604020202020204" pitchFamily="34" charset="0"/>
                <a:cs typeface="Arial" panose="020B0604020202020204" pitchFamily="34" charset="0"/>
                <a:sym typeface="Wingdings" panose="05000000000000000000" pitchFamily="2" charset="2"/>
              </a:rPr>
              <a:t>Tối ưu hoá cơ chế kiểm tra dữ liệu tại Trace Cache Hit để giảm thiểu lỗi cache và tăng tốc độ xử lý</a:t>
            </a:r>
            <a:endParaRPr lang="vi-VN" sz="2000"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67825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B6299E5-04CD-4E85-9AAA-46CA611002E5}"/>
              </a:ext>
            </a:extLst>
          </p:cNvPr>
          <p:cNvSpPr/>
          <p:nvPr/>
        </p:nvSpPr>
        <p:spPr>
          <a:xfrm>
            <a:off x="-4772879" y="921810"/>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a:t>
            </a:r>
            <a:endParaRPr lang="vi-VN" sz="2400" b="1"/>
          </a:p>
        </p:txBody>
      </p:sp>
      <p:sp>
        <p:nvSpPr>
          <p:cNvPr id="2" name="Rectangle: Rounded Corners 1">
            <a:extLst>
              <a:ext uri="{FF2B5EF4-FFF2-40B4-BE49-F238E27FC236}">
                <a16:creationId xmlns:a16="http://schemas.microsoft.com/office/drawing/2014/main" id="{23CB5B98-8FD0-CB62-DA4B-860E7422D192}"/>
              </a:ext>
            </a:extLst>
          </p:cNvPr>
          <p:cNvSpPr/>
          <p:nvPr/>
        </p:nvSpPr>
        <p:spPr>
          <a:xfrm>
            <a:off x="7689420" y="-3713254"/>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a:t>
            </a:r>
            <a:endParaRPr lang="vi-VN" sz="2400" b="1"/>
          </a:p>
        </p:txBody>
      </p:sp>
      <p:sp>
        <p:nvSpPr>
          <p:cNvPr id="3" name="Rectangle: Rounded Corners 2">
            <a:extLst>
              <a:ext uri="{FF2B5EF4-FFF2-40B4-BE49-F238E27FC236}">
                <a16:creationId xmlns:a16="http://schemas.microsoft.com/office/drawing/2014/main" id="{06FEB196-B502-5981-B2BD-4F3FE6F130CC}"/>
              </a:ext>
            </a:extLst>
          </p:cNvPr>
          <p:cNvSpPr/>
          <p:nvPr/>
        </p:nvSpPr>
        <p:spPr>
          <a:xfrm>
            <a:off x="-3941151" y="2782142"/>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DESIGN</a:t>
            </a:r>
            <a:endParaRPr lang="vi-VN" sz="2400" b="1"/>
          </a:p>
        </p:txBody>
      </p:sp>
      <p:sp>
        <p:nvSpPr>
          <p:cNvPr id="5" name="Rectangle: Rounded Corners 4">
            <a:extLst>
              <a:ext uri="{FF2B5EF4-FFF2-40B4-BE49-F238E27FC236}">
                <a16:creationId xmlns:a16="http://schemas.microsoft.com/office/drawing/2014/main" id="{43A52A58-C561-9917-062F-9D652BD6A2B4}"/>
              </a:ext>
            </a:extLst>
          </p:cNvPr>
          <p:cNvSpPr/>
          <p:nvPr/>
        </p:nvSpPr>
        <p:spPr>
          <a:xfrm>
            <a:off x="6576239" y="-1900220"/>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MECHANISM</a:t>
            </a:r>
            <a:endParaRPr lang="vi-VN" sz="2400" b="1"/>
          </a:p>
        </p:txBody>
      </p:sp>
      <p:sp>
        <p:nvSpPr>
          <p:cNvPr id="6" name="Rectangle: Rounded Corners 5">
            <a:extLst>
              <a:ext uri="{FF2B5EF4-FFF2-40B4-BE49-F238E27FC236}">
                <a16:creationId xmlns:a16="http://schemas.microsoft.com/office/drawing/2014/main" id="{807127C9-296D-C2C1-57A2-3502C6487EDB}"/>
              </a:ext>
            </a:extLst>
          </p:cNvPr>
          <p:cNvSpPr/>
          <p:nvPr/>
        </p:nvSpPr>
        <p:spPr>
          <a:xfrm>
            <a:off x="-5139047" y="4591064"/>
            <a:ext cx="2998458" cy="103448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TRACE CACHE HIT &amp; MISS LOGIC</a:t>
            </a:r>
            <a:endParaRPr lang="vi-VN" sz="2400" b="1"/>
          </a:p>
        </p:txBody>
      </p:sp>
      <p:sp>
        <p:nvSpPr>
          <p:cNvPr id="7" name="Rectangle: Rounded Corners 6">
            <a:extLst>
              <a:ext uri="{FF2B5EF4-FFF2-40B4-BE49-F238E27FC236}">
                <a16:creationId xmlns:a16="http://schemas.microsoft.com/office/drawing/2014/main" id="{3ED2E76E-DF2F-2792-4D62-E4B0736E118C}"/>
              </a:ext>
            </a:extLst>
          </p:cNvPr>
          <p:cNvSpPr/>
          <p:nvPr/>
        </p:nvSpPr>
        <p:spPr>
          <a:xfrm>
            <a:off x="3445312" y="1981999"/>
            <a:ext cx="5301376" cy="2634770"/>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ADVANTAGES &amp; DRAWBACKS</a:t>
            </a:r>
            <a:endParaRPr lang="vi-VN" sz="2400" b="1"/>
          </a:p>
        </p:txBody>
      </p:sp>
      <p:sp>
        <p:nvSpPr>
          <p:cNvPr id="8" name="Freeform: Shape 7">
            <a:extLst>
              <a:ext uri="{FF2B5EF4-FFF2-40B4-BE49-F238E27FC236}">
                <a16:creationId xmlns:a16="http://schemas.microsoft.com/office/drawing/2014/main" id="{AB572738-5520-9341-A02A-35031391C7BC}"/>
              </a:ext>
            </a:extLst>
          </p:cNvPr>
          <p:cNvSpPr/>
          <p:nvPr/>
        </p:nvSpPr>
        <p:spPr>
          <a:xfrm>
            <a:off x="1924434" y="8545284"/>
            <a:ext cx="4171566"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marL="0" lvl="0" indent="0" algn="ctr" defTabSz="914400" rtl="0" eaLnBrk="1" latinLnBrk="0" hangingPunct="1">
              <a:lnSpc>
                <a:spcPct val="90000"/>
              </a:lnSpc>
              <a:spcBef>
                <a:spcPct val="0"/>
              </a:spcBef>
              <a:spcAft>
                <a:spcPct val="35000"/>
              </a:spcAft>
              <a:buNone/>
            </a:pPr>
            <a:r>
              <a:rPr lang="vi-VN" sz="2400" b="1" kern="1200" dirty="0">
                <a:solidFill>
                  <a:schemeClr val="lt1"/>
                </a:solidFill>
                <a:latin typeface="+mn-lt"/>
                <a:ea typeface="+mn-ea"/>
                <a:cs typeface="+mn-cs"/>
              </a:rPr>
              <a:t>Giảm thiểu số lượng truy cập vào bộ nhớ chính</a:t>
            </a:r>
            <a:endParaRPr lang="en-US" sz="2400" b="1" kern="1200" dirty="0">
              <a:solidFill>
                <a:schemeClr val="lt1"/>
              </a:solidFill>
              <a:latin typeface="+mn-lt"/>
              <a:ea typeface="+mn-ea"/>
              <a:cs typeface="+mn-cs"/>
            </a:endParaRPr>
          </a:p>
        </p:txBody>
      </p:sp>
      <p:sp>
        <p:nvSpPr>
          <p:cNvPr id="9" name="Freeform: Shape 8">
            <a:extLst>
              <a:ext uri="{FF2B5EF4-FFF2-40B4-BE49-F238E27FC236}">
                <a16:creationId xmlns:a16="http://schemas.microsoft.com/office/drawing/2014/main" id="{F13514D6-D4AF-D2EC-B02D-07924FAB11D2}"/>
              </a:ext>
            </a:extLst>
          </p:cNvPr>
          <p:cNvSpPr/>
          <p:nvPr/>
        </p:nvSpPr>
        <p:spPr>
          <a:xfrm>
            <a:off x="1924434" y="10849503"/>
            <a:ext cx="4171566"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Tăng hiệu suất của các</a:t>
            </a:r>
            <a:r>
              <a:rPr lang="en-US" sz="2400" b="1" dirty="0">
                <a:latin typeface="Arial" panose="020B0604020202020204" pitchFamily="34" charset="0"/>
                <a:cs typeface="Arial" panose="020B0604020202020204" pitchFamily="34" charset="0"/>
              </a:rPr>
              <a:t> </a:t>
            </a:r>
            <a:r>
              <a:rPr lang="en-US" sz="2400" b="1">
                <a:latin typeface="Arial" panose="020B0604020202020204" pitchFamily="34" charset="0"/>
                <a:cs typeface="Arial" panose="020B0604020202020204" pitchFamily="34" charset="0"/>
              </a:rPr>
              <a:t>vi xử lý</a:t>
            </a:r>
            <a:r>
              <a:rPr lang="en-US" sz="2400" b="1" dirty="0">
                <a:latin typeface="Arial" panose="020B0604020202020204" pitchFamily="34" charset="0"/>
                <a:cs typeface="Arial" panose="020B0604020202020204" pitchFamily="34" charset="0"/>
              </a:rPr>
              <a:t> </a:t>
            </a:r>
            <a:r>
              <a:rPr lang="en-US" sz="2400" b="1">
                <a:latin typeface="Arial" panose="020B0604020202020204" pitchFamily="34" charset="0"/>
                <a:cs typeface="Arial" panose="020B0604020202020204" pitchFamily="34" charset="0"/>
              </a:rPr>
              <a:t>Superscalar hoặc VLIW</a:t>
            </a:r>
            <a:endParaRPr lang="en-US" sz="2400" b="1" dirty="0">
              <a:latin typeface="Arial" panose="020B0604020202020204" pitchFamily="34" charset="0"/>
              <a:cs typeface="Arial" panose="020B0604020202020204" pitchFamily="34" charset="0"/>
            </a:endParaRPr>
          </a:p>
        </p:txBody>
      </p:sp>
      <p:sp>
        <p:nvSpPr>
          <p:cNvPr id="10" name="Freeform: Shape 9">
            <a:extLst>
              <a:ext uri="{FF2B5EF4-FFF2-40B4-BE49-F238E27FC236}">
                <a16:creationId xmlns:a16="http://schemas.microsoft.com/office/drawing/2014/main" id="{4224A348-A0C5-B866-03CB-DDFB569715A4}"/>
              </a:ext>
            </a:extLst>
          </p:cNvPr>
          <p:cNvSpPr/>
          <p:nvPr/>
        </p:nvSpPr>
        <p:spPr>
          <a:xfrm>
            <a:off x="8027797" y="11000492"/>
            <a:ext cx="2468890" cy="846528"/>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Giảm độ trễ</a:t>
            </a:r>
            <a:endParaRPr lang="en-US" sz="2400" b="1" dirty="0">
              <a:latin typeface="Arial" panose="020B0604020202020204" pitchFamily="34" charset="0"/>
              <a:cs typeface="Arial" panose="020B0604020202020204" pitchFamily="34" charset="0"/>
            </a:endParaRPr>
          </a:p>
        </p:txBody>
      </p:sp>
      <p:sp>
        <p:nvSpPr>
          <p:cNvPr id="11" name="Freeform: Shape 10">
            <a:extLst>
              <a:ext uri="{FF2B5EF4-FFF2-40B4-BE49-F238E27FC236}">
                <a16:creationId xmlns:a16="http://schemas.microsoft.com/office/drawing/2014/main" id="{12895D46-2F6A-B94C-F838-6D9952C1164D}"/>
              </a:ext>
            </a:extLst>
          </p:cNvPr>
          <p:cNvSpPr/>
          <p:nvPr/>
        </p:nvSpPr>
        <p:spPr>
          <a:xfrm>
            <a:off x="8027797" y="13249056"/>
            <a:ext cx="2468890" cy="846528"/>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Tăng khả năng dự đoán nhánh</a:t>
            </a:r>
            <a:endParaRPr lang="en-US" sz="2400" b="1" dirty="0">
              <a:latin typeface="Arial" panose="020B0604020202020204" pitchFamily="34" charset="0"/>
              <a:cs typeface="Arial" panose="020B0604020202020204" pitchFamily="34" charset="0"/>
            </a:endParaRPr>
          </a:p>
        </p:txBody>
      </p:sp>
      <p:sp>
        <p:nvSpPr>
          <p:cNvPr id="12" name="Freeform: Shape 11">
            <a:extLst>
              <a:ext uri="{FF2B5EF4-FFF2-40B4-BE49-F238E27FC236}">
                <a16:creationId xmlns:a16="http://schemas.microsoft.com/office/drawing/2014/main" id="{7A4C5A2C-214A-CA0C-6750-6E61F2B9F5B8}"/>
              </a:ext>
            </a:extLst>
          </p:cNvPr>
          <p:cNvSpPr/>
          <p:nvPr/>
        </p:nvSpPr>
        <p:spPr>
          <a:xfrm>
            <a:off x="8027797" y="9876210"/>
            <a:ext cx="2468890" cy="846528"/>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Giảm</a:t>
            </a:r>
            <a:r>
              <a:rPr lang="en-US" sz="2400" b="1" dirty="0">
                <a:latin typeface="Arial" panose="020B0604020202020204" pitchFamily="34" charset="0"/>
                <a:cs typeface="Arial" panose="020B0604020202020204" pitchFamily="34" charset="0"/>
              </a:rPr>
              <a:t> </a:t>
            </a:r>
            <a:r>
              <a:rPr lang="en-US" sz="2400" b="1">
                <a:latin typeface="Arial" panose="020B0604020202020204" pitchFamily="34" charset="0"/>
                <a:cs typeface="Arial" panose="020B0604020202020204" pitchFamily="34" charset="0"/>
              </a:rPr>
              <a:t>chi phí sản xuất</a:t>
            </a:r>
            <a:endParaRPr lang="en-US" sz="2400" b="1" dirty="0">
              <a:latin typeface="Arial" panose="020B0604020202020204" pitchFamily="34" charset="0"/>
              <a:cs typeface="Arial" panose="020B0604020202020204" pitchFamily="34" charset="0"/>
            </a:endParaRPr>
          </a:p>
        </p:txBody>
      </p:sp>
      <p:sp>
        <p:nvSpPr>
          <p:cNvPr id="13" name="Freeform: Shape 12">
            <a:extLst>
              <a:ext uri="{FF2B5EF4-FFF2-40B4-BE49-F238E27FC236}">
                <a16:creationId xmlns:a16="http://schemas.microsoft.com/office/drawing/2014/main" id="{C85542F5-9098-44C9-6541-E4E8208FFEB5}"/>
              </a:ext>
            </a:extLst>
          </p:cNvPr>
          <p:cNvSpPr/>
          <p:nvPr/>
        </p:nvSpPr>
        <p:spPr>
          <a:xfrm>
            <a:off x="1924435" y="9697394"/>
            <a:ext cx="4171565"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marL="0" lvl="0" indent="0" algn="ctr" defTabSz="914400" rtl="0" eaLnBrk="1" latinLnBrk="0" hangingPunct="1">
              <a:lnSpc>
                <a:spcPct val="90000"/>
              </a:lnSpc>
              <a:spcBef>
                <a:spcPct val="0"/>
              </a:spcBef>
              <a:spcAft>
                <a:spcPct val="35000"/>
              </a:spcAft>
              <a:buNone/>
            </a:pPr>
            <a:r>
              <a:rPr lang="en-US" sz="2400" b="1" kern="1200" dirty="0" err="1">
                <a:solidFill>
                  <a:schemeClr val="lt1"/>
                </a:solidFill>
                <a:latin typeface="Arial" panose="020B0604020202020204" pitchFamily="34" charset="0"/>
                <a:cs typeface="Arial" panose="020B0604020202020204" pitchFamily="34" charset="0"/>
              </a:rPr>
              <a:t>Tăng</a:t>
            </a:r>
            <a:r>
              <a:rPr lang="en-US" sz="2400" b="1" kern="1200" dirty="0">
                <a:solidFill>
                  <a:schemeClr val="lt1"/>
                </a:solidFill>
                <a:latin typeface="Arial" panose="020B0604020202020204" pitchFamily="34" charset="0"/>
                <a:cs typeface="Arial" panose="020B0604020202020204" pitchFamily="34" charset="0"/>
              </a:rPr>
              <a:t> </a:t>
            </a:r>
            <a:r>
              <a:rPr lang="en-US" sz="2400" b="1" kern="1200" dirty="0" err="1">
                <a:solidFill>
                  <a:schemeClr val="lt1"/>
                </a:solidFill>
                <a:latin typeface="Arial" panose="020B0604020202020204" pitchFamily="34" charset="0"/>
                <a:cs typeface="Arial" panose="020B0604020202020204" pitchFamily="34" charset="0"/>
              </a:rPr>
              <a:t>hiệu</a:t>
            </a:r>
            <a:r>
              <a:rPr lang="en-US" sz="2400" b="1" kern="1200" dirty="0">
                <a:solidFill>
                  <a:schemeClr val="lt1"/>
                </a:solidFill>
                <a:latin typeface="Arial" panose="020B0604020202020204" pitchFamily="34" charset="0"/>
                <a:cs typeface="Arial" panose="020B0604020202020204" pitchFamily="34" charset="0"/>
              </a:rPr>
              <a:t> </a:t>
            </a:r>
            <a:r>
              <a:rPr lang="en-US" sz="2400" b="1" kern="1200" dirty="0" err="1">
                <a:solidFill>
                  <a:schemeClr val="lt1"/>
                </a:solidFill>
                <a:latin typeface="Arial" panose="020B0604020202020204" pitchFamily="34" charset="0"/>
                <a:cs typeface="Arial" panose="020B0604020202020204" pitchFamily="34" charset="0"/>
              </a:rPr>
              <a:t>suất</a:t>
            </a:r>
            <a:r>
              <a:rPr lang="en-US" sz="2400" b="1" kern="1200" dirty="0">
                <a:solidFill>
                  <a:schemeClr val="lt1"/>
                </a:solidFill>
                <a:latin typeface="Arial" panose="020B0604020202020204" pitchFamily="34" charset="0"/>
                <a:cs typeface="Arial" panose="020B0604020202020204" pitchFamily="34" charset="0"/>
              </a:rPr>
              <a:t> </a:t>
            </a:r>
            <a:r>
              <a:rPr lang="en-US" sz="2400" b="1" kern="1200" dirty="0" err="1">
                <a:solidFill>
                  <a:schemeClr val="lt1"/>
                </a:solidFill>
                <a:latin typeface="Arial" panose="020B0604020202020204" pitchFamily="34" charset="0"/>
                <a:cs typeface="Arial" panose="020B0604020202020204" pitchFamily="34" charset="0"/>
              </a:rPr>
              <a:t>của</a:t>
            </a:r>
            <a:r>
              <a:rPr lang="en-US" sz="2400" b="1" kern="1200" dirty="0">
                <a:solidFill>
                  <a:schemeClr val="lt1"/>
                </a:solidFill>
                <a:latin typeface="Arial" panose="020B0604020202020204" pitchFamily="34" charset="0"/>
                <a:cs typeface="Arial" panose="020B0604020202020204" pitchFamily="34" charset="0"/>
              </a:rPr>
              <a:t> </a:t>
            </a:r>
            <a:r>
              <a:rPr lang="en-US" sz="2400" b="1" kern="1200" dirty="0" err="1">
                <a:solidFill>
                  <a:schemeClr val="lt1"/>
                </a:solidFill>
                <a:latin typeface="Arial" panose="020B0604020202020204" pitchFamily="34" charset="0"/>
                <a:cs typeface="Arial" panose="020B0604020202020204" pitchFamily="34" charset="0"/>
              </a:rPr>
              <a:t>các</a:t>
            </a:r>
            <a:r>
              <a:rPr lang="en-US" sz="2400" b="1" kern="1200" dirty="0">
                <a:solidFill>
                  <a:schemeClr val="lt1"/>
                </a:solidFill>
                <a:latin typeface="Arial" panose="020B0604020202020204" pitchFamily="34" charset="0"/>
                <a:cs typeface="Arial" panose="020B0604020202020204" pitchFamily="34" charset="0"/>
              </a:rPr>
              <a:t> </a:t>
            </a:r>
            <a:r>
              <a:rPr lang="en-US" sz="2400" b="1" kern="1200" dirty="0" err="1">
                <a:solidFill>
                  <a:schemeClr val="lt1"/>
                </a:solidFill>
                <a:latin typeface="Arial" panose="020B0604020202020204" pitchFamily="34" charset="0"/>
                <a:cs typeface="Arial" panose="020B0604020202020204" pitchFamily="34" charset="0"/>
              </a:rPr>
              <a:t>ứng</a:t>
            </a:r>
            <a:r>
              <a:rPr lang="en-US" sz="2400" b="1" kern="1200" dirty="0">
                <a:solidFill>
                  <a:schemeClr val="lt1"/>
                </a:solidFill>
                <a:latin typeface="Arial" panose="020B0604020202020204" pitchFamily="34" charset="0"/>
                <a:cs typeface="Arial" panose="020B0604020202020204" pitchFamily="34" charset="0"/>
              </a:rPr>
              <a:t> </a:t>
            </a:r>
            <a:r>
              <a:rPr lang="en-US" sz="2400" b="1" kern="1200" dirty="0" err="1">
                <a:solidFill>
                  <a:schemeClr val="lt1"/>
                </a:solidFill>
                <a:latin typeface="Arial" panose="020B0604020202020204" pitchFamily="34" charset="0"/>
                <a:cs typeface="Arial" panose="020B0604020202020204" pitchFamily="34" charset="0"/>
              </a:rPr>
              <a:t>dụng</a:t>
            </a:r>
            <a:r>
              <a:rPr lang="en-US" sz="2400" b="1" kern="1200" dirty="0">
                <a:solidFill>
                  <a:schemeClr val="lt1"/>
                </a:solidFill>
                <a:latin typeface="Arial" panose="020B0604020202020204" pitchFamily="34" charset="0"/>
                <a:cs typeface="Arial" panose="020B0604020202020204" pitchFamily="34" charset="0"/>
              </a:rPr>
              <a:t> </a:t>
            </a:r>
            <a:r>
              <a:rPr lang="en-US" sz="2400" b="1" kern="1200" dirty="0" err="1">
                <a:solidFill>
                  <a:schemeClr val="lt1"/>
                </a:solidFill>
                <a:latin typeface="Arial" panose="020B0604020202020204" pitchFamily="34" charset="0"/>
                <a:cs typeface="Arial" panose="020B0604020202020204" pitchFamily="34" charset="0"/>
              </a:rPr>
              <a:t>đa</a:t>
            </a:r>
            <a:r>
              <a:rPr lang="en-US" sz="2400" b="1" kern="1200" dirty="0">
                <a:solidFill>
                  <a:schemeClr val="lt1"/>
                </a:solidFill>
                <a:latin typeface="Arial" panose="020B0604020202020204" pitchFamily="34" charset="0"/>
                <a:cs typeface="Arial" panose="020B0604020202020204" pitchFamily="34" charset="0"/>
              </a:rPr>
              <a:t> </a:t>
            </a:r>
            <a:r>
              <a:rPr lang="en-US" sz="2400" b="1" kern="1200" dirty="0" err="1">
                <a:solidFill>
                  <a:schemeClr val="lt1"/>
                </a:solidFill>
                <a:latin typeface="Arial" panose="020B0604020202020204" pitchFamily="34" charset="0"/>
                <a:cs typeface="Arial" panose="020B0604020202020204" pitchFamily="34" charset="0"/>
              </a:rPr>
              <a:t>luồng</a:t>
            </a:r>
            <a:endParaRPr lang="en-US" sz="2400" b="1" kern="1200" dirty="0">
              <a:solidFill>
                <a:schemeClr val="lt1"/>
              </a:solidFill>
              <a:latin typeface="Arial" panose="020B0604020202020204" pitchFamily="34" charset="0"/>
              <a:cs typeface="Arial" panose="020B0604020202020204" pitchFamily="34" charset="0"/>
            </a:endParaRPr>
          </a:p>
        </p:txBody>
      </p:sp>
      <p:sp>
        <p:nvSpPr>
          <p:cNvPr id="14" name="Freeform: Shape 13">
            <a:extLst>
              <a:ext uri="{FF2B5EF4-FFF2-40B4-BE49-F238E27FC236}">
                <a16:creationId xmlns:a16="http://schemas.microsoft.com/office/drawing/2014/main" id="{361C3DE2-7F61-6EED-0FEE-8AD952B4A91D}"/>
              </a:ext>
            </a:extLst>
          </p:cNvPr>
          <p:cNvSpPr/>
          <p:nvPr/>
        </p:nvSpPr>
        <p:spPr>
          <a:xfrm>
            <a:off x="1924434" y="13110144"/>
            <a:ext cx="4171566"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Giảm độ trễ khi thực thi lệnh nhảy</a:t>
            </a:r>
            <a:endParaRPr lang="en-US" sz="2400" b="1" dirty="0">
              <a:latin typeface="Arial" panose="020B0604020202020204" pitchFamily="34" charset="0"/>
              <a:cs typeface="Arial" panose="020B0604020202020204" pitchFamily="34" charset="0"/>
            </a:endParaRPr>
          </a:p>
        </p:txBody>
      </p:sp>
      <p:sp>
        <p:nvSpPr>
          <p:cNvPr id="15" name="Freeform: Shape 14">
            <a:extLst>
              <a:ext uri="{FF2B5EF4-FFF2-40B4-BE49-F238E27FC236}">
                <a16:creationId xmlns:a16="http://schemas.microsoft.com/office/drawing/2014/main" id="{5FDA17AE-0815-72E5-974B-4DE5927FF049}"/>
              </a:ext>
            </a:extLst>
          </p:cNvPr>
          <p:cNvSpPr/>
          <p:nvPr/>
        </p:nvSpPr>
        <p:spPr>
          <a:xfrm>
            <a:off x="1924434" y="12001613"/>
            <a:ext cx="4171566"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Tăng hiệu suất của các ứng dụng có tính chất lặp lại cao</a:t>
            </a:r>
            <a:endParaRPr lang="en-US" sz="2400" b="1" dirty="0">
              <a:latin typeface="Arial" panose="020B0604020202020204" pitchFamily="34" charset="0"/>
              <a:cs typeface="Arial" panose="020B0604020202020204" pitchFamily="34" charset="0"/>
            </a:endParaRPr>
          </a:p>
        </p:txBody>
      </p:sp>
      <p:sp>
        <p:nvSpPr>
          <p:cNvPr id="16" name="Freeform: Shape 15">
            <a:extLst>
              <a:ext uri="{FF2B5EF4-FFF2-40B4-BE49-F238E27FC236}">
                <a16:creationId xmlns:a16="http://schemas.microsoft.com/office/drawing/2014/main" id="{777D272E-7459-C3E5-5F7D-7036E19A7A2B}"/>
              </a:ext>
            </a:extLst>
          </p:cNvPr>
          <p:cNvSpPr/>
          <p:nvPr/>
        </p:nvSpPr>
        <p:spPr>
          <a:xfrm>
            <a:off x="8027797" y="12124774"/>
            <a:ext cx="2468890" cy="846528"/>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Tăng khả năng tùy chỉnh</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526522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3ED2E76E-DF2F-2792-4D62-E4B0736E118C}"/>
              </a:ext>
            </a:extLst>
          </p:cNvPr>
          <p:cNvSpPr/>
          <p:nvPr/>
        </p:nvSpPr>
        <p:spPr>
          <a:xfrm>
            <a:off x="3445312" y="-3252160"/>
            <a:ext cx="5301376" cy="2634770"/>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ADVANTAGES &amp; DRAWBACKS</a:t>
            </a:r>
            <a:endParaRPr lang="vi-VN" sz="2400" b="1"/>
          </a:p>
        </p:txBody>
      </p:sp>
      <p:sp>
        <p:nvSpPr>
          <p:cNvPr id="10" name="Freeform: Shape 9">
            <a:extLst>
              <a:ext uri="{FF2B5EF4-FFF2-40B4-BE49-F238E27FC236}">
                <a16:creationId xmlns:a16="http://schemas.microsoft.com/office/drawing/2014/main" id="{8A4AAA5D-187C-4444-7860-36D20626760E}"/>
              </a:ext>
            </a:extLst>
          </p:cNvPr>
          <p:cNvSpPr/>
          <p:nvPr/>
        </p:nvSpPr>
        <p:spPr>
          <a:xfrm>
            <a:off x="1924434" y="725588"/>
            <a:ext cx="4171566"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marL="0" lvl="0" indent="0" algn="ctr" defTabSz="914400" rtl="0" eaLnBrk="1" latinLnBrk="0" hangingPunct="1">
              <a:lnSpc>
                <a:spcPct val="90000"/>
              </a:lnSpc>
              <a:spcBef>
                <a:spcPct val="0"/>
              </a:spcBef>
              <a:spcAft>
                <a:spcPct val="35000"/>
              </a:spcAft>
              <a:buNone/>
            </a:pPr>
            <a:r>
              <a:rPr lang="vi-VN" sz="2400" b="1" kern="1200" dirty="0">
                <a:solidFill>
                  <a:schemeClr val="lt1"/>
                </a:solidFill>
                <a:latin typeface="+mn-lt"/>
                <a:ea typeface="+mn-ea"/>
                <a:cs typeface="+mn-cs"/>
              </a:rPr>
              <a:t>Giảm thiểu số lượng truy cập vào bộ nhớ chính</a:t>
            </a:r>
            <a:endParaRPr lang="en-US" sz="2400" b="1" kern="1200" dirty="0">
              <a:solidFill>
                <a:schemeClr val="lt1"/>
              </a:solidFill>
              <a:latin typeface="+mn-lt"/>
              <a:ea typeface="+mn-ea"/>
              <a:cs typeface="+mn-cs"/>
            </a:endParaRPr>
          </a:p>
        </p:txBody>
      </p:sp>
      <p:sp>
        <p:nvSpPr>
          <p:cNvPr id="11" name="Freeform: Shape 10">
            <a:extLst>
              <a:ext uri="{FF2B5EF4-FFF2-40B4-BE49-F238E27FC236}">
                <a16:creationId xmlns:a16="http://schemas.microsoft.com/office/drawing/2014/main" id="{3E310174-C2B4-49E8-B412-6DE1FA35111E}"/>
              </a:ext>
            </a:extLst>
          </p:cNvPr>
          <p:cNvSpPr/>
          <p:nvPr/>
        </p:nvSpPr>
        <p:spPr>
          <a:xfrm>
            <a:off x="1924434" y="3029807"/>
            <a:ext cx="4171566"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Tăng hiệu suất của các</a:t>
            </a:r>
            <a:r>
              <a:rPr lang="en-US" sz="2400" b="1" dirty="0">
                <a:latin typeface="Arial" panose="020B0604020202020204" pitchFamily="34" charset="0"/>
                <a:cs typeface="Arial" panose="020B0604020202020204" pitchFamily="34" charset="0"/>
              </a:rPr>
              <a:t> </a:t>
            </a:r>
            <a:r>
              <a:rPr lang="en-US" sz="2400" b="1">
                <a:latin typeface="Arial" panose="020B0604020202020204" pitchFamily="34" charset="0"/>
                <a:cs typeface="Arial" panose="020B0604020202020204" pitchFamily="34" charset="0"/>
              </a:rPr>
              <a:t>vi xử lý</a:t>
            </a:r>
            <a:r>
              <a:rPr lang="en-US" sz="2400" b="1" dirty="0">
                <a:latin typeface="Arial" panose="020B0604020202020204" pitchFamily="34" charset="0"/>
                <a:cs typeface="Arial" panose="020B0604020202020204" pitchFamily="34" charset="0"/>
              </a:rPr>
              <a:t> </a:t>
            </a:r>
            <a:r>
              <a:rPr lang="en-US" sz="2400" b="1">
                <a:latin typeface="Arial" panose="020B0604020202020204" pitchFamily="34" charset="0"/>
                <a:cs typeface="Arial" panose="020B0604020202020204" pitchFamily="34" charset="0"/>
              </a:rPr>
              <a:t>Superscalar hoặc VLIW</a:t>
            </a:r>
            <a:endParaRPr lang="en-US" sz="2400" b="1" dirty="0">
              <a:latin typeface="Arial" panose="020B0604020202020204" pitchFamily="34" charset="0"/>
              <a:cs typeface="Arial" panose="020B0604020202020204" pitchFamily="34" charset="0"/>
            </a:endParaRPr>
          </a:p>
        </p:txBody>
      </p:sp>
      <p:sp>
        <p:nvSpPr>
          <p:cNvPr id="12" name="Freeform: Shape 11">
            <a:extLst>
              <a:ext uri="{FF2B5EF4-FFF2-40B4-BE49-F238E27FC236}">
                <a16:creationId xmlns:a16="http://schemas.microsoft.com/office/drawing/2014/main" id="{D01E37F5-FD77-106F-845D-19F33EAF753B}"/>
              </a:ext>
            </a:extLst>
          </p:cNvPr>
          <p:cNvSpPr/>
          <p:nvPr/>
        </p:nvSpPr>
        <p:spPr>
          <a:xfrm>
            <a:off x="8027797" y="3180796"/>
            <a:ext cx="2468890" cy="846528"/>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Giảm độ trễ</a:t>
            </a:r>
            <a:endParaRPr lang="en-US" sz="2400" b="1" dirty="0">
              <a:latin typeface="Arial" panose="020B0604020202020204" pitchFamily="34" charset="0"/>
              <a:cs typeface="Arial" panose="020B0604020202020204" pitchFamily="34" charset="0"/>
            </a:endParaRPr>
          </a:p>
        </p:txBody>
      </p:sp>
      <p:sp>
        <p:nvSpPr>
          <p:cNvPr id="13" name="Freeform: Shape 12">
            <a:extLst>
              <a:ext uri="{FF2B5EF4-FFF2-40B4-BE49-F238E27FC236}">
                <a16:creationId xmlns:a16="http://schemas.microsoft.com/office/drawing/2014/main" id="{9037C895-1E9B-4A79-E03D-F36B8E354E97}"/>
              </a:ext>
            </a:extLst>
          </p:cNvPr>
          <p:cNvSpPr/>
          <p:nvPr/>
        </p:nvSpPr>
        <p:spPr>
          <a:xfrm>
            <a:off x="8027797" y="5429360"/>
            <a:ext cx="2468890" cy="846528"/>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Tăng khả năng dự đoán nhánh</a:t>
            </a:r>
            <a:endParaRPr lang="en-US" sz="2400" b="1" dirty="0">
              <a:latin typeface="Arial" panose="020B0604020202020204" pitchFamily="34" charset="0"/>
              <a:cs typeface="Arial" panose="020B0604020202020204" pitchFamily="34" charset="0"/>
            </a:endParaRPr>
          </a:p>
        </p:txBody>
      </p:sp>
      <p:sp>
        <p:nvSpPr>
          <p:cNvPr id="14" name="Freeform: Shape 13">
            <a:extLst>
              <a:ext uri="{FF2B5EF4-FFF2-40B4-BE49-F238E27FC236}">
                <a16:creationId xmlns:a16="http://schemas.microsoft.com/office/drawing/2014/main" id="{B68BF8F2-45B8-4E5E-2222-6CB815E3196E}"/>
              </a:ext>
            </a:extLst>
          </p:cNvPr>
          <p:cNvSpPr/>
          <p:nvPr/>
        </p:nvSpPr>
        <p:spPr>
          <a:xfrm>
            <a:off x="8027797" y="2056514"/>
            <a:ext cx="2468890" cy="846528"/>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Giảm</a:t>
            </a:r>
            <a:r>
              <a:rPr lang="en-US" sz="2400" b="1" dirty="0">
                <a:latin typeface="Arial" panose="020B0604020202020204" pitchFamily="34" charset="0"/>
                <a:cs typeface="Arial" panose="020B0604020202020204" pitchFamily="34" charset="0"/>
              </a:rPr>
              <a:t> </a:t>
            </a:r>
            <a:r>
              <a:rPr lang="en-US" sz="2400" b="1">
                <a:latin typeface="Arial" panose="020B0604020202020204" pitchFamily="34" charset="0"/>
                <a:cs typeface="Arial" panose="020B0604020202020204" pitchFamily="34" charset="0"/>
              </a:rPr>
              <a:t>chi phí sản xuất</a:t>
            </a:r>
            <a:endParaRPr lang="en-US" sz="2400" b="1" dirty="0">
              <a:latin typeface="Arial" panose="020B0604020202020204" pitchFamily="34" charset="0"/>
              <a:cs typeface="Arial" panose="020B0604020202020204" pitchFamily="34" charset="0"/>
            </a:endParaRPr>
          </a:p>
        </p:txBody>
      </p:sp>
      <p:sp>
        <p:nvSpPr>
          <p:cNvPr id="15" name="Freeform: Shape 14">
            <a:extLst>
              <a:ext uri="{FF2B5EF4-FFF2-40B4-BE49-F238E27FC236}">
                <a16:creationId xmlns:a16="http://schemas.microsoft.com/office/drawing/2014/main" id="{EAB540AF-3630-74AB-3575-E6C54E851349}"/>
              </a:ext>
            </a:extLst>
          </p:cNvPr>
          <p:cNvSpPr/>
          <p:nvPr/>
        </p:nvSpPr>
        <p:spPr>
          <a:xfrm>
            <a:off x="1924435" y="1877698"/>
            <a:ext cx="4171565"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marL="0" lvl="0" indent="0" algn="ctr" defTabSz="914400" rtl="0" eaLnBrk="1" latinLnBrk="0" hangingPunct="1">
              <a:lnSpc>
                <a:spcPct val="90000"/>
              </a:lnSpc>
              <a:spcBef>
                <a:spcPct val="0"/>
              </a:spcBef>
              <a:spcAft>
                <a:spcPct val="35000"/>
              </a:spcAft>
              <a:buNone/>
            </a:pPr>
            <a:r>
              <a:rPr lang="en-US" sz="2400" b="1" kern="1200" dirty="0" err="1">
                <a:solidFill>
                  <a:schemeClr val="lt1"/>
                </a:solidFill>
                <a:latin typeface="Arial" panose="020B0604020202020204" pitchFamily="34" charset="0"/>
                <a:cs typeface="Arial" panose="020B0604020202020204" pitchFamily="34" charset="0"/>
              </a:rPr>
              <a:t>Tăng</a:t>
            </a:r>
            <a:r>
              <a:rPr lang="en-US" sz="2400" b="1" kern="1200" dirty="0">
                <a:solidFill>
                  <a:schemeClr val="lt1"/>
                </a:solidFill>
                <a:latin typeface="Arial" panose="020B0604020202020204" pitchFamily="34" charset="0"/>
                <a:cs typeface="Arial" panose="020B0604020202020204" pitchFamily="34" charset="0"/>
              </a:rPr>
              <a:t> </a:t>
            </a:r>
            <a:r>
              <a:rPr lang="en-US" sz="2400" b="1" kern="1200" dirty="0" err="1">
                <a:solidFill>
                  <a:schemeClr val="lt1"/>
                </a:solidFill>
                <a:latin typeface="Arial" panose="020B0604020202020204" pitchFamily="34" charset="0"/>
                <a:cs typeface="Arial" panose="020B0604020202020204" pitchFamily="34" charset="0"/>
              </a:rPr>
              <a:t>hiệu</a:t>
            </a:r>
            <a:r>
              <a:rPr lang="en-US" sz="2400" b="1" kern="1200" dirty="0">
                <a:solidFill>
                  <a:schemeClr val="lt1"/>
                </a:solidFill>
                <a:latin typeface="Arial" panose="020B0604020202020204" pitchFamily="34" charset="0"/>
                <a:cs typeface="Arial" panose="020B0604020202020204" pitchFamily="34" charset="0"/>
              </a:rPr>
              <a:t> </a:t>
            </a:r>
            <a:r>
              <a:rPr lang="en-US" sz="2400" b="1" kern="1200" dirty="0" err="1">
                <a:solidFill>
                  <a:schemeClr val="lt1"/>
                </a:solidFill>
                <a:latin typeface="Arial" panose="020B0604020202020204" pitchFamily="34" charset="0"/>
                <a:cs typeface="Arial" panose="020B0604020202020204" pitchFamily="34" charset="0"/>
              </a:rPr>
              <a:t>suất</a:t>
            </a:r>
            <a:r>
              <a:rPr lang="en-US" sz="2400" b="1" kern="1200" dirty="0">
                <a:solidFill>
                  <a:schemeClr val="lt1"/>
                </a:solidFill>
                <a:latin typeface="Arial" panose="020B0604020202020204" pitchFamily="34" charset="0"/>
                <a:cs typeface="Arial" panose="020B0604020202020204" pitchFamily="34" charset="0"/>
              </a:rPr>
              <a:t> </a:t>
            </a:r>
            <a:r>
              <a:rPr lang="en-US" sz="2400" b="1" kern="1200" dirty="0" err="1">
                <a:solidFill>
                  <a:schemeClr val="lt1"/>
                </a:solidFill>
                <a:latin typeface="Arial" panose="020B0604020202020204" pitchFamily="34" charset="0"/>
                <a:cs typeface="Arial" panose="020B0604020202020204" pitchFamily="34" charset="0"/>
              </a:rPr>
              <a:t>của</a:t>
            </a:r>
            <a:r>
              <a:rPr lang="en-US" sz="2400" b="1" kern="1200" dirty="0">
                <a:solidFill>
                  <a:schemeClr val="lt1"/>
                </a:solidFill>
                <a:latin typeface="Arial" panose="020B0604020202020204" pitchFamily="34" charset="0"/>
                <a:cs typeface="Arial" panose="020B0604020202020204" pitchFamily="34" charset="0"/>
              </a:rPr>
              <a:t> </a:t>
            </a:r>
            <a:r>
              <a:rPr lang="en-US" sz="2400" b="1" kern="1200" dirty="0" err="1">
                <a:solidFill>
                  <a:schemeClr val="lt1"/>
                </a:solidFill>
                <a:latin typeface="Arial" panose="020B0604020202020204" pitchFamily="34" charset="0"/>
                <a:cs typeface="Arial" panose="020B0604020202020204" pitchFamily="34" charset="0"/>
              </a:rPr>
              <a:t>các</a:t>
            </a:r>
            <a:r>
              <a:rPr lang="en-US" sz="2400" b="1" kern="1200" dirty="0">
                <a:solidFill>
                  <a:schemeClr val="lt1"/>
                </a:solidFill>
                <a:latin typeface="Arial" panose="020B0604020202020204" pitchFamily="34" charset="0"/>
                <a:cs typeface="Arial" panose="020B0604020202020204" pitchFamily="34" charset="0"/>
              </a:rPr>
              <a:t> </a:t>
            </a:r>
            <a:r>
              <a:rPr lang="en-US" sz="2400" b="1" kern="1200" dirty="0" err="1">
                <a:solidFill>
                  <a:schemeClr val="lt1"/>
                </a:solidFill>
                <a:latin typeface="Arial" panose="020B0604020202020204" pitchFamily="34" charset="0"/>
                <a:cs typeface="Arial" panose="020B0604020202020204" pitchFamily="34" charset="0"/>
              </a:rPr>
              <a:t>ứng</a:t>
            </a:r>
            <a:r>
              <a:rPr lang="en-US" sz="2400" b="1" kern="1200" dirty="0">
                <a:solidFill>
                  <a:schemeClr val="lt1"/>
                </a:solidFill>
                <a:latin typeface="Arial" panose="020B0604020202020204" pitchFamily="34" charset="0"/>
                <a:cs typeface="Arial" panose="020B0604020202020204" pitchFamily="34" charset="0"/>
              </a:rPr>
              <a:t> </a:t>
            </a:r>
            <a:r>
              <a:rPr lang="en-US" sz="2400" b="1" kern="1200" dirty="0" err="1">
                <a:solidFill>
                  <a:schemeClr val="lt1"/>
                </a:solidFill>
                <a:latin typeface="Arial" panose="020B0604020202020204" pitchFamily="34" charset="0"/>
                <a:cs typeface="Arial" panose="020B0604020202020204" pitchFamily="34" charset="0"/>
              </a:rPr>
              <a:t>dụng</a:t>
            </a:r>
            <a:r>
              <a:rPr lang="en-US" sz="2400" b="1" kern="1200" dirty="0">
                <a:solidFill>
                  <a:schemeClr val="lt1"/>
                </a:solidFill>
                <a:latin typeface="Arial" panose="020B0604020202020204" pitchFamily="34" charset="0"/>
                <a:cs typeface="Arial" panose="020B0604020202020204" pitchFamily="34" charset="0"/>
              </a:rPr>
              <a:t> </a:t>
            </a:r>
            <a:r>
              <a:rPr lang="en-US" sz="2400" b="1" kern="1200" dirty="0" err="1">
                <a:solidFill>
                  <a:schemeClr val="lt1"/>
                </a:solidFill>
                <a:latin typeface="Arial" panose="020B0604020202020204" pitchFamily="34" charset="0"/>
                <a:cs typeface="Arial" panose="020B0604020202020204" pitchFamily="34" charset="0"/>
              </a:rPr>
              <a:t>đa</a:t>
            </a:r>
            <a:r>
              <a:rPr lang="en-US" sz="2400" b="1" kern="1200" dirty="0">
                <a:solidFill>
                  <a:schemeClr val="lt1"/>
                </a:solidFill>
                <a:latin typeface="Arial" panose="020B0604020202020204" pitchFamily="34" charset="0"/>
                <a:cs typeface="Arial" panose="020B0604020202020204" pitchFamily="34" charset="0"/>
              </a:rPr>
              <a:t> </a:t>
            </a:r>
            <a:r>
              <a:rPr lang="en-US" sz="2400" b="1" kern="1200" dirty="0" err="1">
                <a:solidFill>
                  <a:schemeClr val="lt1"/>
                </a:solidFill>
                <a:latin typeface="Arial" panose="020B0604020202020204" pitchFamily="34" charset="0"/>
                <a:cs typeface="Arial" panose="020B0604020202020204" pitchFamily="34" charset="0"/>
              </a:rPr>
              <a:t>luồng</a:t>
            </a:r>
            <a:endParaRPr lang="en-US" sz="2400" b="1" kern="1200" dirty="0">
              <a:solidFill>
                <a:schemeClr val="lt1"/>
              </a:solidFill>
              <a:latin typeface="Arial" panose="020B0604020202020204" pitchFamily="34" charset="0"/>
              <a:cs typeface="Arial" panose="020B0604020202020204" pitchFamily="34" charset="0"/>
            </a:endParaRPr>
          </a:p>
        </p:txBody>
      </p:sp>
      <p:sp>
        <p:nvSpPr>
          <p:cNvPr id="16" name="Freeform: Shape 15">
            <a:extLst>
              <a:ext uri="{FF2B5EF4-FFF2-40B4-BE49-F238E27FC236}">
                <a16:creationId xmlns:a16="http://schemas.microsoft.com/office/drawing/2014/main" id="{526F51F3-F6A3-8100-AB64-20A1098B7BAF}"/>
              </a:ext>
            </a:extLst>
          </p:cNvPr>
          <p:cNvSpPr/>
          <p:nvPr/>
        </p:nvSpPr>
        <p:spPr>
          <a:xfrm>
            <a:off x="1924434" y="5290448"/>
            <a:ext cx="4171566"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Giảm độ trễ khi thực thi lệnh nhảy</a:t>
            </a:r>
            <a:endParaRPr lang="en-US" sz="2400" b="1" dirty="0">
              <a:latin typeface="Arial" panose="020B0604020202020204" pitchFamily="34" charset="0"/>
              <a:cs typeface="Arial" panose="020B0604020202020204" pitchFamily="34" charset="0"/>
            </a:endParaRPr>
          </a:p>
        </p:txBody>
      </p:sp>
      <p:sp>
        <p:nvSpPr>
          <p:cNvPr id="17" name="Freeform: Shape 16">
            <a:extLst>
              <a:ext uri="{FF2B5EF4-FFF2-40B4-BE49-F238E27FC236}">
                <a16:creationId xmlns:a16="http://schemas.microsoft.com/office/drawing/2014/main" id="{A8B3D523-FF0B-358B-CD8D-DF07A56BF2EC}"/>
              </a:ext>
            </a:extLst>
          </p:cNvPr>
          <p:cNvSpPr/>
          <p:nvPr/>
        </p:nvSpPr>
        <p:spPr>
          <a:xfrm>
            <a:off x="1924434" y="4181917"/>
            <a:ext cx="4171566"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Tăng hiệu suất của các ứng dụng có tính chất lặp lại cao</a:t>
            </a:r>
            <a:endParaRPr lang="en-US" sz="2400" b="1" dirty="0">
              <a:latin typeface="Arial" panose="020B0604020202020204" pitchFamily="34" charset="0"/>
              <a:cs typeface="Arial" panose="020B0604020202020204" pitchFamily="34" charset="0"/>
            </a:endParaRPr>
          </a:p>
        </p:txBody>
      </p:sp>
      <p:sp>
        <p:nvSpPr>
          <p:cNvPr id="18" name="Freeform: Shape 17">
            <a:extLst>
              <a:ext uri="{FF2B5EF4-FFF2-40B4-BE49-F238E27FC236}">
                <a16:creationId xmlns:a16="http://schemas.microsoft.com/office/drawing/2014/main" id="{E983BE4B-99AF-0DA9-FF61-C0E1AF3B4EA7}"/>
              </a:ext>
            </a:extLst>
          </p:cNvPr>
          <p:cNvSpPr/>
          <p:nvPr/>
        </p:nvSpPr>
        <p:spPr>
          <a:xfrm>
            <a:off x="8027797" y="4305078"/>
            <a:ext cx="2468890" cy="846528"/>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Tăng khả năng tùy chỉnh</a:t>
            </a:r>
            <a:endParaRPr lang="en-US" sz="2400" b="1"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B62B41C0-7445-D787-877B-236F034B0B00}"/>
              </a:ext>
            </a:extLst>
          </p:cNvPr>
          <p:cNvSpPr txBox="1"/>
          <p:nvPr/>
        </p:nvSpPr>
        <p:spPr>
          <a:xfrm>
            <a:off x="8425964" y="433200"/>
            <a:ext cx="2199994"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Mặt lợi</a:t>
            </a:r>
          </a:p>
        </p:txBody>
      </p:sp>
      <p:sp>
        <p:nvSpPr>
          <p:cNvPr id="20" name="Freeform: Shape 19">
            <a:extLst>
              <a:ext uri="{FF2B5EF4-FFF2-40B4-BE49-F238E27FC236}">
                <a16:creationId xmlns:a16="http://schemas.microsoft.com/office/drawing/2014/main" id="{81BDD706-D9A2-D107-370F-F8BA86C3D359}"/>
              </a:ext>
            </a:extLst>
          </p:cNvPr>
          <p:cNvSpPr/>
          <p:nvPr/>
        </p:nvSpPr>
        <p:spPr>
          <a:xfrm>
            <a:off x="6859041" y="11466539"/>
            <a:ext cx="4171566"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marL="0" lvl="0" indent="0" algn="ctr" defTabSz="914400" rtl="0" eaLnBrk="1" latinLnBrk="0" hangingPunct="1">
              <a:lnSpc>
                <a:spcPct val="90000"/>
              </a:lnSpc>
              <a:spcBef>
                <a:spcPct val="0"/>
              </a:spcBef>
              <a:spcAft>
                <a:spcPct val="35000"/>
              </a:spcAft>
              <a:buNone/>
            </a:pPr>
            <a:r>
              <a:rPr lang="vi-VN" sz="2400" b="1" kern="1200">
                <a:solidFill>
                  <a:schemeClr val="lt1"/>
                </a:solidFill>
                <a:latin typeface="+mn-lt"/>
                <a:ea typeface="+mn-ea"/>
                <a:cs typeface="+mn-cs"/>
              </a:rPr>
              <a:t>Sử dụng nhiều bộ nhớ cache</a:t>
            </a:r>
            <a:endParaRPr lang="en-US" sz="2400" b="1" kern="1200" dirty="0">
              <a:solidFill>
                <a:schemeClr val="lt1"/>
              </a:solidFill>
              <a:latin typeface="+mn-lt"/>
              <a:ea typeface="+mn-ea"/>
              <a:cs typeface="+mn-cs"/>
            </a:endParaRPr>
          </a:p>
        </p:txBody>
      </p:sp>
      <p:sp>
        <p:nvSpPr>
          <p:cNvPr id="21" name="Freeform: Shape 20">
            <a:extLst>
              <a:ext uri="{FF2B5EF4-FFF2-40B4-BE49-F238E27FC236}">
                <a16:creationId xmlns:a16="http://schemas.microsoft.com/office/drawing/2014/main" id="{5A65AB54-2FF1-FA88-FE27-67310E6AE630}"/>
              </a:ext>
            </a:extLst>
          </p:cNvPr>
          <p:cNvSpPr/>
          <p:nvPr/>
        </p:nvSpPr>
        <p:spPr>
          <a:xfrm>
            <a:off x="6859041" y="9865122"/>
            <a:ext cx="4171566"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Thời gian truy xuất chậm</a:t>
            </a:r>
            <a:endParaRPr lang="en-US" sz="2400" b="1" dirty="0">
              <a:latin typeface="Arial" panose="020B0604020202020204" pitchFamily="34" charset="0"/>
              <a:cs typeface="Arial" panose="020B0604020202020204" pitchFamily="34" charset="0"/>
            </a:endParaRPr>
          </a:p>
        </p:txBody>
      </p:sp>
      <p:sp>
        <p:nvSpPr>
          <p:cNvPr id="22" name="Freeform: Shape 21">
            <a:extLst>
              <a:ext uri="{FF2B5EF4-FFF2-40B4-BE49-F238E27FC236}">
                <a16:creationId xmlns:a16="http://schemas.microsoft.com/office/drawing/2014/main" id="{967FB9AD-A26E-82F8-EC3E-198EA9782165}"/>
              </a:ext>
            </a:extLst>
          </p:cNvPr>
          <p:cNvSpPr/>
          <p:nvPr/>
        </p:nvSpPr>
        <p:spPr>
          <a:xfrm>
            <a:off x="6859041" y="8402617"/>
            <a:ext cx="4171564" cy="846528"/>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vi-VN" sz="2400" b="1">
                <a:latin typeface="Arial" panose="020B0604020202020204" pitchFamily="34" charset="0"/>
                <a:cs typeface="Arial" panose="020B0604020202020204" pitchFamily="34" charset="0"/>
              </a:rPr>
              <a:t>Khó khăn trong việc tối ưu hoá</a:t>
            </a:r>
            <a:endParaRPr lang="en-US" sz="2400" b="1" dirty="0">
              <a:latin typeface="Arial" panose="020B0604020202020204" pitchFamily="34" charset="0"/>
              <a:cs typeface="Arial" panose="020B0604020202020204" pitchFamily="34" charset="0"/>
            </a:endParaRPr>
          </a:p>
        </p:txBody>
      </p:sp>
      <p:sp>
        <p:nvSpPr>
          <p:cNvPr id="23" name="Freeform: Shape 22">
            <a:extLst>
              <a:ext uri="{FF2B5EF4-FFF2-40B4-BE49-F238E27FC236}">
                <a16:creationId xmlns:a16="http://schemas.microsoft.com/office/drawing/2014/main" id="{8DE6CBF4-93DC-1CA5-9F80-F79EE6CBE3AF}"/>
              </a:ext>
            </a:extLst>
          </p:cNvPr>
          <p:cNvSpPr/>
          <p:nvPr/>
        </p:nvSpPr>
        <p:spPr>
          <a:xfrm>
            <a:off x="1924435" y="8293638"/>
            <a:ext cx="4171565" cy="1318117"/>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marL="0" lvl="0" indent="0" algn="ctr" defTabSz="914400" rtl="0" eaLnBrk="1" latinLnBrk="0" hangingPunct="1">
              <a:lnSpc>
                <a:spcPct val="90000"/>
              </a:lnSpc>
              <a:spcBef>
                <a:spcPct val="0"/>
              </a:spcBef>
              <a:spcAft>
                <a:spcPct val="35000"/>
              </a:spcAft>
              <a:buNone/>
            </a:pPr>
            <a:r>
              <a:rPr lang="vi-VN" sz="2400" b="1" kern="1200">
                <a:solidFill>
                  <a:schemeClr val="lt1"/>
                </a:solidFill>
                <a:latin typeface="Arial" panose="020B0604020202020204" pitchFamily="34" charset="0"/>
                <a:cs typeface="Arial" panose="020B0604020202020204" pitchFamily="34" charset="0"/>
              </a:rPr>
              <a:t>Không hiệu quả đối với các chương trình không có cấu trúc lặp lại</a:t>
            </a:r>
            <a:endParaRPr lang="en-US" sz="2400" b="1" kern="1200" dirty="0">
              <a:solidFill>
                <a:schemeClr val="lt1"/>
              </a:solidFill>
              <a:latin typeface="Arial" panose="020B0604020202020204" pitchFamily="34" charset="0"/>
              <a:cs typeface="Arial" panose="020B0604020202020204" pitchFamily="34" charset="0"/>
            </a:endParaRPr>
          </a:p>
        </p:txBody>
      </p:sp>
      <p:sp>
        <p:nvSpPr>
          <p:cNvPr id="24" name="Freeform: Shape 23">
            <a:extLst>
              <a:ext uri="{FF2B5EF4-FFF2-40B4-BE49-F238E27FC236}">
                <a16:creationId xmlns:a16="http://schemas.microsoft.com/office/drawing/2014/main" id="{46C78A2D-28D9-5C57-3777-24A0D7C8160C}"/>
              </a:ext>
            </a:extLst>
          </p:cNvPr>
          <p:cNvSpPr/>
          <p:nvPr/>
        </p:nvSpPr>
        <p:spPr>
          <a:xfrm>
            <a:off x="1924434" y="12321869"/>
            <a:ext cx="4171566"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Tăng độ phức tạp của hệ thống</a:t>
            </a:r>
            <a:endParaRPr lang="en-US" sz="2400" b="1" dirty="0">
              <a:latin typeface="Arial" panose="020B0604020202020204" pitchFamily="34" charset="0"/>
              <a:cs typeface="Arial" panose="020B0604020202020204" pitchFamily="34" charset="0"/>
            </a:endParaRPr>
          </a:p>
        </p:txBody>
      </p:sp>
      <p:sp>
        <p:nvSpPr>
          <p:cNvPr id="25" name="Freeform: Shape 24">
            <a:extLst>
              <a:ext uri="{FF2B5EF4-FFF2-40B4-BE49-F238E27FC236}">
                <a16:creationId xmlns:a16="http://schemas.microsoft.com/office/drawing/2014/main" id="{7FEB3E6B-0B60-E4BE-2628-D8BF46A58003}"/>
              </a:ext>
            </a:extLst>
          </p:cNvPr>
          <p:cNvSpPr/>
          <p:nvPr/>
        </p:nvSpPr>
        <p:spPr>
          <a:xfrm>
            <a:off x="1924434" y="10474092"/>
            <a:ext cx="4171566"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vi-VN" sz="2400" b="1">
                <a:latin typeface="Arial" panose="020B0604020202020204" pitchFamily="34" charset="0"/>
                <a:cs typeface="Arial" panose="020B0604020202020204" pitchFamily="34" charset="0"/>
              </a:rPr>
              <a:t>Khó điều chỉnh và tối ưu</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9119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8A4AAA5D-187C-4444-7860-36D20626760E}"/>
              </a:ext>
            </a:extLst>
          </p:cNvPr>
          <p:cNvSpPr/>
          <p:nvPr/>
        </p:nvSpPr>
        <p:spPr>
          <a:xfrm>
            <a:off x="1924434" y="-6621143"/>
            <a:ext cx="4171566"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marL="0" lvl="0" indent="0" algn="ctr" defTabSz="914400" rtl="0" eaLnBrk="1" latinLnBrk="0" hangingPunct="1">
              <a:lnSpc>
                <a:spcPct val="90000"/>
              </a:lnSpc>
              <a:spcBef>
                <a:spcPct val="0"/>
              </a:spcBef>
              <a:spcAft>
                <a:spcPct val="35000"/>
              </a:spcAft>
              <a:buNone/>
            </a:pPr>
            <a:r>
              <a:rPr lang="vi-VN" sz="2400" b="1" kern="1200" dirty="0">
                <a:solidFill>
                  <a:schemeClr val="lt1"/>
                </a:solidFill>
                <a:latin typeface="+mn-lt"/>
                <a:ea typeface="+mn-ea"/>
                <a:cs typeface="+mn-cs"/>
              </a:rPr>
              <a:t>Giảm thiểu số lượng truy cập vào bộ nhớ chính</a:t>
            </a:r>
            <a:endParaRPr lang="en-US" sz="2400" b="1" kern="1200" dirty="0">
              <a:solidFill>
                <a:schemeClr val="lt1"/>
              </a:solidFill>
              <a:latin typeface="+mn-lt"/>
              <a:ea typeface="+mn-ea"/>
              <a:cs typeface="+mn-cs"/>
            </a:endParaRPr>
          </a:p>
        </p:txBody>
      </p:sp>
      <p:sp>
        <p:nvSpPr>
          <p:cNvPr id="11" name="Freeform: Shape 10">
            <a:extLst>
              <a:ext uri="{FF2B5EF4-FFF2-40B4-BE49-F238E27FC236}">
                <a16:creationId xmlns:a16="http://schemas.microsoft.com/office/drawing/2014/main" id="{3E310174-C2B4-49E8-B412-6DE1FA35111E}"/>
              </a:ext>
            </a:extLst>
          </p:cNvPr>
          <p:cNvSpPr/>
          <p:nvPr/>
        </p:nvSpPr>
        <p:spPr>
          <a:xfrm>
            <a:off x="1924434" y="-4316924"/>
            <a:ext cx="4171566"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Tăng hiệu suất của các</a:t>
            </a:r>
            <a:r>
              <a:rPr lang="en-US" sz="2400" b="1" dirty="0">
                <a:latin typeface="Arial" panose="020B0604020202020204" pitchFamily="34" charset="0"/>
                <a:cs typeface="Arial" panose="020B0604020202020204" pitchFamily="34" charset="0"/>
              </a:rPr>
              <a:t> </a:t>
            </a:r>
            <a:r>
              <a:rPr lang="en-US" sz="2400" b="1">
                <a:latin typeface="Arial" panose="020B0604020202020204" pitchFamily="34" charset="0"/>
                <a:cs typeface="Arial" panose="020B0604020202020204" pitchFamily="34" charset="0"/>
              </a:rPr>
              <a:t>vi xử lý</a:t>
            </a:r>
            <a:r>
              <a:rPr lang="en-US" sz="2400" b="1" dirty="0">
                <a:latin typeface="Arial" panose="020B0604020202020204" pitchFamily="34" charset="0"/>
                <a:cs typeface="Arial" panose="020B0604020202020204" pitchFamily="34" charset="0"/>
              </a:rPr>
              <a:t> </a:t>
            </a:r>
            <a:r>
              <a:rPr lang="en-US" sz="2400" b="1">
                <a:latin typeface="Arial" panose="020B0604020202020204" pitchFamily="34" charset="0"/>
                <a:cs typeface="Arial" panose="020B0604020202020204" pitchFamily="34" charset="0"/>
              </a:rPr>
              <a:t>Superscalar hoặc VLIW</a:t>
            </a:r>
            <a:endParaRPr lang="en-US" sz="2400" b="1" dirty="0">
              <a:latin typeface="Arial" panose="020B0604020202020204" pitchFamily="34" charset="0"/>
              <a:cs typeface="Arial" panose="020B0604020202020204" pitchFamily="34" charset="0"/>
            </a:endParaRPr>
          </a:p>
        </p:txBody>
      </p:sp>
      <p:sp>
        <p:nvSpPr>
          <p:cNvPr id="12" name="Freeform: Shape 11">
            <a:extLst>
              <a:ext uri="{FF2B5EF4-FFF2-40B4-BE49-F238E27FC236}">
                <a16:creationId xmlns:a16="http://schemas.microsoft.com/office/drawing/2014/main" id="{D01E37F5-FD77-106F-845D-19F33EAF753B}"/>
              </a:ext>
            </a:extLst>
          </p:cNvPr>
          <p:cNvSpPr/>
          <p:nvPr/>
        </p:nvSpPr>
        <p:spPr>
          <a:xfrm>
            <a:off x="8027797" y="-4165935"/>
            <a:ext cx="2468890" cy="846528"/>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Giảm độ trễ</a:t>
            </a:r>
            <a:endParaRPr lang="en-US" sz="2400" b="1" dirty="0">
              <a:latin typeface="Arial" panose="020B0604020202020204" pitchFamily="34" charset="0"/>
              <a:cs typeface="Arial" panose="020B0604020202020204" pitchFamily="34" charset="0"/>
            </a:endParaRPr>
          </a:p>
        </p:txBody>
      </p:sp>
      <p:sp>
        <p:nvSpPr>
          <p:cNvPr id="13" name="Freeform: Shape 12">
            <a:extLst>
              <a:ext uri="{FF2B5EF4-FFF2-40B4-BE49-F238E27FC236}">
                <a16:creationId xmlns:a16="http://schemas.microsoft.com/office/drawing/2014/main" id="{9037C895-1E9B-4A79-E03D-F36B8E354E97}"/>
              </a:ext>
            </a:extLst>
          </p:cNvPr>
          <p:cNvSpPr/>
          <p:nvPr/>
        </p:nvSpPr>
        <p:spPr>
          <a:xfrm>
            <a:off x="8027797" y="-1917371"/>
            <a:ext cx="2468890" cy="846528"/>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Tăng khả năng dự đoán nhánh</a:t>
            </a:r>
            <a:endParaRPr lang="en-US" sz="2400" b="1" dirty="0">
              <a:latin typeface="Arial" panose="020B0604020202020204" pitchFamily="34" charset="0"/>
              <a:cs typeface="Arial" panose="020B0604020202020204" pitchFamily="34" charset="0"/>
            </a:endParaRPr>
          </a:p>
        </p:txBody>
      </p:sp>
      <p:sp>
        <p:nvSpPr>
          <p:cNvPr id="14" name="Freeform: Shape 13">
            <a:extLst>
              <a:ext uri="{FF2B5EF4-FFF2-40B4-BE49-F238E27FC236}">
                <a16:creationId xmlns:a16="http://schemas.microsoft.com/office/drawing/2014/main" id="{B68BF8F2-45B8-4E5E-2222-6CB815E3196E}"/>
              </a:ext>
            </a:extLst>
          </p:cNvPr>
          <p:cNvSpPr/>
          <p:nvPr/>
        </p:nvSpPr>
        <p:spPr>
          <a:xfrm>
            <a:off x="8027797" y="-5290217"/>
            <a:ext cx="2468890" cy="846528"/>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Giảm</a:t>
            </a:r>
            <a:r>
              <a:rPr lang="en-US" sz="2400" b="1" dirty="0">
                <a:latin typeface="Arial" panose="020B0604020202020204" pitchFamily="34" charset="0"/>
                <a:cs typeface="Arial" panose="020B0604020202020204" pitchFamily="34" charset="0"/>
              </a:rPr>
              <a:t> </a:t>
            </a:r>
            <a:r>
              <a:rPr lang="en-US" sz="2400" b="1">
                <a:latin typeface="Arial" panose="020B0604020202020204" pitchFamily="34" charset="0"/>
                <a:cs typeface="Arial" panose="020B0604020202020204" pitchFamily="34" charset="0"/>
              </a:rPr>
              <a:t>chi phí sản xuất</a:t>
            </a:r>
            <a:endParaRPr lang="en-US" sz="2400" b="1" dirty="0">
              <a:latin typeface="Arial" panose="020B0604020202020204" pitchFamily="34" charset="0"/>
              <a:cs typeface="Arial" panose="020B0604020202020204" pitchFamily="34" charset="0"/>
            </a:endParaRPr>
          </a:p>
        </p:txBody>
      </p:sp>
      <p:sp>
        <p:nvSpPr>
          <p:cNvPr id="15" name="Freeform: Shape 14">
            <a:extLst>
              <a:ext uri="{FF2B5EF4-FFF2-40B4-BE49-F238E27FC236}">
                <a16:creationId xmlns:a16="http://schemas.microsoft.com/office/drawing/2014/main" id="{EAB540AF-3630-74AB-3575-E6C54E851349}"/>
              </a:ext>
            </a:extLst>
          </p:cNvPr>
          <p:cNvSpPr/>
          <p:nvPr/>
        </p:nvSpPr>
        <p:spPr>
          <a:xfrm>
            <a:off x="1924435" y="-5469033"/>
            <a:ext cx="4171565"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marL="0" lvl="0" indent="0" algn="ctr" defTabSz="914400" rtl="0" eaLnBrk="1" latinLnBrk="0" hangingPunct="1">
              <a:lnSpc>
                <a:spcPct val="90000"/>
              </a:lnSpc>
              <a:spcBef>
                <a:spcPct val="0"/>
              </a:spcBef>
              <a:spcAft>
                <a:spcPct val="35000"/>
              </a:spcAft>
              <a:buNone/>
            </a:pPr>
            <a:r>
              <a:rPr lang="en-US" sz="2400" b="1" kern="1200" dirty="0" err="1">
                <a:solidFill>
                  <a:schemeClr val="lt1"/>
                </a:solidFill>
                <a:latin typeface="Arial" panose="020B0604020202020204" pitchFamily="34" charset="0"/>
                <a:cs typeface="Arial" panose="020B0604020202020204" pitchFamily="34" charset="0"/>
              </a:rPr>
              <a:t>Tăng</a:t>
            </a:r>
            <a:r>
              <a:rPr lang="en-US" sz="2400" b="1" kern="1200" dirty="0">
                <a:solidFill>
                  <a:schemeClr val="lt1"/>
                </a:solidFill>
                <a:latin typeface="Arial" panose="020B0604020202020204" pitchFamily="34" charset="0"/>
                <a:cs typeface="Arial" panose="020B0604020202020204" pitchFamily="34" charset="0"/>
              </a:rPr>
              <a:t> </a:t>
            </a:r>
            <a:r>
              <a:rPr lang="en-US" sz="2400" b="1" kern="1200" dirty="0" err="1">
                <a:solidFill>
                  <a:schemeClr val="lt1"/>
                </a:solidFill>
                <a:latin typeface="Arial" panose="020B0604020202020204" pitchFamily="34" charset="0"/>
                <a:cs typeface="Arial" panose="020B0604020202020204" pitchFamily="34" charset="0"/>
              </a:rPr>
              <a:t>hiệu</a:t>
            </a:r>
            <a:r>
              <a:rPr lang="en-US" sz="2400" b="1" kern="1200" dirty="0">
                <a:solidFill>
                  <a:schemeClr val="lt1"/>
                </a:solidFill>
                <a:latin typeface="Arial" panose="020B0604020202020204" pitchFamily="34" charset="0"/>
                <a:cs typeface="Arial" panose="020B0604020202020204" pitchFamily="34" charset="0"/>
              </a:rPr>
              <a:t> </a:t>
            </a:r>
            <a:r>
              <a:rPr lang="en-US" sz="2400" b="1" kern="1200" dirty="0" err="1">
                <a:solidFill>
                  <a:schemeClr val="lt1"/>
                </a:solidFill>
                <a:latin typeface="Arial" panose="020B0604020202020204" pitchFamily="34" charset="0"/>
                <a:cs typeface="Arial" panose="020B0604020202020204" pitchFamily="34" charset="0"/>
              </a:rPr>
              <a:t>suất</a:t>
            </a:r>
            <a:r>
              <a:rPr lang="en-US" sz="2400" b="1" kern="1200" dirty="0">
                <a:solidFill>
                  <a:schemeClr val="lt1"/>
                </a:solidFill>
                <a:latin typeface="Arial" panose="020B0604020202020204" pitchFamily="34" charset="0"/>
                <a:cs typeface="Arial" panose="020B0604020202020204" pitchFamily="34" charset="0"/>
              </a:rPr>
              <a:t> </a:t>
            </a:r>
            <a:r>
              <a:rPr lang="en-US" sz="2400" b="1" kern="1200" dirty="0" err="1">
                <a:solidFill>
                  <a:schemeClr val="lt1"/>
                </a:solidFill>
                <a:latin typeface="Arial" panose="020B0604020202020204" pitchFamily="34" charset="0"/>
                <a:cs typeface="Arial" panose="020B0604020202020204" pitchFamily="34" charset="0"/>
              </a:rPr>
              <a:t>của</a:t>
            </a:r>
            <a:r>
              <a:rPr lang="en-US" sz="2400" b="1" kern="1200" dirty="0">
                <a:solidFill>
                  <a:schemeClr val="lt1"/>
                </a:solidFill>
                <a:latin typeface="Arial" panose="020B0604020202020204" pitchFamily="34" charset="0"/>
                <a:cs typeface="Arial" panose="020B0604020202020204" pitchFamily="34" charset="0"/>
              </a:rPr>
              <a:t> </a:t>
            </a:r>
            <a:r>
              <a:rPr lang="en-US" sz="2400" b="1" kern="1200" dirty="0" err="1">
                <a:solidFill>
                  <a:schemeClr val="lt1"/>
                </a:solidFill>
                <a:latin typeface="Arial" panose="020B0604020202020204" pitchFamily="34" charset="0"/>
                <a:cs typeface="Arial" panose="020B0604020202020204" pitchFamily="34" charset="0"/>
              </a:rPr>
              <a:t>các</a:t>
            </a:r>
            <a:r>
              <a:rPr lang="en-US" sz="2400" b="1" kern="1200" dirty="0">
                <a:solidFill>
                  <a:schemeClr val="lt1"/>
                </a:solidFill>
                <a:latin typeface="Arial" panose="020B0604020202020204" pitchFamily="34" charset="0"/>
                <a:cs typeface="Arial" panose="020B0604020202020204" pitchFamily="34" charset="0"/>
              </a:rPr>
              <a:t> </a:t>
            </a:r>
            <a:r>
              <a:rPr lang="en-US" sz="2400" b="1" kern="1200" dirty="0" err="1">
                <a:solidFill>
                  <a:schemeClr val="lt1"/>
                </a:solidFill>
                <a:latin typeface="Arial" panose="020B0604020202020204" pitchFamily="34" charset="0"/>
                <a:cs typeface="Arial" panose="020B0604020202020204" pitchFamily="34" charset="0"/>
              </a:rPr>
              <a:t>ứng</a:t>
            </a:r>
            <a:r>
              <a:rPr lang="en-US" sz="2400" b="1" kern="1200" dirty="0">
                <a:solidFill>
                  <a:schemeClr val="lt1"/>
                </a:solidFill>
                <a:latin typeface="Arial" panose="020B0604020202020204" pitchFamily="34" charset="0"/>
                <a:cs typeface="Arial" panose="020B0604020202020204" pitchFamily="34" charset="0"/>
              </a:rPr>
              <a:t> </a:t>
            </a:r>
            <a:r>
              <a:rPr lang="en-US" sz="2400" b="1" kern="1200" dirty="0" err="1">
                <a:solidFill>
                  <a:schemeClr val="lt1"/>
                </a:solidFill>
                <a:latin typeface="Arial" panose="020B0604020202020204" pitchFamily="34" charset="0"/>
                <a:cs typeface="Arial" panose="020B0604020202020204" pitchFamily="34" charset="0"/>
              </a:rPr>
              <a:t>dụng</a:t>
            </a:r>
            <a:r>
              <a:rPr lang="en-US" sz="2400" b="1" kern="1200" dirty="0">
                <a:solidFill>
                  <a:schemeClr val="lt1"/>
                </a:solidFill>
                <a:latin typeface="Arial" panose="020B0604020202020204" pitchFamily="34" charset="0"/>
                <a:cs typeface="Arial" panose="020B0604020202020204" pitchFamily="34" charset="0"/>
              </a:rPr>
              <a:t> </a:t>
            </a:r>
            <a:r>
              <a:rPr lang="en-US" sz="2400" b="1" kern="1200" dirty="0" err="1">
                <a:solidFill>
                  <a:schemeClr val="lt1"/>
                </a:solidFill>
                <a:latin typeface="Arial" panose="020B0604020202020204" pitchFamily="34" charset="0"/>
                <a:cs typeface="Arial" panose="020B0604020202020204" pitchFamily="34" charset="0"/>
              </a:rPr>
              <a:t>đa</a:t>
            </a:r>
            <a:r>
              <a:rPr lang="en-US" sz="2400" b="1" kern="1200" dirty="0">
                <a:solidFill>
                  <a:schemeClr val="lt1"/>
                </a:solidFill>
                <a:latin typeface="Arial" panose="020B0604020202020204" pitchFamily="34" charset="0"/>
                <a:cs typeface="Arial" panose="020B0604020202020204" pitchFamily="34" charset="0"/>
              </a:rPr>
              <a:t> </a:t>
            </a:r>
            <a:r>
              <a:rPr lang="en-US" sz="2400" b="1" kern="1200" dirty="0" err="1">
                <a:solidFill>
                  <a:schemeClr val="lt1"/>
                </a:solidFill>
                <a:latin typeface="Arial" panose="020B0604020202020204" pitchFamily="34" charset="0"/>
                <a:cs typeface="Arial" panose="020B0604020202020204" pitchFamily="34" charset="0"/>
              </a:rPr>
              <a:t>luồng</a:t>
            </a:r>
            <a:endParaRPr lang="en-US" sz="2400" b="1" kern="1200" dirty="0">
              <a:solidFill>
                <a:schemeClr val="lt1"/>
              </a:solidFill>
              <a:latin typeface="Arial" panose="020B0604020202020204" pitchFamily="34" charset="0"/>
              <a:cs typeface="Arial" panose="020B0604020202020204" pitchFamily="34" charset="0"/>
            </a:endParaRPr>
          </a:p>
        </p:txBody>
      </p:sp>
      <p:sp>
        <p:nvSpPr>
          <p:cNvPr id="16" name="Freeform: Shape 15">
            <a:extLst>
              <a:ext uri="{FF2B5EF4-FFF2-40B4-BE49-F238E27FC236}">
                <a16:creationId xmlns:a16="http://schemas.microsoft.com/office/drawing/2014/main" id="{526F51F3-F6A3-8100-AB64-20A1098B7BAF}"/>
              </a:ext>
            </a:extLst>
          </p:cNvPr>
          <p:cNvSpPr/>
          <p:nvPr/>
        </p:nvSpPr>
        <p:spPr>
          <a:xfrm>
            <a:off x="1924434" y="-2056283"/>
            <a:ext cx="4171566"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Giảm độ trễ khi thực thi lệnh nhảy</a:t>
            </a:r>
            <a:endParaRPr lang="en-US" sz="2400" b="1" dirty="0">
              <a:latin typeface="Arial" panose="020B0604020202020204" pitchFamily="34" charset="0"/>
              <a:cs typeface="Arial" panose="020B0604020202020204" pitchFamily="34" charset="0"/>
            </a:endParaRPr>
          </a:p>
        </p:txBody>
      </p:sp>
      <p:sp>
        <p:nvSpPr>
          <p:cNvPr id="17" name="Freeform: Shape 16">
            <a:extLst>
              <a:ext uri="{FF2B5EF4-FFF2-40B4-BE49-F238E27FC236}">
                <a16:creationId xmlns:a16="http://schemas.microsoft.com/office/drawing/2014/main" id="{A8B3D523-FF0B-358B-CD8D-DF07A56BF2EC}"/>
              </a:ext>
            </a:extLst>
          </p:cNvPr>
          <p:cNvSpPr/>
          <p:nvPr/>
        </p:nvSpPr>
        <p:spPr>
          <a:xfrm>
            <a:off x="1924434" y="-3164814"/>
            <a:ext cx="4171566"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Tăng hiệu suất của các ứng dụng có tính chất lặp lại cao</a:t>
            </a:r>
            <a:endParaRPr lang="en-US" sz="2400" b="1" dirty="0">
              <a:latin typeface="Arial" panose="020B0604020202020204" pitchFamily="34" charset="0"/>
              <a:cs typeface="Arial" panose="020B0604020202020204" pitchFamily="34" charset="0"/>
            </a:endParaRPr>
          </a:p>
        </p:txBody>
      </p:sp>
      <p:sp>
        <p:nvSpPr>
          <p:cNvPr id="18" name="Freeform: Shape 17">
            <a:extLst>
              <a:ext uri="{FF2B5EF4-FFF2-40B4-BE49-F238E27FC236}">
                <a16:creationId xmlns:a16="http://schemas.microsoft.com/office/drawing/2014/main" id="{E983BE4B-99AF-0DA9-FF61-C0E1AF3B4EA7}"/>
              </a:ext>
            </a:extLst>
          </p:cNvPr>
          <p:cNvSpPr/>
          <p:nvPr/>
        </p:nvSpPr>
        <p:spPr>
          <a:xfrm>
            <a:off x="8027797" y="-3041653"/>
            <a:ext cx="2468890" cy="846528"/>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Tăng khả năng tùy chỉnh</a:t>
            </a:r>
            <a:endParaRPr lang="en-US" sz="2400" b="1"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B62B41C0-7445-D787-877B-236F034B0B00}"/>
              </a:ext>
            </a:extLst>
          </p:cNvPr>
          <p:cNvSpPr txBox="1"/>
          <p:nvPr/>
        </p:nvSpPr>
        <p:spPr>
          <a:xfrm>
            <a:off x="8425964" y="-6913531"/>
            <a:ext cx="2199994"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Mặt lợi</a:t>
            </a:r>
          </a:p>
        </p:txBody>
      </p:sp>
      <p:sp>
        <p:nvSpPr>
          <p:cNvPr id="2" name="Freeform: Shape 1">
            <a:extLst>
              <a:ext uri="{FF2B5EF4-FFF2-40B4-BE49-F238E27FC236}">
                <a16:creationId xmlns:a16="http://schemas.microsoft.com/office/drawing/2014/main" id="{9E3F6515-34D8-1D1D-706E-C7F6BFD3F88E}"/>
              </a:ext>
            </a:extLst>
          </p:cNvPr>
          <p:cNvSpPr/>
          <p:nvPr/>
        </p:nvSpPr>
        <p:spPr>
          <a:xfrm>
            <a:off x="6859041" y="4435118"/>
            <a:ext cx="4171566"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marL="0" lvl="0" indent="0" algn="ctr" defTabSz="914400" rtl="0" eaLnBrk="1" latinLnBrk="0" hangingPunct="1">
              <a:lnSpc>
                <a:spcPct val="90000"/>
              </a:lnSpc>
              <a:spcBef>
                <a:spcPct val="0"/>
              </a:spcBef>
              <a:spcAft>
                <a:spcPct val="35000"/>
              </a:spcAft>
              <a:buNone/>
            </a:pPr>
            <a:r>
              <a:rPr lang="vi-VN" sz="2400" b="1" kern="1200">
                <a:solidFill>
                  <a:schemeClr val="lt1"/>
                </a:solidFill>
                <a:latin typeface="+mn-lt"/>
                <a:ea typeface="+mn-ea"/>
                <a:cs typeface="+mn-cs"/>
              </a:rPr>
              <a:t>Sử dụng nhiều bộ nhớ cache</a:t>
            </a:r>
            <a:endParaRPr lang="en-US" sz="2400" b="1" kern="1200" dirty="0">
              <a:solidFill>
                <a:schemeClr val="lt1"/>
              </a:solidFill>
              <a:latin typeface="+mn-lt"/>
              <a:ea typeface="+mn-ea"/>
              <a:cs typeface="+mn-cs"/>
            </a:endParaRPr>
          </a:p>
        </p:txBody>
      </p:sp>
      <p:sp>
        <p:nvSpPr>
          <p:cNvPr id="3" name="Freeform: Shape 2">
            <a:extLst>
              <a:ext uri="{FF2B5EF4-FFF2-40B4-BE49-F238E27FC236}">
                <a16:creationId xmlns:a16="http://schemas.microsoft.com/office/drawing/2014/main" id="{8242A67D-54C6-F9DE-05A0-73503A1F4FFF}"/>
              </a:ext>
            </a:extLst>
          </p:cNvPr>
          <p:cNvSpPr/>
          <p:nvPr/>
        </p:nvSpPr>
        <p:spPr>
          <a:xfrm>
            <a:off x="6859041" y="2833701"/>
            <a:ext cx="4171566"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Thời gian truy xuất chậm</a:t>
            </a:r>
            <a:endParaRPr lang="en-US" sz="2400" b="1" dirty="0">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2CCFFB06-0862-5E1C-95C4-C18327D801D1}"/>
              </a:ext>
            </a:extLst>
          </p:cNvPr>
          <p:cNvSpPr/>
          <p:nvPr/>
        </p:nvSpPr>
        <p:spPr>
          <a:xfrm>
            <a:off x="6859041" y="1371196"/>
            <a:ext cx="4171564" cy="846528"/>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vi-VN" sz="2400" b="1">
                <a:latin typeface="Arial" panose="020B0604020202020204" pitchFamily="34" charset="0"/>
                <a:cs typeface="Arial" panose="020B0604020202020204" pitchFamily="34" charset="0"/>
              </a:rPr>
              <a:t>Khó khăn trong việc tối ưu hoá</a:t>
            </a:r>
            <a:endParaRPr lang="en-US" sz="2400" b="1" dirty="0">
              <a:latin typeface="Arial" panose="020B0604020202020204" pitchFamily="34" charset="0"/>
              <a:cs typeface="Arial" panose="020B0604020202020204" pitchFamily="34" charset="0"/>
            </a:endParaRPr>
          </a:p>
        </p:txBody>
      </p:sp>
      <p:sp>
        <p:nvSpPr>
          <p:cNvPr id="8" name="Freeform: Shape 7">
            <a:extLst>
              <a:ext uri="{FF2B5EF4-FFF2-40B4-BE49-F238E27FC236}">
                <a16:creationId xmlns:a16="http://schemas.microsoft.com/office/drawing/2014/main" id="{A4EB1BBF-D5E5-9ED5-B58B-4606E65E1452}"/>
              </a:ext>
            </a:extLst>
          </p:cNvPr>
          <p:cNvSpPr/>
          <p:nvPr/>
        </p:nvSpPr>
        <p:spPr>
          <a:xfrm>
            <a:off x="1924435" y="1262217"/>
            <a:ext cx="4171565" cy="1318117"/>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marL="0" lvl="0" indent="0" algn="ctr" defTabSz="914400" rtl="0" eaLnBrk="1" latinLnBrk="0" hangingPunct="1">
              <a:lnSpc>
                <a:spcPct val="90000"/>
              </a:lnSpc>
              <a:spcBef>
                <a:spcPct val="0"/>
              </a:spcBef>
              <a:spcAft>
                <a:spcPct val="35000"/>
              </a:spcAft>
              <a:buNone/>
            </a:pPr>
            <a:r>
              <a:rPr lang="vi-VN" sz="2400" b="1" kern="1200">
                <a:solidFill>
                  <a:schemeClr val="lt1"/>
                </a:solidFill>
                <a:latin typeface="Arial" panose="020B0604020202020204" pitchFamily="34" charset="0"/>
                <a:cs typeface="Arial" panose="020B0604020202020204" pitchFamily="34" charset="0"/>
              </a:rPr>
              <a:t>Không hiệu quả đối với các chương trình không có cấu trúc lặp lại</a:t>
            </a:r>
            <a:endParaRPr lang="en-US" sz="2400" b="1" kern="1200" dirty="0">
              <a:solidFill>
                <a:schemeClr val="lt1"/>
              </a:solidFill>
              <a:latin typeface="Arial" panose="020B0604020202020204" pitchFamily="34" charset="0"/>
              <a:cs typeface="Arial" panose="020B0604020202020204" pitchFamily="34" charset="0"/>
            </a:endParaRPr>
          </a:p>
        </p:txBody>
      </p:sp>
      <p:sp>
        <p:nvSpPr>
          <p:cNvPr id="9" name="Freeform: Shape 8">
            <a:extLst>
              <a:ext uri="{FF2B5EF4-FFF2-40B4-BE49-F238E27FC236}">
                <a16:creationId xmlns:a16="http://schemas.microsoft.com/office/drawing/2014/main" id="{2377E817-DB86-5767-3C4D-A2F09921FE5B}"/>
              </a:ext>
            </a:extLst>
          </p:cNvPr>
          <p:cNvSpPr/>
          <p:nvPr/>
        </p:nvSpPr>
        <p:spPr>
          <a:xfrm>
            <a:off x="1924434" y="5290448"/>
            <a:ext cx="4171566"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Tăng độ phức tạp của hệ thống</a:t>
            </a:r>
            <a:endParaRPr lang="en-US" sz="2400" b="1" dirty="0">
              <a:latin typeface="Arial" panose="020B0604020202020204" pitchFamily="34" charset="0"/>
              <a:cs typeface="Arial" panose="020B0604020202020204" pitchFamily="34" charset="0"/>
            </a:endParaRPr>
          </a:p>
        </p:txBody>
      </p:sp>
      <p:sp>
        <p:nvSpPr>
          <p:cNvPr id="20" name="Freeform: Shape 19">
            <a:extLst>
              <a:ext uri="{FF2B5EF4-FFF2-40B4-BE49-F238E27FC236}">
                <a16:creationId xmlns:a16="http://schemas.microsoft.com/office/drawing/2014/main" id="{DFA3B286-9FBD-CE67-E805-B70291413868}"/>
              </a:ext>
            </a:extLst>
          </p:cNvPr>
          <p:cNvSpPr/>
          <p:nvPr/>
        </p:nvSpPr>
        <p:spPr>
          <a:xfrm>
            <a:off x="1924434" y="3442671"/>
            <a:ext cx="4171566"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vi-VN" sz="2400" b="1">
                <a:latin typeface="Arial" panose="020B0604020202020204" pitchFamily="34" charset="0"/>
                <a:cs typeface="Arial" panose="020B0604020202020204" pitchFamily="34" charset="0"/>
              </a:rPr>
              <a:t>Khó điều chỉnh và tối ưu</a:t>
            </a:r>
            <a:endParaRPr lang="en-US" sz="2400" b="1" dirty="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03AAA38F-7FF0-2255-AFCE-22C446B13460}"/>
              </a:ext>
            </a:extLst>
          </p:cNvPr>
          <p:cNvSpPr txBox="1"/>
          <p:nvPr/>
        </p:nvSpPr>
        <p:spPr>
          <a:xfrm>
            <a:off x="8425964" y="433200"/>
            <a:ext cx="2199994"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Mặt hại</a:t>
            </a:r>
          </a:p>
        </p:txBody>
      </p:sp>
      <p:sp>
        <p:nvSpPr>
          <p:cNvPr id="23" name="Rectangle: Rounded Corners 22">
            <a:extLst>
              <a:ext uri="{FF2B5EF4-FFF2-40B4-BE49-F238E27FC236}">
                <a16:creationId xmlns:a16="http://schemas.microsoft.com/office/drawing/2014/main" id="{4C4AF9F0-6ACF-F9C1-444D-90450EF7E1DA}"/>
              </a:ext>
            </a:extLst>
          </p:cNvPr>
          <p:cNvSpPr/>
          <p:nvPr/>
        </p:nvSpPr>
        <p:spPr>
          <a:xfrm>
            <a:off x="1924434" y="8887954"/>
            <a:ext cx="8704672" cy="327522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vi-VN" sz="2800"/>
              <a:t>Nhìn chung, mặc dù Trace Cache có nhiều lợi ích trong việc cải thiện hiệu suất của bộ xử lý, nhưng cũng có một số mặt hạn chế cần được xem xét khi sử dụng. Việc lựa chọn sử dụng Trace Cache hay không phụ thuộc vào nhiều yếu tố khác nhau và cần được cân nhắc kỹ lưỡng.</a:t>
            </a:r>
            <a:endParaRPr lang="vi-VN" sz="2800" dirty="0"/>
          </a:p>
        </p:txBody>
      </p:sp>
    </p:spTree>
    <p:extLst>
      <p:ext uri="{BB962C8B-B14F-4D97-AF65-F5344CB8AC3E}">
        <p14:creationId xmlns:p14="http://schemas.microsoft.com/office/powerpoint/2010/main" val="30313034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9E3F6515-34D8-1D1D-706E-C7F6BFD3F88E}"/>
              </a:ext>
            </a:extLst>
          </p:cNvPr>
          <p:cNvSpPr/>
          <p:nvPr/>
        </p:nvSpPr>
        <p:spPr>
          <a:xfrm>
            <a:off x="6859041" y="-2911613"/>
            <a:ext cx="4171566"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marL="0" lvl="0" indent="0" algn="ctr" defTabSz="914400" rtl="0" eaLnBrk="1" latinLnBrk="0" hangingPunct="1">
              <a:lnSpc>
                <a:spcPct val="90000"/>
              </a:lnSpc>
              <a:spcBef>
                <a:spcPct val="0"/>
              </a:spcBef>
              <a:spcAft>
                <a:spcPct val="35000"/>
              </a:spcAft>
              <a:buNone/>
            </a:pPr>
            <a:r>
              <a:rPr lang="vi-VN" sz="2400" b="1" kern="1200">
                <a:solidFill>
                  <a:schemeClr val="lt1"/>
                </a:solidFill>
                <a:latin typeface="+mn-lt"/>
                <a:ea typeface="+mn-ea"/>
                <a:cs typeface="+mn-cs"/>
              </a:rPr>
              <a:t>Sử dụng nhiều bộ nhớ cache</a:t>
            </a:r>
            <a:endParaRPr lang="en-US" sz="2400" b="1" kern="1200" dirty="0">
              <a:solidFill>
                <a:schemeClr val="lt1"/>
              </a:solidFill>
              <a:latin typeface="+mn-lt"/>
              <a:ea typeface="+mn-ea"/>
              <a:cs typeface="+mn-cs"/>
            </a:endParaRPr>
          </a:p>
        </p:txBody>
      </p:sp>
      <p:sp>
        <p:nvSpPr>
          <p:cNvPr id="3" name="Freeform: Shape 2">
            <a:extLst>
              <a:ext uri="{FF2B5EF4-FFF2-40B4-BE49-F238E27FC236}">
                <a16:creationId xmlns:a16="http://schemas.microsoft.com/office/drawing/2014/main" id="{8242A67D-54C6-F9DE-05A0-73503A1F4FFF}"/>
              </a:ext>
            </a:extLst>
          </p:cNvPr>
          <p:cNvSpPr/>
          <p:nvPr/>
        </p:nvSpPr>
        <p:spPr>
          <a:xfrm>
            <a:off x="6859041" y="-4513030"/>
            <a:ext cx="4171566"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Thời gian truy xuất chậm</a:t>
            </a:r>
            <a:endParaRPr lang="en-US" sz="2400" b="1" dirty="0">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2CCFFB06-0862-5E1C-95C4-C18327D801D1}"/>
              </a:ext>
            </a:extLst>
          </p:cNvPr>
          <p:cNvSpPr/>
          <p:nvPr/>
        </p:nvSpPr>
        <p:spPr>
          <a:xfrm>
            <a:off x="6859041" y="-5975535"/>
            <a:ext cx="4171564" cy="846528"/>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vi-VN" sz="2400" b="1">
                <a:latin typeface="Arial" panose="020B0604020202020204" pitchFamily="34" charset="0"/>
                <a:cs typeface="Arial" panose="020B0604020202020204" pitchFamily="34" charset="0"/>
              </a:rPr>
              <a:t>Khó khăn trong việc tối ưu hoá</a:t>
            </a:r>
            <a:endParaRPr lang="en-US" sz="2400" b="1" dirty="0">
              <a:latin typeface="Arial" panose="020B0604020202020204" pitchFamily="34" charset="0"/>
              <a:cs typeface="Arial" panose="020B0604020202020204" pitchFamily="34" charset="0"/>
            </a:endParaRPr>
          </a:p>
        </p:txBody>
      </p:sp>
      <p:sp>
        <p:nvSpPr>
          <p:cNvPr id="8" name="Freeform: Shape 7">
            <a:extLst>
              <a:ext uri="{FF2B5EF4-FFF2-40B4-BE49-F238E27FC236}">
                <a16:creationId xmlns:a16="http://schemas.microsoft.com/office/drawing/2014/main" id="{A4EB1BBF-D5E5-9ED5-B58B-4606E65E1452}"/>
              </a:ext>
            </a:extLst>
          </p:cNvPr>
          <p:cNvSpPr/>
          <p:nvPr/>
        </p:nvSpPr>
        <p:spPr>
          <a:xfrm>
            <a:off x="1924435" y="-6084514"/>
            <a:ext cx="4171565" cy="1318117"/>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marL="0" lvl="0" indent="0" algn="ctr" defTabSz="914400" rtl="0" eaLnBrk="1" latinLnBrk="0" hangingPunct="1">
              <a:lnSpc>
                <a:spcPct val="90000"/>
              </a:lnSpc>
              <a:spcBef>
                <a:spcPct val="0"/>
              </a:spcBef>
              <a:spcAft>
                <a:spcPct val="35000"/>
              </a:spcAft>
              <a:buNone/>
            </a:pPr>
            <a:r>
              <a:rPr lang="vi-VN" sz="2400" b="1" kern="1200">
                <a:solidFill>
                  <a:schemeClr val="lt1"/>
                </a:solidFill>
                <a:latin typeface="Arial" panose="020B0604020202020204" pitchFamily="34" charset="0"/>
                <a:cs typeface="Arial" panose="020B0604020202020204" pitchFamily="34" charset="0"/>
              </a:rPr>
              <a:t>Không hiệu quả đối với các chương trình không có cấu trúc lặp lại</a:t>
            </a:r>
            <a:endParaRPr lang="en-US" sz="2400" b="1" kern="1200" dirty="0">
              <a:solidFill>
                <a:schemeClr val="lt1"/>
              </a:solidFill>
              <a:latin typeface="Arial" panose="020B0604020202020204" pitchFamily="34" charset="0"/>
              <a:cs typeface="Arial" panose="020B0604020202020204" pitchFamily="34" charset="0"/>
            </a:endParaRPr>
          </a:p>
        </p:txBody>
      </p:sp>
      <p:sp>
        <p:nvSpPr>
          <p:cNvPr id="9" name="Freeform: Shape 8">
            <a:extLst>
              <a:ext uri="{FF2B5EF4-FFF2-40B4-BE49-F238E27FC236}">
                <a16:creationId xmlns:a16="http://schemas.microsoft.com/office/drawing/2014/main" id="{2377E817-DB86-5767-3C4D-A2F09921FE5B}"/>
              </a:ext>
            </a:extLst>
          </p:cNvPr>
          <p:cNvSpPr/>
          <p:nvPr/>
        </p:nvSpPr>
        <p:spPr>
          <a:xfrm>
            <a:off x="1924434" y="-2056283"/>
            <a:ext cx="4171566"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en-US" sz="2400" b="1">
                <a:latin typeface="Arial" panose="020B0604020202020204" pitchFamily="34" charset="0"/>
                <a:cs typeface="Arial" panose="020B0604020202020204" pitchFamily="34" charset="0"/>
              </a:rPr>
              <a:t>Tăng độ phức tạp của hệ thống</a:t>
            </a:r>
            <a:endParaRPr lang="en-US" sz="2400" b="1" dirty="0">
              <a:latin typeface="Arial" panose="020B0604020202020204" pitchFamily="34" charset="0"/>
              <a:cs typeface="Arial" panose="020B0604020202020204" pitchFamily="34" charset="0"/>
            </a:endParaRPr>
          </a:p>
        </p:txBody>
      </p:sp>
      <p:sp>
        <p:nvSpPr>
          <p:cNvPr id="20" name="Freeform: Shape 19">
            <a:extLst>
              <a:ext uri="{FF2B5EF4-FFF2-40B4-BE49-F238E27FC236}">
                <a16:creationId xmlns:a16="http://schemas.microsoft.com/office/drawing/2014/main" id="{DFA3B286-9FBD-CE67-E805-B70291413868}"/>
              </a:ext>
            </a:extLst>
          </p:cNvPr>
          <p:cNvSpPr/>
          <p:nvPr/>
        </p:nvSpPr>
        <p:spPr>
          <a:xfrm>
            <a:off x="1924434" y="-3904060"/>
            <a:ext cx="4171566" cy="985440"/>
          </a:xfrm>
          <a:custGeom>
            <a:avLst/>
            <a:gdLst>
              <a:gd name="connsiteX0" fmla="*/ 0 w 7605276"/>
              <a:gd name="connsiteY0" fmla="*/ 64176 h 385048"/>
              <a:gd name="connsiteX1" fmla="*/ 64176 w 7605276"/>
              <a:gd name="connsiteY1" fmla="*/ 0 h 385048"/>
              <a:gd name="connsiteX2" fmla="*/ 7541100 w 7605276"/>
              <a:gd name="connsiteY2" fmla="*/ 0 h 385048"/>
              <a:gd name="connsiteX3" fmla="*/ 7605276 w 7605276"/>
              <a:gd name="connsiteY3" fmla="*/ 64176 h 385048"/>
              <a:gd name="connsiteX4" fmla="*/ 7605276 w 7605276"/>
              <a:gd name="connsiteY4" fmla="*/ 320872 h 385048"/>
              <a:gd name="connsiteX5" fmla="*/ 7541100 w 7605276"/>
              <a:gd name="connsiteY5" fmla="*/ 385048 h 385048"/>
              <a:gd name="connsiteX6" fmla="*/ 64176 w 7605276"/>
              <a:gd name="connsiteY6" fmla="*/ 385048 h 385048"/>
              <a:gd name="connsiteX7" fmla="*/ 0 w 7605276"/>
              <a:gd name="connsiteY7" fmla="*/ 320872 h 385048"/>
              <a:gd name="connsiteX8" fmla="*/ 0 w 7605276"/>
              <a:gd name="connsiteY8" fmla="*/ 64176 h 385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5276" h="385048">
                <a:moveTo>
                  <a:pt x="0" y="64176"/>
                </a:moveTo>
                <a:cubicBezTo>
                  <a:pt x="0" y="28733"/>
                  <a:pt x="28733" y="0"/>
                  <a:pt x="64176" y="0"/>
                </a:cubicBezTo>
                <a:lnTo>
                  <a:pt x="7541100" y="0"/>
                </a:lnTo>
                <a:cubicBezTo>
                  <a:pt x="7576543" y="0"/>
                  <a:pt x="7605276" y="28733"/>
                  <a:pt x="7605276" y="64176"/>
                </a:cubicBezTo>
                <a:lnTo>
                  <a:pt x="7605276" y="320872"/>
                </a:lnTo>
                <a:cubicBezTo>
                  <a:pt x="7605276" y="356315"/>
                  <a:pt x="7576543" y="385048"/>
                  <a:pt x="7541100" y="385048"/>
                </a:cubicBezTo>
                <a:lnTo>
                  <a:pt x="64176" y="385048"/>
                </a:lnTo>
                <a:cubicBezTo>
                  <a:pt x="28733" y="385048"/>
                  <a:pt x="0" y="356315"/>
                  <a:pt x="0" y="320872"/>
                </a:cubicBezTo>
                <a:lnTo>
                  <a:pt x="0" y="64176"/>
                </a:lnTo>
                <a:close/>
              </a:path>
            </a:pathLst>
          </a:cu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0" vert="horz" wrap="square" lIns="110236" tIns="110236" rIns="110236" bIns="110236" numCol="1" spcCol="1270" rtlCol="0" anchor="ctr" anchorCtr="0">
            <a:noAutofit/>
          </a:bodyPr>
          <a:lstStyle/>
          <a:p>
            <a:pPr algn="ctr">
              <a:lnSpc>
                <a:spcPct val="90000"/>
              </a:lnSpc>
              <a:spcBef>
                <a:spcPct val="0"/>
              </a:spcBef>
              <a:spcAft>
                <a:spcPct val="35000"/>
              </a:spcAft>
            </a:pPr>
            <a:r>
              <a:rPr lang="vi-VN" sz="2400" b="1">
                <a:latin typeface="Arial" panose="020B0604020202020204" pitchFamily="34" charset="0"/>
                <a:cs typeface="Arial" panose="020B0604020202020204" pitchFamily="34" charset="0"/>
              </a:rPr>
              <a:t>Khó điều chỉnh và tối ưu</a:t>
            </a:r>
            <a:endParaRPr lang="en-US" sz="2400" b="1" dirty="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03AAA38F-7FF0-2255-AFCE-22C446B13460}"/>
              </a:ext>
            </a:extLst>
          </p:cNvPr>
          <p:cNvSpPr txBox="1"/>
          <p:nvPr/>
        </p:nvSpPr>
        <p:spPr>
          <a:xfrm>
            <a:off x="8425964" y="-6913531"/>
            <a:ext cx="2199994"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Mặt hại</a:t>
            </a:r>
          </a:p>
        </p:txBody>
      </p:sp>
      <p:sp>
        <p:nvSpPr>
          <p:cNvPr id="4" name="TextBox 3">
            <a:extLst>
              <a:ext uri="{FF2B5EF4-FFF2-40B4-BE49-F238E27FC236}">
                <a16:creationId xmlns:a16="http://schemas.microsoft.com/office/drawing/2014/main" id="{0193AA67-E047-5E8A-E305-5842959FF5B0}"/>
              </a:ext>
            </a:extLst>
          </p:cNvPr>
          <p:cNvSpPr txBox="1"/>
          <p:nvPr/>
        </p:nvSpPr>
        <p:spPr>
          <a:xfrm>
            <a:off x="4526498" y="764276"/>
            <a:ext cx="3139004"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KẾT LUẬN:</a:t>
            </a:r>
          </a:p>
        </p:txBody>
      </p:sp>
      <p:sp>
        <p:nvSpPr>
          <p:cNvPr id="5" name="Rectangle: Rounded Corners 4">
            <a:extLst>
              <a:ext uri="{FF2B5EF4-FFF2-40B4-BE49-F238E27FC236}">
                <a16:creationId xmlns:a16="http://schemas.microsoft.com/office/drawing/2014/main" id="{933D4FE3-B604-9C8A-2E28-C1A3D3090C78}"/>
              </a:ext>
            </a:extLst>
          </p:cNvPr>
          <p:cNvSpPr/>
          <p:nvPr/>
        </p:nvSpPr>
        <p:spPr>
          <a:xfrm>
            <a:off x="1924434" y="2329498"/>
            <a:ext cx="8704672" cy="327522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vi-VN" sz="2800"/>
              <a:t>Nhìn chung, mặc dù Trace Cache có nhiều lợi ích trong việc cải thiện hiệu suất của bộ xử lý, nhưng cũng có một số mặt hạn chế cần được xem xét khi sử dụng. Việc lựa chọn sử dụng Trace Cache hay không phụ thuộc vào nhiều yếu tố khác nhau và cần được cân nhắc kỹ lưỡng.</a:t>
            </a:r>
            <a:endParaRPr lang="vi-VN" sz="2800" dirty="0"/>
          </a:p>
        </p:txBody>
      </p:sp>
    </p:spTree>
    <p:extLst>
      <p:ext uri="{BB962C8B-B14F-4D97-AF65-F5344CB8AC3E}">
        <p14:creationId xmlns:p14="http://schemas.microsoft.com/office/powerpoint/2010/main" val="42419337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193AA67-E047-5E8A-E305-5842959FF5B0}"/>
              </a:ext>
            </a:extLst>
          </p:cNvPr>
          <p:cNvSpPr txBox="1"/>
          <p:nvPr/>
        </p:nvSpPr>
        <p:spPr>
          <a:xfrm>
            <a:off x="4526498" y="-6582455"/>
            <a:ext cx="3139004" cy="584775"/>
          </a:xfrm>
          <a:prstGeom prst="rect">
            <a:avLst/>
          </a:prstGeom>
          <a:noFill/>
        </p:spPr>
        <p:txBody>
          <a:bodyPr wrap="square">
            <a:spAutoFit/>
          </a:bodyPr>
          <a:lstStyle/>
          <a:p>
            <a:pPr algn="ctr"/>
            <a:r>
              <a:rPr lang="en-US" sz="3200" b="1" u="sng">
                <a:solidFill>
                  <a:schemeClr val="lt1"/>
                </a:solidFill>
                <a:latin typeface="Arial" panose="020B0604020202020204" pitchFamily="34" charset="0"/>
                <a:cs typeface="Arial" panose="020B0604020202020204" pitchFamily="34" charset="0"/>
              </a:rPr>
              <a:t>KẾT LUẬN:</a:t>
            </a:r>
          </a:p>
        </p:txBody>
      </p:sp>
      <p:sp>
        <p:nvSpPr>
          <p:cNvPr id="5" name="Rectangle: Rounded Corners 4">
            <a:extLst>
              <a:ext uri="{FF2B5EF4-FFF2-40B4-BE49-F238E27FC236}">
                <a16:creationId xmlns:a16="http://schemas.microsoft.com/office/drawing/2014/main" id="{933D4FE3-B604-9C8A-2E28-C1A3D3090C78}"/>
              </a:ext>
            </a:extLst>
          </p:cNvPr>
          <p:cNvSpPr/>
          <p:nvPr/>
        </p:nvSpPr>
        <p:spPr>
          <a:xfrm>
            <a:off x="1924434" y="-5017233"/>
            <a:ext cx="8704672" cy="3275224"/>
          </a:xfrm>
          <a:prstGeom prst="roundRect">
            <a:avLst/>
          </a:prstGeom>
          <a:solidFill>
            <a:schemeClr val="accent1">
              <a:lumMod val="7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vi-VN" sz="2800"/>
              <a:t>Nhìn chung, mặc dù Trace Cache có nhiều lợi ích trong việc cải thiện hiệu suất của bộ xử lý, nhưng cũng có một số mặt hạn chế cần được xem xét khi sử dụng. Việc lựa chọn sử dụng Trace Cache hay không phụ thuộc vào nhiều yếu tố khác nhau và cần được cân nhắc kỹ lưỡng.</a:t>
            </a:r>
            <a:endParaRPr lang="vi-VN" sz="2800" dirty="0"/>
          </a:p>
        </p:txBody>
      </p:sp>
      <p:sp>
        <p:nvSpPr>
          <p:cNvPr id="7" name="TextBox 6">
            <a:extLst>
              <a:ext uri="{FF2B5EF4-FFF2-40B4-BE49-F238E27FC236}">
                <a16:creationId xmlns:a16="http://schemas.microsoft.com/office/drawing/2014/main" id="{F11C0317-EA56-4E5F-611E-89178E307B4C}"/>
              </a:ext>
            </a:extLst>
          </p:cNvPr>
          <p:cNvSpPr txBox="1"/>
          <p:nvPr/>
        </p:nvSpPr>
        <p:spPr>
          <a:xfrm>
            <a:off x="2279374" y="808383"/>
            <a:ext cx="7328452" cy="1323439"/>
          </a:xfrm>
          <a:prstGeom prst="rect">
            <a:avLst/>
          </a:prstGeom>
          <a:noFill/>
        </p:spPr>
        <p:txBody>
          <a:bodyPr wrap="square" rtlCol="0">
            <a:spAutoFit/>
          </a:bodyPr>
          <a:lstStyle/>
          <a:p>
            <a:pPr algn="ctr"/>
            <a:r>
              <a:rPr lang="en-US" sz="4000" b="1" i="1">
                <a:ln w="9525">
                  <a:solidFill>
                    <a:schemeClr val="bg1"/>
                  </a:solidFill>
                  <a:prstDash val="solid"/>
                </a:ln>
                <a:effectLst>
                  <a:outerShdw blurRad="12700" dist="38100" dir="2700000" algn="tl" rotWithShape="0">
                    <a:schemeClr val="bg1">
                      <a:lumMod val="50000"/>
                    </a:schemeClr>
                  </a:outerShdw>
                </a:effectLst>
              </a:rPr>
              <a:t>BÀI BÁO CÁO CỦA BỌN EM ĐẾN</a:t>
            </a:r>
          </a:p>
          <a:p>
            <a:pPr algn="ctr"/>
            <a:r>
              <a:rPr lang="en-US" sz="4000" b="1" i="1">
                <a:ln w="9525">
                  <a:solidFill>
                    <a:schemeClr val="bg1"/>
                  </a:solidFill>
                  <a:prstDash val="solid"/>
                </a:ln>
                <a:effectLst>
                  <a:outerShdw blurRad="12700" dist="38100" dir="2700000" algn="tl" rotWithShape="0">
                    <a:schemeClr val="bg1">
                      <a:lumMod val="50000"/>
                    </a:schemeClr>
                  </a:outerShdw>
                </a:effectLst>
              </a:rPr>
              <a:t>ĐÂY LÀ KẾT THÚC</a:t>
            </a:r>
          </a:p>
        </p:txBody>
      </p:sp>
      <p:sp>
        <p:nvSpPr>
          <p:cNvPr id="10" name="TextBox 9">
            <a:extLst>
              <a:ext uri="{FF2B5EF4-FFF2-40B4-BE49-F238E27FC236}">
                <a16:creationId xmlns:a16="http://schemas.microsoft.com/office/drawing/2014/main" id="{2BC1A8E1-2874-BCB1-3A8C-5D39FCEF77B2}"/>
              </a:ext>
            </a:extLst>
          </p:cNvPr>
          <p:cNvSpPr txBox="1"/>
          <p:nvPr/>
        </p:nvSpPr>
        <p:spPr>
          <a:xfrm>
            <a:off x="2506235" y="2875329"/>
            <a:ext cx="7179530" cy="2308324"/>
          </a:xfrm>
          <a:prstGeom prst="rect">
            <a:avLst/>
          </a:prstGeom>
          <a:noFill/>
        </p:spPr>
        <p:txBody>
          <a:bodyPr wrap="none" rtlCol="0">
            <a:spAutoFit/>
          </a:bodyPr>
          <a:lstStyle/>
          <a:p>
            <a:r>
              <a:rPr lang="en-US" sz="7200" b="1">
                <a:ln w="9525">
                  <a:solidFill>
                    <a:schemeClr val="bg1"/>
                  </a:solidFill>
                  <a:prstDash val="solid"/>
                </a:ln>
                <a:effectLst>
                  <a:outerShdw blurRad="12700" dist="38100" dir="2700000" algn="tl" rotWithShape="0">
                    <a:schemeClr val="bg1">
                      <a:lumMod val="50000"/>
                    </a:schemeClr>
                  </a:outerShdw>
                </a:effectLst>
              </a:rPr>
              <a:t>CẢM ƠN CÁC BẠN</a:t>
            </a:r>
          </a:p>
          <a:p>
            <a:pPr algn="ctr"/>
            <a:r>
              <a:rPr lang="en-US" sz="7200" b="1">
                <a:ln w="9525">
                  <a:solidFill>
                    <a:schemeClr val="bg1"/>
                  </a:solidFill>
                  <a:prstDash val="solid"/>
                </a:ln>
                <a:effectLst>
                  <a:outerShdw blurRad="12700" dist="38100" dir="2700000" algn="tl" rotWithShape="0">
                    <a:schemeClr val="bg1">
                      <a:lumMod val="50000"/>
                    </a:schemeClr>
                  </a:outerShdw>
                </a:effectLst>
              </a:rPr>
              <a:t>ĐÃ LẮNG NGHE</a:t>
            </a:r>
            <a:endParaRPr lang="vi-VN" sz="7200" b="1">
              <a:ln w="9525">
                <a:solidFill>
                  <a:schemeClr val="bg1"/>
                </a:solidFill>
                <a:prstDash val="solid"/>
              </a:ln>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31950203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TotalTime>
  <Words>7643</Words>
  <Application>Microsoft Office PowerPoint</Application>
  <PresentationFormat>Widescreen</PresentationFormat>
  <Paragraphs>442</Paragraphs>
  <Slides>43</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Slide Titles</vt:lpstr>
      </vt:variant>
      <vt:variant>
        <vt:i4>43</vt:i4>
      </vt:variant>
      <vt:variant>
        <vt:lpstr>Custom Shows</vt:lpstr>
      </vt:variant>
      <vt:variant>
        <vt:i4>6</vt:i4>
      </vt:variant>
    </vt:vector>
  </HeadingPairs>
  <TitlesOfParts>
    <vt:vector size="54"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vt:lpstr>
      <vt:lpstr>II</vt:lpstr>
      <vt:lpstr>III</vt:lpstr>
      <vt:lpstr>IV</vt:lpstr>
      <vt:lpstr>V</vt:lpstr>
      <vt:lpstr>VI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koha tran</dc:creator>
  <cp:lastModifiedBy>koha tran</cp:lastModifiedBy>
  <cp:revision>6</cp:revision>
  <dcterms:created xsi:type="dcterms:W3CDTF">2023-05-07T12:43:36Z</dcterms:created>
  <dcterms:modified xsi:type="dcterms:W3CDTF">2023-05-08T15:29:57Z</dcterms:modified>
</cp:coreProperties>
</file>