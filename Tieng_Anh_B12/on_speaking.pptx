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6B8D6-14AE-052C-41AA-D57805AACB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BD3D46-C0A9-987E-034F-CC623EFC1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29673-890F-6753-759A-F89158C7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CAFD5-DEFC-4007-A8B8-A59615233E3B}" type="datetimeFigureOut">
              <a:rPr lang="vi-VN" smtClean="0"/>
              <a:t>01/04/2023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A6416-93A6-83F1-FBA2-B8258D7F1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E6F9D-7827-85BA-EEA0-AF3CA73A6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8B2AA-057F-46A5-9DC1-2D913490920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8986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881E3-3E83-A2B7-5E91-2DCEC94FB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E0EC9-5E77-4DEF-9E57-9E2E5F29F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AC394-9F78-6EE9-752C-1AB595244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CAFD5-DEFC-4007-A8B8-A59615233E3B}" type="datetimeFigureOut">
              <a:rPr lang="vi-VN" smtClean="0"/>
              <a:t>01/04/2023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C784-1303-1876-28FE-52DEBAB9E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F2781-4C6B-4B6C-FC33-FFE4C9E0B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8B2AA-057F-46A5-9DC1-2D913490920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26646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33B93-479F-BC0E-86E5-D905C4E21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0FC6C0-49D9-9D6B-BE03-6D2B68CF4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B70AD-C145-F8CB-0585-87DCD6C3E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CAFD5-DEFC-4007-A8B8-A59615233E3B}" type="datetimeFigureOut">
              <a:rPr lang="vi-VN" smtClean="0"/>
              <a:t>01/04/2023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C23FE-711E-3A05-4908-985969CAF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7CCBED-3D5C-D499-BF06-6104EBA53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8B2AA-057F-46A5-9DC1-2D913490920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94658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A16C4-A412-9619-AE92-1D78DFE0D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EB76-CBB7-6901-419F-6BEA0D0D7C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B4E425-4596-35EB-F9D6-635C2BA1A6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7B49E0-0376-FA47-A396-130E006FE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CAFD5-DEFC-4007-A8B8-A59615233E3B}" type="datetimeFigureOut">
              <a:rPr lang="vi-VN" smtClean="0"/>
              <a:t>01/04/2023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6828E2-2758-97DA-E227-C15C7BA85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0EB87F-89D5-3DC6-F172-D7CB99A51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8B2AA-057F-46A5-9DC1-2D913490920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78433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23D4D-54C0-8F24-8E80-2F74488CF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B2B841-3C34-D4DB-CC48-0379A6F39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C51367-F070-FE9B-5B5F-510D78CA81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C75F05-BC16-358A-636D-C937D03EC3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1CFC10-64A6-7003-8B7D-38510032D0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0BE62A-2932-FC51-69C4-745BEB875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CAFD5-DEFC-4007-A8B8-A59615233E3B}" type="datetimeFigureOut">
              <a:rPr lang="vi-VN" smtClean="0"/>
              <a:t>01/04/2023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96DFA7-1BC5-5E34-6FF4-5D8D6DBC4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051F65-0623-09BC-FEA5-E93E728BA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8B2AA-057F-46A5-9DC1-2D913490920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1126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15CD2-F41F-29BD-4B48-1ADA28EAE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E2277F-29EC-C46B-840B-5C2F6B692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CAFD5-DEFC-4007-A8B8-A59615233E3B}" type="datetimeFigureOut">
              <a:rPr lang="vi-VN" smtClean="0"/>
              <a:t>01/04/2023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425B04-D027-0EE7-41A3-55D55D5A2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9FEC33-2AE6-55C0-878A-23E2BE363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8B2AA-057F-46A5-9DC1-2D913490920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44111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F63101-83DE-9951-949F-1316A1067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CAFD5-DEFC-4007-A8B8-A59615233E3B}" type="datetimeFigureOut">
              <a:rPr lang="vi-VN" smtClean="0"/>
              <a:t>01/04/2023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D4E825-35A1-388E-F66D-6C0B51D5C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CEDCCC-CF64-7D35-4D97-5A47BC6BA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8B2AA-057F-46A5-9DC1-2D913490920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82087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7B81D-C3CF-CF8D-4D97-802938F29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37A0D-E73E-F555-FFF8-135A564BB2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0AF04-2F6D-9E52-9EED-4C5EFC883C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B8CEA1-734A-EC80-C31E-F6184C218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CAFD5-DEFC-4007-A8B8-A59615233E3B}" type="datetimeFigureOut">
              <a:rPr lang="vi-VN" smtClean="0"/>
              <a:t>01/04/2023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38748B-E2C0-B65E-A4B7-0F8FAC7D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6592B7-8BAB-C701-BD45-34E3D46FC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8B2AA-057F-46A5-9DC1-2D913490920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58237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D90F4-88A2-945C-8089-EDE6D2A9C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3DA677-A1F4-4C02-59A2-A592D7D047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5C716B-E647-822B-EACE-C2EF95B2AD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41411A-AE6F-1B15-7D1A-BA65C933A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CAFD5-DEFC-4007-A8B8-A59615233E3B}" type="datetimeFigureOut">
              <a:rPr lang="vi-VN" smtClean="0"/>
              <a:t>01/04/2023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33E4B1-9472-E6F4-1776-102269B84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398A4F-8798-8226-ADE8-55448EAB7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8B2AA-057F-46A5-9DC1-2D913490920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4665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1D252-E138-AB73-1127-E151759F4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05AC26-7263-31CF-AAFB-0DB45F1340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42162-DB9B-7659-4C1E-9634357D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CAFD5-DEFC-4007-A8B8-A59615233E3B}" type="datetimeFigureOut">
              <a:rPr lang="vi-VN" smtClean="0"/>
              <a:t>01/04/2023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211CB-77B3-0B8A-C6A8-78F1E9D8C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78DDC-3194-83F1-4A12-8797A5163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8B2AA-057F-46A5-9DC1-2D913490920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2976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57079C-AB24-9DC8-0BD4-C51F6BFC69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F0159E-AEA4-E3C6-59B3-25C523C5DE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23BCE-D889-D4A3-8516-A163F6296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CAFD5-DEFC-4007-A8B8-A59615233E3B}" type="datetimeFigureOut">
              <a:rPr lang="vi-VN" smtClean="0"/>
              <a:t>01/04/2023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0B908-6984-D5B3-C1EC-058B37233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9C5228-8FC9-5A9F-576B-771371537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8B2AA-057F-46A5-9DC1-2D913490920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49832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EDCA8A-4293-9266-13E6-0D32EEC95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6ECC92-A11A-2905-661F-0B94A45D3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5EE4A-7B29-EF44-BD94-B4E7BE2681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CCAFD5-DEFC-4007-A8B8-A59615233E3B}" type="datetimeFigureOut">
              <a:rPr lang="vi-VN" smtClean="0"/>
              <a:t>01/04/2023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32D0A-6D03-D05A-343D-6CAF541C1A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50D6B-BBE5-DDA2-F4EC-9928975A8F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88B2AA-057F-46A5-9DC1-2D913490920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35272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62A9314-3A9C-6BFE-C8E5-46634727A456}"/>
              </a:ext>
            </a:extLst>
          </p:cNvPr>
          <p:cNvSpPr txBox="1"/>
          <p:nvPr/>
        </p:nvSpPr>
        <p:spPr>
          <a:xfrm>
            <a:off x="172278" y="100471"/>
            <a:ext cx="11383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i="0" u="none" strike="noStrike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Huệ:</a:t>
            </a:r>
            <a:r>
              <a:rPr lang="en-US" sz="2400" b="0" i="0" u="none" strike="noStrike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I’m sorry, I’m late.</a:t>
            </a:r>
            <a:endParaRPr lang="vi-VN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F0BF38-6840-F1DE-11C7-5B886647F178}"/>
              </a:ext>
            </a:extLst>
          </p:cNvPr>
          <p:cNvSpPr txBox="1"/>
          <p:nvPr/>
        </p:nvSpPr>
        <p:spPr>
          <a:xfrm>
            <a:off x="215495" y="635007"/>
            <a:ext cx="11383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Khoa: </a:t>
            </a:r>
            <a:r>
              <a:rPr lang="en-US" sz="2400">
                <a:latin typeface="Arial" panose="020B0604020202020204" pitchFamily="34" charset="0"/>
              </a:rPr>
              <a:t>Never mind, Where were you before you are here?</a:t>
            </a:r>
            <a:endParaRPr lang="vi-VN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19DC3F-5BE8-E34B-FD82-007FA8AD5AE0}"/>
              </a:ext>
            </a:extLst>
          </p:cNvPr>
          <p:cNvSpPr txBox="1"/>
          <p:nvPr/>
        </p:nvSpPr>
        <p:spPr>
          <a:xfrm>
            <a:off x="215495" y="1099471"/>
            <a:ext cx="113836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Huệ: </a:t>
            </a:r>
            <a:r>
              <a:rPr lang="en-US" sz="2400">
                <a:solidFill>
                  <a:srgbClr val="222222"/>
                </a:solidFill>
                <a:latin typeface="Arial" panose="020B0604020202020204" pitchFamily="34" charset="0"/>
              </a:rPr>
              <a:t>I just finished my class at G3 lecture hall. So, how have you been lately, Khoa?</a:t>
            </a:r>
            <a:endParaRPr lang="vi-VN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43A5B3-DB1C-77C9-37E9-864C4818C345}"/>
              </a:ext>
            </a:extLst>
          </p:cNvPr>
          <p:cNvSpPr txBox="1"/>
          <p:nvPr/>
        </p:nvSpPr>
        <p:spPr>
          <a:xfrm>
            <a:off x="258119" y="1869096"/>
            <a:ext cx="113836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Khoa:</a:t>
            </a:r>
            <a:r>
              <a:rPr lang="en-US" sz="2400">
                <a:solidFill>
                  <a:srgbClr val="222222"/>
                </a:solidFill>
                <a:latin typeface="Arial" panose="020B0604020202020204" pitchFamily="34" charset="0"/>
              </a:rPr>
              <a:t> I am not sure. Last week, I had a lot of deadlines so I’ve been studying hard all week. </a:t>
            </a:r>
            <a:endParaRPr lang="vi-VN" sz="2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45E3ED-BBA3-7DE8-0DFD-6B032FEC9AAC}"/>
              </a:ext>
            </a:extLst>
          </p:cNvPr>
          <p:cNvSpPr txBox="1"/>
          <p:nvPr/>
        </p:nvSpPr>
        <p:spPr>
          <a:xfrm>
            <a:off x="299459" y="2983343"/>
            <a:ext cx="11383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Khoa:</a:t>
            </a:r>
            <a:r>
              <a:rPr lang="en-US" sz="2400">
                <a:solidFill>
                  <a:srgbClr val="222222"/>
                </a:solidFill>
                <a:latin typeface="Arial" panose="020B0604020202020204" pitchFamily="34" charset="0"/>
              </a:rPr>
              <a:t> No problem, I’m fine. I finished </a:t>
            </a: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all of </a:t>
            </a:r>
            <a:r>
              <a:rPr lang="en-US" sz="2400">
                <a:solidFill>
                  <a:srgbClr val="222222"/>
                </a:solidFill>
                <a:latin typeface="Arial" panose="020B0604020202020204" pitchFamily="34" charset="0"/>
              </a:rPr>
              <a:t>them last night thanks to my gadget.</a:t>
            </a:r>
            <a:endParaRPr lang="vi-VN" sz="2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B05607-2E8F-5679-2847-A2CB26DDD906}"/>
              </a:ext>
            </a:extLst>
          </p:cNvPr>
          <p:cNvSpPr txBox="1"/>
          <p:nvPr/>
        </p:nvSpPr>
        <p:spPr>
          <a:xfrm>
            <a:off x="299459" y="2611513"/>
            <a:ext cx="11383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Huệ: </a:t>
            </a:r>
            <a:r>
              <a:rPr lang="en-US" sz="2400">
                <a:solidFill>
                  <a:srgbClr val="222222"/>
                </a:solidFill>
                <a:latin typeface="Arial" panose="020B0604020202020204" pitchFamily="34" charset="0"/>
              </a:rPr>
              <a:t>That sounds bad. Maybe you need help, don’t you?</a:t>
            </a:r>
            <a:endParaRPr lang="en-US" sz="2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13A5F1-350F-E044-C5A0-9CE68B9981F5}"/>
              </a:ext>
            </a:extLst>
          </p:cNvPr>
          <p:cNvSpPr txBox="1"/>
          <p:nvPr/>
        </p:nvSpPr>
        <p:spPr>
          <a:xfrm>
            <a:off x="299459" y="5563658"/>
            <a:ext cx="113836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Khoa: </a:t>
            </a:r>
            <a:r>
              <a:rPr lang="en-US" sz="2400">
                <a:solidFill>
                  <a:srgbClr val="222222"/>
                </a:solidFill>
                <a:latin typeface="Arial" panose="020B0604020202020204" pitchFamily="34" charset="0"/>
              </a:rPr>
              <a:t>My gadget </a:t>
            </a: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helps</a:t>
            </a:r>
            <a:r>
              <a:rPr lang="en-US" sz="2400">
                <a:solidFill>
                  <a:srgbClr val="222222"/>
                </a:solidFill>
                <a:latin typeface="Arial" panose="020B0604020202020204" pitchFamily="34" charset="0"/>
              </a:rPr>
              <a:t> me to do my homework quickly. I can use it to access the large information resources on the internet. I save a lot of time because I don’t have to go outside to communicate with others.</a:t>
            </a:r>
            <a:endParaRPr lang="en-US" sz="2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EAABD9-BBB0-D65A-583D-881A91A57DA7}"/>
              </a:ext>
            </a:extLst>
          </p:cNvPr>
          <p:cNvSpPr txBox="1"/>
          <p:nvPr/>
        </p:nvSpPr>
        <p:spPr>
          <a:xfrm>
            <a:off x="299459" y="3895210"/>
            <a:ext cx="113836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Khoa:</a:t>
            </a:r>
            <a:r>
              <a:rPr lang="en-US" sz="2400">
                <a:solidFill>
                  <a:srgbClr val="222222"/>
                </a:solidFill>
                <a:latin typeface="Arial" panose="020B0604020202020204" pitchFamily="34" charset="0"/>
              </a:rPr>
              <a:t> Sure, my gadget is a laptop. I like it very much because of its convenience. I can bring it wherever I want and </a:t>
            </a: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whenever I like</a:t>
            </a:r>
            <a:r>
              <a:rPr lang="en-US" sz="2400">
                <a:solidFill>
                  <a:srgbClr val="222222"/>
                </a:solidFill>
                <a:latin typeface="Arial" panose="020B0604020202020204" pitchFamily="34" charset="0"/>
              </a:rPr>
              <a:t>.</a:t>
            </a:r>
            <a:endParaRPr lang="vi-VN" sz="24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5571FD-E2BE-C46E-682A-A355546F2DAB}"/>
              </a:ext>
            </a:extLst>
          </p:cNvPr>
          <p:cNvSpPr txBox="1"/>
          <p:nvPr/>
        </p:nvSpPr>
        <p:spPr>
          <a:xfrm>
            <a:off x="299459" y="3442510"/>
            <a:ext cx="11383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Huệ:</a:t>
            </a:r>
            <a:r>
              <a:rPr lang="en-US" sz="2400">
                <a:solidFill>
                  <a:srgbClr val="222222"/>
                </a:solidFill>
                <a:latin typeface="Arial" panose="020B0604020202020204" pitchFamily="34" charset="0"/>
              </a:rPr>
              <a:t> Oh, May I know what your gadget is? </a:t>
            </a:r>
            <a:endParaRPr lang="vi-VN"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00D22A-F69B-151A-4603-72C31C67E096}"/>
              </a:ext>
            </a:extLst>
          </p:cNvPr>
          <p:cNvSpPr txBox="1"/>
          <p:nvPr/>
        </p:nvSpPr>
        <p:spPr>
          <a:xfrm>
            <a:off x="299459" y="4754394"/>
            <a:ext cx="113836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Huệ:</a:t>
            </a:r>
            <a:r>
              <a:rPr lang="en-US" sz="2400">
                <a:solidFill>
                  <a:srgbClr val="222222"/>
                </a:solidFill>
                <a:latin typeface="Arial" panose="020B0604020202020204" pitchFamily="34" charset="0"/>
              </a:rPr>
              <a:t> Yeah, I know that. Lap</a:t>
            </a: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tops are</a:t>
            </a:r>
            <a:r>
              <a:rPr lang="en-US" sz="2400">
                <a:solidFill>
                  <a:srgbClr val="222222"/>
                </a:solidFill>
                <a:latin typeface="Arial" panose="020B0604020202020204" pitchFamily="34" charset="0"/>
              </a:rPr>
              <a:t> really useful. But how has it helped to run your deadline?</a:t>
            </a:r>
            <a:endParaRPr lang="vi-VN" sz="2400"/>
          </a:p>
        </p:txBody>
      </p:sp>
    </p:spTree>
    <p:extLst>
      <p:ext uri="{BB962C8B-B14F-4D97-AF65-F5344CB8AC3E}">
        <p14:creationId xmlns:p14="http://schemas.microsoft.com/office/powerpoint/2010/main" val="3901177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62A9314-3A9C-6BFE-C8E5-46634727A456}"/>
              </a:ext>
            </a:extLst>
          </p:cNvPr>
          <p:cNvSpPr txBox="1"/>
          <p:nvPr/>
        </p:nvSpPr>
        <p:spPr>
          <a:xfrm>
            <a:off x="172278" y="100471"/>
            <a:ext cx="11383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Huệ:</a:t>
            </a:r>
            <a:r>
              <a:rPr lang="en-US" sz="2400">
                <a:solidFill>
                  <a:srgbClr val="222222"/>
                </a:solidFill>
                <a:latin typeface="Arial" panose="020B0604020202020204" pitchFamily="34" charset="0"/>
              </a:rPr>
              <a:t> How interesting</a:t>
            </a: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 it is</a:t>
            </a:r>
            <a:r>
              <a:rPr lang="en-US" sz="2400">
                <a:solidFill>
                  <a:srgbClr val="222222"/>
                </a:solidFill>
                <a:latin typeface="Arial" panose="020B0604020202020204" pitchFamily="34" charset="0"/>
              </a:rPr>
              <a:t>! I think maybe it's very important to you too, isn't it?</a:t>
            </a:r>
            <a:endParaRPr lang="vi-VN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F0BF38-6840-F1DE-11C7-5B886647F178}"/>
              </a:ext>
            </a:extLst>
          </p:cNvPr>
          <p:cNvSpPr txBox="1"/>
          <p:nvPr/>
        </p:nvSpPr>
        <p:spPr>
          <a:xfrm>
            <a:off x="215495" y="635007"/>
            <a:ext cx="113836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Khoa</a:t>
            </a:r>
            <a:r>
              <a:rPr lang="en-US" sz="2400">
                <a:solidFill>
                  <a:srgbClr val="222222"/>
                </a:solidFill>
                <a:latin typeface="Arial" panose="020B0604020202020204" pitchFamily="34" charset="0"/>
              </a:rPr>
              <a:t>: Of course! Simply because without it, I wouldn't be able to do everything at my best. </a:t>
            </a: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Moreover,</a:t>
            </a:r>
            <a:r>
              <a:rPr lang="en-US" sz="2400">
                <a:solidFill>
                  <a:srgbClr val="222222"/>
                </a:solidFill>
                <a:latin typeface="Arial" panose="020B0604020202020204" pitchFamily="34" charset="0"/>
              </a:rPr>
              <a:t> all my data </a:t>
            </a: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are</a:t>
            </a:r>
            <a:r>
              <a:rPr lang="en-US" sz="2400">
                <a:solidFill>
                  <a:srgbClr val="222222"/>
                </a:solidFill>
                <a:latin typeface="Arial" panose="020B0604020202020204" pitchFamily="34" charset="0"/>
              </a:rPr>
              <a:t> stored in it including pictures of my travels, my study documents at school and my unfinished source codes.</a:t>
            </a:r>
            <a:endParaRPr lang="vi-VN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43A5B3-DB1C-77C9-37E9-864C4818C345}"/>
              </a:ext>
            </a:extLst>
          </p:cNvPr>
          <p:cNvSpPr txBox="1"/>
          <p:nvPr/>
        </p:nvSpPr>
        <p:spPr>
          <a:xfrm>
            <a:off x="258119" y="1869096"/>
            <a:ext cx="11383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Huệ:</a:t>
            </a:r>
            <a:r>
              <a:rPr lang="en-US" sz="2400">
                <a:solidFill>
                  <a:srgbClr val="222222"/>
                </a:solidFill>
                <a:latin typeface="Arial" panose="020B0604020202020204" pitchFamily="34" charset="0"/>
              </a:rPr>
              <a:t> Oh, I see, It’s very interesting.</a:t>
            </a:r>
            <a:endParaRPr lang="vi-VN" sz="2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45E3ED-BBA3-7DE8-0DFD-6B032FEC9AAC}"/>
              </a:ext>
            </a:extLst>
          </p:cNvPr>
          <p:cNvSpPr txBox="1"/>
          <p:nvPr/>
        </p:nvSpPr>
        <p:spPr>
          <a:xfrm>
            <a:off x="258119" y="2679358"/>
            <a:ext cx="113836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Huệ: </a:t>
            </a:r>
            <a:r>
              <a:rPr lang="en-US" sz="2400">
                <a:solidFill>
                  <a:srgbClr val="222222"/>
                </a:solidFill>
                <a:latin typeface="Arial" panose="020B0604020202020204" pitchFamily="34" charset="0"/>
              </a:rPr>
              <a:t>I like my smartphone the most</a:t>
            </a: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 b</a:t>
            </a:r>
            <a:r>
              <a:rPr lang="en-US" sz="2400">
                <a:solidFill>
                  <a:srgbClr val="222222"/>
                </a:solidFill>
                <a:latin typeface="Arial" panose="020B0604020202020204" pitchFamily="34" charset="0"/>
              </a:rPr>
              <a:t>ecause it not only supports my study but also helps me to meet my family remotely via phone screen.</a:t>
            </a:r>
            <a:endParaRPr lang="vi-VN" sz="2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B05607-2E8F-5679-2847-A2CB26DDD906}"/>
              </a:ext>
            </a:extLst>
          </p:cNvPr>
          <p:cNvSpPr txBox="1"/>
          <p:nvPr/>
        </p:nvSpPr>
        <p:spPr>
          <a:xfrm>
            <a:off x="215495" y="2285538"/>
            <a:ext cx="11383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Khoa</a:t>
            </a:r>
            <a:r>
              <a:rPr lang="en-US" sz="2400">
                <a:solidFill>
                  <a:srgbClr val="222222"/>
                </a:solidFill>
                <a:latin typeface="Arial" panose="020B0604020202020204" pitchFamily="34" charset="0"/>
              </a:rPr>
              <a:t>: And How about you? What is your most favorite gadget?</a:t>
            </a:r>
            <a:endParaRPr lang="en-US" sz="2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13A5F1-350F-E044-C5A0-9CE68B9981F5}"/>
              </a:ext>
            </a:extLst>
          </p:cNvPr>
          <p:cNvSpPr txBox="1"/>
          <p:nvPr/>
        </p:nvSpPr>
        <p:spPr>
          <a:xfrm>
            <a:off x="299459" y="5244246"/>
            <a:ext cx="113836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Huệ:</a:t>
            </a:r>
            <a:r>
              <a:rPr lang="en-US" sz="2400">
                <a:solidFill>
                  <a:srgbClr val="222222"/>
                </a:solidFill>
                <a:latin typeface="Arial" panose="020B0604020202020204" pitchFamily="34" charset="0"/>
              </a:rPr>
              <a:t> Hmmm, I use my phone almost every day except when I sleep or the phone doesn’t help me with anything.</a:t>
            </a:r>
            <a:endParaRPr lang="en-US" sz="2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EAABD9-BBB0-D65A-583D-881A91A57DA7}"/>
              </a:ext>
            </a:extLst>
          </p:cNvPr>
          <p:cNvSpPr txBox="1"/>
          <p:nvPr/>
        </p:nvSpPr>
        <p:spPr>
          <a:xfrm>
            <a:off x="299459" y="3895210"/>
            <a:ext cx="113836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Huệ:</a:t>
            </a:r>
            <a:r>
              <a:rPr lang="en-US" sz="2400">
                <a:solidFill>
                  <a:srgbClr val="222222"/>
                </a:solidFill>
                <a:latin typeface="Arial" panose="020B0604020202020204" pitchFamily="34" charset="0"/>
              </a:rPr>
              <a:t> It is rectangular in shape and has a shiny golden color. My smartphone was a gift from my mother on my 16th birthday.</a:t>
            </a:r>
            <a:endParaRPr lang="en-US" sz="24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5571FD-E2BE-C46E-682A-A355546F2DAB}"/>
              </a:ext>
            </a:extLst>
          </p:cNvPr>
          <p:cNvSpPr txBox="1"/>
          <p:nvPr/>
        </p:nvSpPr>
        <p:spPr>
          <a:xfrm>
            <a:off x="299459" y="3442510"/>
            <a:ext cx="11383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Khoa:</a:t>
            </a:r>
            <a:r>
              <a:rPr lang="en-US" sz="2400">
                <a:solidFill>
                  <a:srgbClr val="222222"/>
                </a:solidFill>
                <a:latin typeface="Arial" panose="020B0604020202020204" pitchFamily="34" charset="0"/>
              </a:rPr>
              <a:t> Ohhh, What does your smartphone look like and when did you get it? </a:t>
            </a:r>
            <a:endParaRPr lang="en-US"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00D22A-F69B-151A-4603-72C31C67E096}"/>
              </a:ext>
            </a:extLst>
          </p:cNvPr>
          <p:cNvSpPr txBox="1"/>
          <p:nvPr/>
        </p:nvSpPr>
        <p:spPr>
          <a:xfrm>
            <a:off x="299459" y="4754394"/>
            <a:ext cx="11383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Khoa:</a:t>
            </a:r>
            <a:r>
              <a:rPr lang="en-US" sz="2400">
                <a:solidFill>
                  <a:srgbClr val="222222"/>
                </a:solidFill>
                <a:latin typeface="Arial" panose="020B0604020202020204" pitchFamily="34" charset="0"/>
              </a:rPr>
              <a:t> That’s awesome! How often do you use your phone?</a:t>
            </a:r>
            <a:endParaRPr lang="vi-VN" sz="2400"/>
          </a:p>
        </p:txBody>
      </p:sp>
    </p:spTree>
    <p:extLst>
      <p:ext uri="{BB962C8B-B14F-4D97-AF65-F5344CB8AC3E}">
        <p14:creationId xmlns:p14="http://schemas.microsoft.com/office/powerpoint/2010/main" val="40348583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62A9314-3A9C-6BFE-C8E5-46634727A456}"/>
              </a:ext>
            </a:extLst>
          </p:cNvPr>
          <p:cNvSpPr txBox="1"/>
          <p:nvPr/>
        </p:nvSpPr>
        <p:spPr>
          <a:xfrm>
            <a:off x="172278" y="100471"/>
            <a:ext cx="11383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Khoa:</a:t>
            </a:r>
            <a:r>
              <a:rPr lang="en-US" sz="2400">
                <a:solidFill>
                  <a:srgbClr val="222222"/>
                </a:solidFill>
                <a:latin typeface="Arial" panose="020B0604020202020204" pitchFamily="34" charset="0"/>
              </a:rPr>
              <a:t> Haha,</a:t>
            </a: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 so do I</a:t>
            </a:r>
            <a:r>
              <a:rPr lang="en-US" sz="2400">
                <a:solidFill>
                  <a:srgbClr val="222222"/>
                </a:solidFill>
                <a:latin typeface="Arial" panose="020B0604020202020204" pitchFamily="34" charset="0"/>
              </a:rPr>
              <a:t>. By the way, what do you think about online learning, Hue?</a:t>
            </a:r>
            <a:endParaRPr lang="vi-VN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F0BF38-6840-F1DE-11C7-5B886647F178}"/>
              </a:ext>
            </a:extLst>
          </p:cNvPr>
          <p:cNvSpPr txBox="1"/>
          <p:nvPr/>
        </p:nvSpPr>
        <p:spPr>
          <a:xfrm>
            <a:off x="215495" y="635007"/>
            <a:ext cx="11383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Huệ:</a:t>
            </a:r>
            <a:r>
              <a:rPr lang="en-US" sz="2400">
                <a:solidFill>
                  <a:srgbClr val="222222"/>
                </a:solidFill>
                <a:latin typeface="Arial" panose="020B0604020202020204" pitchFamily="34" charset="0"/>
              </a:rPr>
              <a:t> I think it is flexible in terms of time, saving time going to class.</a:t>
            </a:r>
            <a:endParaRPr lang="vi-VN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43A5B3-DB1C-77C9-37E9-864C4818C345}"/>
              </a:ext>
            </a:extLst>
          </p:cNvPr>
          <p:cNvSpPr txBox="1"/>
          <p:nvPr/>
        </p:nvSpPr>
        <p:spPr>
          <a:xfrm>
            <a:off x="172278" y="966172"/>
            <a:ext cx="1138361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Khoa:</a:t>
            </a:r>
            <a:r>
              <a:rPr lang="en-US" sz="2400">
                <a:solidFill>
                  <a:srgbClr val="222222"/>
                </a:solidFill>
                <a:latin typeface="Arial" panose="020B0604020202020204" pitchFamily="34" charset="0"/>
              </a:rPr>
              <a:t> Yeah, that is one of the great benefits of online learning. In my opinion, I think joining a class on the internet is never a bad idea. We don't have to worry about waking up late. If we study at home, we will be more comfortable and have a better learning vibe. And eventually, we can have a full breakfast every morning.</a:t>
            </a:r>
            <a:endParaRPr lang="vi-VN" sz="2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45E3ED-BBA3-7DE8-0DFD-6B032FEC9AAC}"/>
              </a:ext>
            </a:extLst>
          </p:cNvPr>
          <p:cNvSpPr txBox="1"/>
          <p:nvPr/>
        </p:nvSpPr>
        <p:spPr>
          <a:xfrm>
            <a:off x="215495" y="4054887"/>
            <a:ext cx="113836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Khoa:</a:t>
            </a:r>
            <a:r>
              <a:rPr lang="en-US" sz="2400">
                <a:solidFill>
                  <a:srgbClr val="222222"/>
                </a:solidFill>
                <a:latin typeface="Arial" panose="020B0604020202020204" pitchFamily="34" charset="0"/>
              </a:rPr>
              <a:t> Haha, i</a:t>
            </a: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t is </a:t>
            </a:r>
            <a:r>
              <a:rPr lang="en-US" sz="2400">
                <a:solidFill>
                  <a:srgbClr val="222222"/>
                </a:solidFill>
                <a:latin typeface="Arial" panose="020B0604020202020204" pitchFamily="34" charset="0"/>
              </a:rPr>
              <a:t>a great invention of mankind! Do you think smartphones are the most impactful technology in our lives?</a:t>
            </a:r>
            <a:endParaRPr lang="vi-VN" sz="2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B05607-2E8F-5679-2847-A2CB26DDD906}"/>
              </a:ext>
            </a:extLst>
          </p:cNvPr>
          <p:cNvSpPr txBox="1"/>
          <p:nvPr/>
        </p:nvSpPr>
        <p:spPr>
          <a:xfrm>
            <a:off x="193887" y="2546332"/>
            <a:ext cx="1138361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Huệ:</a:t>
            </a:r>
            <a:r>
              <a:rPr lang="en-US" sz="2400">
                <a:solidFill>
                  <a:srgbClr val="222222"/>
                </a:solidFill>
                <a:latin typeface="Arial" panose="020B0604020202020204" pitchFamily="34" charset="0"/>
              </a:rPr>
              <a:t> You’re right. Therefore, the internet also brings great benefits such as helping us to access the biggest online information storages,</a:t>
            </a: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 removing</a:t>
            </a:r>
            <a:r>
              <a:rPr lang="en-US" sz="2400">
                <a:solidFill>
                  <a:srgbClr val="222222"/>
                </a:solidFill>
                <a:latin typeface="Arial" panose="020B0604020202020204" pitchFamily="34" charset="0"/>
              </a:rPr>
              <a:t> geographical distance from each other, </a:t>
            </a: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and working</a:t>
            </a:r>
            <a:r>
              <a:rPr lang="en-US" sz="2400">
                <a:solidFill>
                  <a:srgbClr val="222222"/>
                </a:solidFill>
                <a:latin typeface="Arial" panose="020B0604020202020204" pitchFamily="34" charset="0"/>
              </a:rPr>
              <a:t> more efficiently. </a:t>
            </a: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Moreover,</a:t>
            </a:r>
            <a:r>
              <a:rPr lang="en-US" sz="2400">
                <a:solidFill>
                  <a:srgbClr val="222222"/>
                </a:solidFill>
                <a:latin typeface="Arial" panose="020B0604020202020204" pitchFamily="34" charset="0"/>
              </a:rPr>
              <a:t> the biggest advantage is making our lives easier than ever.</a:t>
            </a:r>
            <a:endParaRPr lang="en-US" sz="2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EAABD9-BBB0-D65A-583D-881A91A57DA7}"/>
              </a:ext>
            </a:extLst>
          </p:cNvPr>
          <p:cNvSpPr txBox="1"/>
          <p:nvPr/>
        </p:nvSpPr>
        <p:spPr>
          <a:xfrm>
            <a:off x="193887" y="5993595"/>
            <a:ext cx="11383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Khoa:</a:t>
            </a:r>
            <a:r>
              <a:rPr lang="en-US" sz="240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That </a:t>
            </a:r>
            <a:r>
              <a:rPr lang="en-US" sz="2400">
                <a:solidFill>
                  <a:srgbClr val="222222"/>
                </a:solidFill>
                <a:latin typeface="Arial" panose="020B0604020202020204" pitchFamily="34" charset="0"/>
              </a:rPr>
              <a:t>Sounds great! We use it to access the website every day.</a:t>
            </a:r>
            <a:endParaRPr lang="en-US" sz="24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5571FD-E2BE-C46E-682A-A355546F2DAB}"/>
              </a:ext>
            </a:extLst>
          </p:cNvPr>
          <p:cNvSpPr txBox="1"/>
          <p:nvPr/>
        </p:nvSpPr>
        <p:spPr>
          <a:xfrm>
            <a:off x="215495" y="4874625"/>
            <a:ext cx="113836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Huệ:</a:t>
            </a:r>
            <a:r>
              <a:rPr lang="en-US" sz="2400">
                <a:solidFill>
                  <a:srgbClr val="222222"/>
                </a:solidFill>
                <a:latin typeface="Arial" panose="020B0604020202020204" pitchFamily="34" charset="0"/>
              </a:rPr>
              <a:t> Yes, of course. Since having it, people's lives have changed greatly. Everything becomes more convenient, easier and helps people become more productive. 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7151969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  <p:bldP spid="9" grpId="0"/>
      <p:bldP spid="11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62A9314-3A9C-6BFE-C8E5-46634727A456}"/>
              </a:ext>
            </a:extLst>
          </p:cNvPr>
          <p:cNvSpPr txBox="1"/>
          <p:nvPr/>
        </p:nvSpPr>
        <p:spPr>
          <a:xfrm>
            <a:off x="172278" y="100471"/>
            <a:ext cx="11383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Huệ:</a:t>
            </a:r>
            <a:r>
              <a:rPr lang="en-US" sz="240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So do I</a:t>
            </a:r>
            <a:r>
              <a:rPr lang="en-US" sz="2400">
                <a:solidFill>
                  <a:srgbClr val="222222"/>
                </a:solidFill>
                <a:latin typeface="Arial" panose="020B0604020202020204" pitchFamily="34" charset="0"/>
              </a:rPr>
              <a:t>. What kind of social networking website do you use?</a:t>
            </a:r>
            <a:endParaRPr lang="vi-VN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F0BF38-6840-F1DE-11C7-5B886647F178}"/>
              </a:ext>
            </a:extLst>
          </p:cNvPr>
          <p:cNvSpPr txBox="1"/>
          <p:nvPr/>
        </p:nvSpPr>
        <p:spPr>
          <a:xfrm>
            <a:off x="172278" y="521457"/>
            <a:ext cx="113836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Khoa:</a:t>
            </a:r>
            <a:r>
              <a:rPr lang="en-US" sz="2400">
                <a:solidFill>
                  <a:srgbClr val="222222"/>
                </a:solidFill>
                <a:latin typeface="Arial" panose="020B0604020202020204" pitchFamily="34" charset="0"/>
              </a:rPr>
              <a:t> I think it is an entertainment website like tiktok, facebook, instagram. In other words, I usually use educational websites like w3school, developer.mozilla.org, elearning and more.</a:t>
            </a:r>
            <a:endParaRPr lang="vi-VN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43A5B3-DB1C-77C9-37E9-864C4818C345}"/>
              </a:ext>
            </a:extLst>
          </p:cNvPr>
          <p:cNvSpPr txBox="1"/>
          <p:nvPr/>
        </p:nvSpPr>
        <p:spPr>
          <a:xfrm>
            <a:off x="172278" y="1581334"/>
            <a:ext cx="11383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Huệ:</a:t>
            </a:r>
            <a:r>
              <a:rPr lang="en-US" sz="2400">
                <a:solidFill>
                  <a:srgbClr val="222222"/>
                </a:solidFill>
                <a:latin typeface="Arial" panose="020B0604020202020204" pitchFamily="34" charset="0"/>
              </a:rPr>
              <a:t> There are quite a few websites, so you must be using the internet a lot, right?</a:t>
            </a:r>
            <a:endParaRPr lang="vi-VN" sz="2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45E3ED-BBA3-7DE8-0DFD-6B032FEC9AAC}"/>
              </a:ext>
            </a:extLst>
          </p:cNvPr>
          <p:cNvSpPr txBox="1"/>
          <p:nvPr/>
        </p:nvSpPr>
        <p:spPr>
          <a:xfrm>
            <a:off x="193887" y="2886969"/>
            <a:ext cx="11383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Huệ:</a:t>
            </a:r>
            <a:r>
              <a:rPr lang="en-US" sz="2400">
                <a:solidFill>
                  <a:srgbClr val="222222"/>
                </a:solidFill>
                <a:latin typeface="Arial" panose="020B0604020202020204" pitchFamily="34" charset="0"/>
              </a:rPr>
              <a:t> I will participate in outdoor sports activities with my friends. And you?</a:t>
            </a:r>
            <a:endParaRPr lang="vi-VN" sz="2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B05607-2E8F-5679-2847-A2CB26DDD906}"/>
              </a:ext>
            </a:extLst>
          </p:cNvPr>
          <p:cNvSpPr txBox="1"/>
          <p:nvPr/>
        </p:nvSpPr>
        <p:spPr>
          <a:xfrm>
            <a:off x="172278" y="2018283"/>
            <a:ext cx="113836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Khoa:</a:t>
            </a:r>
            <a:r>
              <a:rPr lang="en-US" sz="2400">
                <a:solidFill>
                  <a:srgbClr val="222222"/>
                </a:solidFill>
                <a:latin typeface="Arial" panose="020B0604020202020204" pitchFamily="34" charset="0"/>
              </a:rPr>
              <a:t> Yeah, all of my free time. Have you ever thought about what you would do on a day without technology and gadgets?</a:t>
            </a:r>
            <a:endParaRPr lang="en-US" sz="2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EAABD9-BBB0-D65A-583D-881A91A57DA7}"/>
              </a:ext>
            </a:extLst>
          </p:cNvPr>
          <p:cNvSpPr txBox="1"/>
          <p:nvPr/>
        </p:nvSpPr>
        <p:spPr>
          <a:xfrm>
            <a:off x="193887" y="4586652"/>
            <a:ext cx="11383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Huệ:</a:t>
            </a:r>
            <a:r>
              <a:rPr lang="en-US" sz="2400">
                <a:solidFill>
                  <a:srgbClr val="222222"/>
                </a:solidFill>
                <a:latin typeface="Arial" panose="020B0604020202020204" pitchFamily="34" charset="0"/>
              </a:rPr>
              <a:t> Wow, it looks like a great journey, isn’t it?</a:t>
            </a:r>
            <a:endParaRPr lang="en-US" sz="24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5571FD-E2BE-C46E-682A-A355546F2DAB}"/>
              </a:ext>
            </a:extLst>
          </p:cNvPr>
          <p:cNvSpPr txBox="1"/>
          <p:nvPr/>
        </p:nvSpPr>
        <p:spPr>
          <a:xfrm>
            <a:off x="172278" y="3348634"/>
            <a:ext cx="113836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Khoa:</a:t>
            </a:r>
            <a:r>
              <a:rPr lang="en-US" sz="2400">
                <a:solidFill>
                  <a:srgbClr val="222222"/>
                </a:solidFill>
                <a:latin typeface="Arial" panose="020B0604020202020204" pitchFamily="34" charset="0"/>
              </a:rPr>
              <a:t> If this day appears, I will travel a lot. Initially, I will go all the way to Khanh Hoa province. And then I will go to Ho Chi Minh city. All my journeys will be by motorbike.</a:t>
            </a:r>
            <a:endParaRPr lang="en-US" sz="24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2752C1-6819-E3DD-8965-884ECFC51649}"/>
              </a:ext>
            </a:extLst>
          </p:cNvPr>
          <p:cNvSpPr txBox="1"/>
          <p:nvPr/>
        </p:nvSpPr>
        <p:spPr>
          <a:xfrm>
            <a:off x="219678" y="5020405"/>
            <a:ext cx="11383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Khoa:</a:t>
            </a:r>
            <a:r>
              <a:rPr lang="en-US" sz="2400">
                <a:solidFill>
                  <a:srgbClr val="222222"/>
                </a:solidFill>
                <a:latin typeface="Arial" panose="020B0604020202020204" pitchFamily="34" charset="0"/>
              </a:rPr>
              <a:t> I think it will be great too.</a:t>
            </a:r>
            <a:endParaRPr lang="en-US" sz="2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CCA9FC-CD76-BDEB-D84C-18DE82ACDB1F}"/>
              </a:ext>
            </a:extLst>
          </p:cNvPr>
          <p:cNvSpPr txBox="1"/>
          <p:nvPr/>
        </p:nvSpPr>
        <p:spPr>
          <a:xfrm>
            <a:off x="245467" y="5383823"/>
            <a:ext cx="11383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Huệ:</a:t>
            </a:r>
            <a:r>
              <a:rPr lang="en-US" sz="2400">
                <a:solidFill>
                  <a:srgbClr val="222222"/>
                </a:solidFill>
                <a:latin typeface="Arial" panose="020B0604020202020204" pitchFamily="34" charset="0"/>
              </a:rPr>
              <a:t> Oh, I am late for </a:t>
            </a: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my </a:t>
            </a:r>
            <a:r>
              <a:rPr lang="en-US" sz="2400">
                <a:solidFill>
                  <a:srgbClr val="222222"/>
                </a:solidFill>
                <a:latin typeface="Arial" panose="020B0604020202020204" pitchFamily="34" charset="0"/>
              </a:rPr>
              <a:t>next class. See you again, goodbye Khoa.</a:t>
            </a:r>
            <a:endParaRPr lang="en-US"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53151E-378D-10F6-7870-B226B4BC3774}"/>
              </a:ext>
            </a:extLst>
          </p:cNvPr>
          <p:cNvSpPr txBox="1"/>
          <p:nvPr/>
        </p:nvSpPr>
        <p:spPr>
          <a:xfrm>
            <a:off x="313459" y="5817583"/>
            <a:ext cx="11383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Khoa:</a:t>
            </a:r>
            <a:r>
              <a:rPr lang="en-US" sz="2400">
                <a:solidFill>
                  <a:srgbClr val="222222"/>
                </a:solidFill>
                <a:latin typeface="Arial" panose="020B0604020202020204" pitchFamily="34" charset="0"/>
              </a:rPr>
              <a:t> Say bye, It's fun talking to you, see you soon.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0872838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  <p:bldP spid="9" grpId="0"/>
      <p:bldP spid="11" grpId="0"/>
      <p:bldP spid="12" grpId="0"/>
      <p:bldP spid="2" grpId="0"/>
      <p:bldP spid="3" grpId="0"/>
      <p:bldP spid="1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868</Words>
  <Application>Microsoft Office PowerPoint</Application>
  <PresentationFormat>Widescreen</PresentationFormat>
  <Paragraphs>36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koha tran</dc:creator>
  <cp:lastModifiedBy>koha tran</cp:lastModifiedBy>
  <cp:revision>1</cp:revision>
  <dcterms:created xsi:type="dcterms:W3CDTF">2023-04-01T07:20:40Z</dcterms:created>
  <dcterms:modified xsi:type="dcterms:W3CDTF">2023-04-01T08:25:55Z</dcterms:modified>
</cp:coreProperties>
</file>